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8"/>
  </p:notesMasterIdLst>
  <p:sldIdLst>
    <p:sldId id="256" r:id="rId2"/>
    <p:sldId id="257" r:id="rId3"/>
    <p:sldId id="312" r:id="rId4"/>
    <p:sldId id="313" r:id="rId5"/>
    <p:sldId id="258" r:id="rId6"/>
    <p:sldId id="318" r:id="rId7"/>
    <p:sldId id="259" r:id="rId8"/>
    <p:sldId id="315" r:id="rId9"/>
    <p:sldId id="265" r:id="rId10"/>
    <p:sldId id="264" r:id="rId11"/>
    <p:sldId id="276" r:id="rId12"/>
    <p:sldId id="262" r:id="rId13"/>
    <p:sldId id="319" r:id="rId14"/>
    <p:sldId id="317" r:id="rId15"/>
    <p:sldId id="273" r:id="rId16"/>
    <p:sldId id="281" r:id="rId17"/>
  </p:sldIdLst>
  <p:sldSz cx="9144000" cy="5143500" type="screen16x9"/>
  <p:notesSz cx="6858000" cy="9144000"/>
  <p:embeddedFontLst>
    <p:embeddedFont>
      <p:font typeface="Catamaran Light" panose="020B0604020202020204" charset="0"/>
      <p:regular r:id="rId19"/>
      <p:bold r:id="rId20"/>
    </p:embeddedFont>
    <p:embeddedFont>
      <p:font typeface="Fira Sans Extra Condensed Medium" panose="020B0604020202020204" charset="0"/>
      <p:regular r:id="rId21"/>
      <p:bold r:id="rId22"/>
      <p:italic r:id="rId23"/>
      <p:boldItalic r:id="rId24"/>
    </p:embeddedFont>
    <p:embeddedFont>
      <p:font typeface="Livvic" pitchFamily="2" charset="0"/>
      <p:regular r:id="rId25"/>
      <p:bold r:id="rId26"/>
      <p:italic r:id="rId27"/>
      <p:boldItalic r:id="rId28"/>
    </p:embeddedFont>
    <p:embeddedFont>
      <p:font typeface="Nunito Light" pitchFamily="2" charset="0"/>
      <p:regular r:id="rId29"/>
      <p: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06">
          <p15:clr>
            <a:srgbClr val="747775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372D68-08E0-42D4-9C6C-D7E4F3640134}">
  <a:tblStyle styleId="{7A372D68-08E0-42D4-9C6C-D7E4F36401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38B1855-1B75-4FBE-930C-398BA8C253C6}" styleName="Стиль из темы 2 - акцент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60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a420aca26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2a420aca26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2a420aca26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8EB5936-32BF-06D5-5591-22C51FA71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2a420aca26_0_1150:notes">
            <a:extLst>
              <a:ext uri="{FF2B5EF4-FFF2-40B4-BE49-F238E27FC236}">
                <a16:creationId xmlns:a16="http://schemas.microsoft.com/office/drawing/2014/main" id="{A92D716F-3516-44DA-F972-6B87FC3845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2a420aca26_0_1150:notes">
            <a:extLst>
              <a:ext uri="{FF2B5EF4-FFF2-40B4-BE49-F238E27FC236}">
                <a16:creationId xmlns:a16="http://schemas.microsoft.com/office/drawing/2014/main" id="{143C040C-2ECD-399A-A459-CE6390786A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7885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>
          <a:extLst>
            <a:ext uri="{FF2B5EF4-FFF2-40B4-BE49-F238E27FC236}">
              <a16:creationId xmlns:a16="http://schemas.microsoft.com/office/drawing/2014/main" id="{3D8DDCB3-AD44-A2A3-BD4A-FB3542140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2a420aca26_0_1268:notes">
            <a:extLst>
              <a:ext uri="{FF2B5EF4-FFF2-40B4-BE49-F238E27FC236}">
                <a16:creationId xmlns:a16="http://schemas.microsoft.com/office/drawing/2014/main" id="{02F384DA-2C63-11B7-FB94-6D0EFCB17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2a420aca26_0_1268:notes">
            <a:extLst>
              <a:ext uri="{FF2B5EF4-FFF2-40B4-BE49-F238E27FC236}">
                <a16:creationId xmlns:a16="http://schemas.microsoft.com/office/drawing/2014/main" id="{7587DAB2-0AF8-B259-19A6-5EDF0B43D0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2887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a420aca26_0_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2a420aca26_0_7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C404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A8BEE18B-6783-818B-32FD-A178022D3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2a420aca26_0_1156:notes">
            <a:extLst>
              <a:ext uri="{FF2B5EF4-FFF2-40B4-BE49-F238E27FC236}">
                <a16:creationId xmlns:a16="http://schemas.microsoft.com/office/drawing/2014/main" id="{0897317E-E8BB-1289-BBEB-BCE860B594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2a420aca26_0_1156:notes">
            <a:extLst>
              <a:ext uri="{FF2B5EF4-FFF2-40B4-BE49-F238E27FC236}">
                <a16:creationId xmlns:a16="http://schemas.microsoft.com/office/drawing/2014/main" id="{B0983EAA-7206-D4DA-29D0-4D56DFB0F7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692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2a420aca26_0_8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2a420aca26_0_8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ED4481E-77BB-8CC8-59C2-B38A258D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2a420aca26_0_1150:notes">
            <a:extLst>
              <a:ext uri="{FF2B5EF4-FFF2-40B4-BE49-F238E27FC236}">
                <a16:creationId xmlns:a16="http://schemas.microsoft.com/office/drawing/2014/main" id="{52EFC2B2-6F74-995B-F692-E9B45E609E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2a420aca26_0_1150:notes">
            <a:extLst>
              <a:ext uri="{FF2B5EF4-FFF2-40B4-BE49-F238E27FC236}">
                <a16:creationId xmlns:a16="http://schemas.microsoft.com/office/drawing/2014/main" id="{D0E14CED-3D24-550E-37DA-DACD6995E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658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2a420aca26_0_1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2a420aca26_0_1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2a420aca26_0_1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2a420aca26_0_1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2a420aca26_0_1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2a420aca26_0_1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2a420aca26_0_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2a420aca26_0_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89D5284-AD7E-27F1-A772-A057CEA8A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2a420aca26_0_1150:notes">
            <a:extLst>
              <a:ext uri="{FF2B5EF4-FFF2-40B4-BE49-F238E27FC236}">
                <a16:creationId xmlns:a16="http://schemas.microsoft.com/office/drawing/2014/main" id="{5A8C09C5-61D2-4822-BA4E-C27A7C27A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2a420aca26_0_1150:notes">
            <a:extLst>
              <a:ext uri="{FF2B5EF4-FFF2-40B4-BE49-F238E27FC236}">
                <a16:creationId xmlns:a16="http://schemas.microsoft.com/office/drawing/2014/main" id="{9F33F491-2FB4-BED3-FC12-7FC745D8BB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4715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2a420aca26_0_1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2a420aca26_0_1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2a420aca26_0_1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2a420aca26_0_14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subTitle" idx="1"/>
          </p:nvPr>
        </p:nvSpPr>
        <p:spPr>
          <a:xfrm>
            <a:off x="2258125" y="3106325"/>
            <a:ext cx="3029100" cy="10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 rot="5400000">
            <a:off x="7241489" y="1041025"/>
            <a:ext cx="1702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ubTitle" idx="1"/>
          </p:nvPr>
        </p:nvSpPr>
        <p:spPr>
          <a:xfrm>
            <a:off x="720000" y="1576450"/>
            <a:ext cx="4294800" cy="22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2135550" y="1599688"/>
            <a:ext cx="4872900" cy="118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ubTitle" idx="1"/>
          </p:nvPr>
        </p:nvSpPr>
        <p:spPr>
          <a:xfrm>
            <a:off x="2135550" y="28727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>
            <a:spLocks noGrp="1"/>
          </p:cNvSpPr>
          <p:nvPr>
            <p:ph type="pic" idx="2"/>
          </p:nvPr>
        </p:nvSpPr>
        <p:spPr>
          <a:xfrm>
            <a:off x="-3301" y="0"/>
            <a:ext cx="9150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4010225"/>
            <a:ext cx="7704000" cy="576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01413"/>
            <a:ext cx="6576000" cy="1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14818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3423902" y="38747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3423900" y="802521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title" idx="2" hasCustomPrompt="1"/>
          </p:nvPr>
        </p:nvSpPr>
        <p:spPr>
          <a:xfrm>
            <a:off x="2023007" y="654113"/>
            <a:ext cx="173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" name="Google Shape;44;p13"/>
          <p:cNvSpPr txBox="1">
            <a:spLocks noGrp="1"/>
          </p:cNvSpPr>
          <p:nvPr>
            <p:ph type="ctrTitle" idx="3"/>
          </p:nvPr>
        </p:nvSpPr>
        <p:spPr>
          <a:xfrm>
            <a:off x="3425264" y="1224286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4"/>
          </p:nvPr>
        </p:nvSpPr>
        <p:spPr>
          <a:xfrm>
            <a:off x="3425259" y="1638859"/>
            <a:ext cx="19767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5" hasCustomPrompt="1"/>
          </p:nvPr>
        </p:nvSpPr>
        <p:spPr>
          <a:xfrm>
            <a:off x="2023007" y="1488788"/>
            <a:ext cx="1615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ctrTitle" idx="6"/>
          </p:nvPr>
        </p:nvSpPr>
        <p:spPr>
          <a:xfrm>
            <a:off x="3427999" y="2061098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7"/>
          </p:nvPr>
        </p:nvSpPr>
        <p:spPr>
          <a:xfrm>
            <a:off x="3427997" y="2475197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8" hasCustomPrompt="1"/>
          </p:nvPr>
        </p:nvSpPr>
        <p:spPr>
          <a:xfrm>
            <a:off x="2023007" y="232346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ctrTitle" idx="9"/>
          </p:nvPr>
        </p:nvSpPr>
        <p:spPr>
          <a:xfrm rot="5400000">
            <a:off x="6672869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ctrTitle" idx="13"/>
          </p:nvPr>
        </p:nvSpPr>
        <p:spPr>
          <a:xfrm>
            <a:off x="3427999" y="2897911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4"/>
          </p:nvPr>
        </p:nvSpPr>
        <p:spPr>
          <a:xfrm>
            <a:off x="3427997" y="3311534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5" hasCustomPrompt="1"/>
          </p:nvPr>
        </p:nvSpPr>
        <p:spPr>
          <a:xfrm>
            <a:off x="2023007" y="3158138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 idx="16"/>
          </p:nvPr>
        </p:nvSpPr>
        <p:spPr>
          <a:xfrm>
            <a:off x="3427999" y="373472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7"/>
          </p:nvPr>
        </p:nvSpPr>
        <p:spPr>
          <a:xfrm>
            <a:off x="3427997" y="4147872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18" hasCustomPrompt="1"/>
          </p:nvPr>
        </p:nvSpPr>
        <p:spPr>
          <a:xfrm>
            <a:off x="2023007" y="399281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915175" y="3380775"/>
            <a:ext cx="3960600" cy="6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915175" y="4004575"/>
            <a:ext cx="1821000" cy="2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672375" y="1432475"/>
            <a:ext cx="3498000" cy="89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 flipH="1">
            <a:off x="1667175" y="2154225"/>
            <a:ext cx="2503200" cy="11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43434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ctrTitle"/>
          </p:nvPr>
        </p:nvSpPr>
        <p:spPr>
          <a:xfrm>
            <a:off x="5432000" y="710675"/>
            <a:ext cx="28881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subTitle" idx="1"/>
          </p:nvPr>
        </p:nvSpPr>
        <p:spPr>
          <a:xfrm>
            <a:off x="5363550" y="2724625"/>
            <a:ext cx="29565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5553850" y="131385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subTitle" idx="1"/>
          </p:nvPr>
        </p:nvSpPr>
        <p:spPr>
          <a:xfrm>
            <a:off x="5553975" y="231795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subTitle" idx="1"/>
          </p:nvPr>
        </p:nvSpPr>
        <p:spPr>
          <a:xfrm>
            <a:off x="2117847" y="3380460"/>
            <a:ext cx="2951400" cy="2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ctrTitle"/>
          </p:nvPr>
        </p:nvSpPr>
        <p:spPr>
          <a:xfrm rot="-5400000">
            <a:off x="-343101" y="1759150"/>
            <a:ext cx="2888100" cy="8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2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subTitle" idx="1"/>
          </p:nvPr>
        </p:nvSpPr>
        <p:spPr>
          <a:xfrm flipH="1">
            <a:off x="4189625" y="3380460"/>
            <a:ext cx="2951400" cy="2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ctrTitle"/>
          </p:nvPr>
        </p:nvSpPr>
        <p:spPr>
          <a:xfrm rot="5400000">
            <a:off x="6612409" y="1752564"/>
            <a:ext cx="2888100" cy="8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4_2_1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>
            <a:spLocks noGrp="1"/>
          </p:cNvSpPr>
          <p:nvPr>
            <p:ph type="ctrTitle"/>
          </p:nvPr>
        </p:nvSpPr>
        <p:spPr>
          <a:xfrm>
            <a:off x="831200" y="376498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ubTitle" idx="1"/>
          </p:nvPr>
        </p:nvSpPr>
        <p:spPr>
          <a:xfrm>
            <a:off x="831200" y="2314225"/>
            <a:ext cx="30816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>
            <a:spLocks noGrp="1"/>
          </p:cNvSpPr>
          <p:nvPr>
            <p:ph type="ctrTitle"/>
          </p:nvPr>
        </p:nvSpPr>
        <p:spPr>
          <a:xfrm>
            <a:off x="831200" y="376498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29"/>
          <p:cNvSpPr txBox="1">
            <a:spLocks noGrp="1"/>
          </p:cNvSpPr>
          <p:nvPr>
            <p:ph type="subTitle" idx="1"/>
          </p:nvPr>
        </p:nvSpPr>
        <p:spPr>
          <a:xfrm>
            <a:off x="831200" y="2314225"/>
            <a:ext cx="30816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0"/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75" r:id="rId17"/>
    <p:sldLayoutId id="214748367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2214590" y="0"/>
            <a:ext cx="692940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6"/>
          <p:cNvSpPr/>
          <p:nvPr/>
        </p:nvSpPr>
        <p:spPr>
          <a:xfrm rot="5400000">
            <a:off x="1286950" y="58500"/>
            <a:ext cx="3358800" cy="5026500"/>
          </a:xfrm>
          <a:prstGeom prst="rect">
            <a:avLst/>
          </a:prstGeom>
          <a:solidFill>
            <a:srgbClr val="908269">
              <a:alpha val="86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6"/>
          <p:cNvSpPr txBox="1">
            <a:spLocks noGrp="1"/>
          </p:cNvSpPr>
          <p:nvPr>
            <p:ph type="subTitle" idx="1"/>
          </p:nvPr>
        </p:nvSpPr>
        <p:spPr>
          <a:xfrm>
            <a:off x="1000791" y="3253048"/>
            <a:ext cx="4207339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Управление поставщиками в модели ITIL 6.3 – Кейс компании ООО «</a:t>
            </a:r>
            <a:r>
              <a:rPr lang="ru-RU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Айтеко</a:t>
            </a:r>
            <a:r>
              <a:rPr lang="ru-RU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-Сервис»</a:t>
            </a:r>
            <a:endParaRPr lang="vi-V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vi-V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Выполнили: Нгуен Као </a:t>
            </a:r>
            <a:r>
              <a:rPr lang="ru-RU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Бач</a:t>
            </a:r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Чан Куанг Тханг</a:t>
            </a:r>
          </a:p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Группа: 15.27Д-БИ19/22Б</a:t>
            </a:r>
          </a:p>
          <a:p>
            <a:pPr marL="0" lvl="0" indent="0"/>
            <a:endParaRPr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1" name="Google Shape;161;p36"/>
          <p:cNvSpPr/>
          <p:nvPr/>
        </p:nvSpPr>
        <p:spPr>
          <a:xfrm rot="-5400000" flipH="1">
            <a:off x="7354200" y="2416550"/>
            <a:ext cx="3358800" cy="2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Компания АйТеко – ИТ интегратор">
            <a:extLst>
              <a:ext uri="{FF2B5EF4-FFF2-40B4-BE49-F238E27FC236}">
                <a16:creationId xmlns:a16="http://schemas.microsoft.com/office/drawing/2014/main" id="{7D0C50C3-5BBA-2A78-543A-9915E0567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66" y="847700"/>
            <a:ext cx="5508171" cy="1557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7"/>
          <p:cNvSpPr txBox="1">
            <a:spLocks noGrp="1"/>
          </p:cNvSpPr>
          <p:nvPr>
            <p:ph type="subTitle" idx="4294967295"/>
          </p:nvPr>
        </p:nvSpPr>
        <p:spPr>
          <a:xfrm flipH="1">
            <a:off x="779664" y="727932"/>
            <a:ext cx="6791068" cy="4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600" b="1" dirty="0"/>
              <a:t>Введение</a:t>
            </a:r>
          </a:p>
          <a:p>
            <a:r>
              <a:rPr lang="ru-RU" sz="1600" b="1" dirty="0"/>
              <a:t>Контекст:</a:t>
            </a:r>
            <a:r>
              <a:rPr lang="ru-RU" sz="1600" dirty="0"/>
              <a:t> Растет зависимость IT-компаний от внешних программных решений и сервисов.</a:t>
            </a:r>
          </a:p>
          <a:p>
            <a:r>
              <a:rPr lang="ru-RU" sz="1600" b="1" dirty="0"/>
              <a:t>Цель исследования:</a:t>
            </a:r>
            <a:endParaRPr lang="ru-RU" sz="1600" dirty="0"/>
          </a:p>
          <a:p>
            <a:pPr lvl="1"/>
            <a:r>
              <a:rPr lang="ru-RU" sz="1600" dirty="0"/>
              <a:t>Обоснованный выбор поставщика</a:t>
            </a:r>
          </a:p>
          <a:p>
            <a:pPr lvl="1"/>
            <a:r>
              <a:rPr lang="ru-RU" sz="1600" dirty="0"/>
              <a:t>Определение его категории и значимости</a:t>
            </a:r>
          </a:p>
          <a:p>
            <a:pPr lvl="1"/>
            <a:r>
              <a:rPr lang="ru-RU" sz="1600" dirty="0"/>
              <a:t>Формализация договорных отношений</a:t>
            </a:r>
          </a:p>
          <a:p>
            <a:pPr lvl="1"/>
            <a:r>
              <a:rPr lang="ru-RU" sz="1600" dirty="0"/>
              <a:t>Управление рисками взаимодействия</a:t>
            </a:r>
          </a:p>
          <a:p>
            <a:r>
              <a:rPr lang="ru-RU" sz="1600" b="1" dirty="0"/>
              <a:t>Методология:</a:t>
            </a:r>
            <a:r>
              <a:rPr lang="ru-RU" sz="1600" dirty="0"/>
              <a:t> Применение ITIL v3.1 (Процесс 6.3 – </a:t>
            </a:r>
            <a:r>
              <a:rPr lang="ru-RU" sz="1600" dirty="0" err="1"/>
              <a:t>Supplier</a:t>
            </a:r>
            <a:r>
              <a:rPr lang="ru-RU" sz="1600" dirty="0"/>
              <a:t> Management)</a:t>
            </a:r>
          </a:p>
          <a:p>
            <a:r>
              <a:rPr lang="ru-RU" sz="1600" b="1" dirty="0"/>
              <a:t>Объект исследования:</a:t>
            </a:r>
            <a:r>
              <a:rPr lang="ru-RU" sz="1600" dirty="0"/>
              <a:t> ООО «</a:t>
            </a:r>
            <a:r>
              <a:rPr lang="ru-RU" sz="1600" dirty="0" err="1"/>
              <a:t>Айтеко</a:t>
            </a:r>
            <a:r>
              <a:rPr lang="ru-RU" sz="1600" dirty="0"/>
              <a:t>-Сервис»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68" name="Google Shape;168;p37"/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/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2" descr="Компания АйТеко – ИТ интегратор">
            <a:extLst>
              <a:ext uri="{FF2B5EF4-FFF2-40B4-BE49-F238E27FC236}">
                <a16:creationId xmlns:a16="http://schemas.microsoft.com/office/drawing/2014/main" id="{4B28ACC9-C336-EE8F-7B65-CDABF6E06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5886" y="0"/>
            <a:ext cx="3220760" cy="91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5">
          <a:extLst>
            <a:ext uri="{FF2B5EF4-FFF2-40B4-BE49-F238E27FC236}">
              <a16:creationId xmlns:a16="http://schemas.microsoft.com/office/drawing/2014/main" id="{17961084-423C-6DD9-C11B-61E319793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>
            <a:extLst>
              <a:ext uri="{FF2B5EF4-FFF2-40B4-BE49-F238E27FC236}">
                <a16:creationId xmlns:a16="http://schemas.microsoft.com/office/drawing/2014/main" id="{1B2F2072-D62E-7A78-6EE4-DB22100F2A13}"/>
              </a:ext>
            </a:extLst>
          </p:cNvPr>
          <p:cNvSpPr/>
          <p:nvPr/>
        </p:nvSpPr>
        <p:spPr>
          <a:xfrm rot="-5400000">
            <a:off x="4144030" y="-2440439"/>
            <a:ext cx="710802" cy="6008918"/>
          </a:xfrm>
          <a:prstGeom prst="rect">
            <a:avLst/>
          </a:prstGeom>
          <a:gradFill>
            <a:gsLst>
              <a:gs pos="0">
                <a:srgbClr val="908269">
                  <a:alpha val="4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8" name="Google Shape;248;p43">
            <a:extLst>
              <a:ext uri="{FF2B5EF4-FFF2-40B4-BE49-F238E27FC236}">
                <a16:creationId xmlns:a16="http://schemas.microsoft.com/office/drawing/2014/main" id="{02681EB3-304D-36BB-05A7-F54819085E9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415916" y="86849"/>
            <a:ext cx="6494370" cy="4962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Разграничение ролей поставщика IT-услуг и поставщика продукции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1227BB9F-3C89-0297-2837-9AA539A15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81658"/>
              </p:ext>
            </p:extLst>
          </p:nvPr>
        </p:nvGraphicFramePr>
        <p:xfrm>
          <a:off x="1706880" y="1306670"/>
          <a:ext cx="5730240" cy="3342325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128656744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418674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Поставщик </a:t>
                      </a:r>
                      <a:r>
                        <a:rPr lang="en-US" b="1">
                          <a:effectLst/>
                        </a:rPr>
                        <a:t>IT-</a:t>
                      </a:r>
                      <a:r>
                        <a:rPr lang="ru-RU" b="1">
                          <a:effectLst/>
                        </a:rPr>
                        <a:t>услуг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Поставщик продукции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932951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Несет ответственность перед конечным клиентом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Поставляет ПО, платформы, лицензии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101678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Обеспечивает качество, доступность, непрерывность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Не взаимодействует напрямую с клиентом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95763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Пример: ООО «Айтеко-Сервис»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Пример: Фирма «1С»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81975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Эффект:</a:t>
                      </a:r>
                      <a:r>
                        <a:rPr lang="ru-RU" b="0">
                          <a:effectLst/>
                        </a:rPr>
                        <a:t> Четкое разграничение снижает риски, определяет ответственность, улучшает управление контрактами.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209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0634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>
          <a:extLst>
            <a:ext uri="{FF2B5EF4-FFF2-40B4-BE49-F238E27FC236}">
              <a16:creationId xmlns:a16="http://schemas.microsoft.com/office/drawing/2014/main" id="{5C3174EC-A273-CA1A-AE33-2F46C53C0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0">
            <a:extLst>
              <a:ext uri="{FF2B5EF4-FFF2-40B4-BE49-F238E27FC236}">
                <a16:creationId xmlns:a16="http://schemas.microsoft.com/office/drawing/2014/main" id="{90A7D570-D97A-4D43-46D5-DBFA9C5A9983}"/>
              </a:ext>
            </a:extLst>
          </p:cNvPr>
          <p:cNvSpPr/>
          <p:nvPr/>
        </p:nvSpPr>
        <p:spPr>
          <a:xfrm>
            <a:off x="3793595" y="1142314"/>
            <a:ext cx="2887500" cy="77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50">
            <a:extLst>
              <a:ext uri="{FF2B5EF4-FFF2-40B4-BE49-F238E27FC236}">
                <a16:creationId xmlns:a16="http://schemas.microsoft.com/office/drawing/2014/main" id="{B3BC53A1-B7F8-9E49-ABC6-22B29A88027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026079" y="2338705"/>
            <a:ext cx="4733832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Контекст компании и роль IT-менеджера</a:t>
            </a:r>
          </a:p>
        </p:txBody>
      </p:sp>
      <p:sp>
        <p:nvSpPr>
          <p:cNvPr id="378" name="Google Shape;378;p50">
            <a:extLst>
              <a:ext uri="{FF2B5EF4-FFF2-40B4-BE49-F238E27FC236}">
                <a16:creationId xmlns:a16="http://schemas.microsoft.com/office/drawing/2014/main" id="{9BE5E275-8433-6A8F-B063-BC89C8E6C9C7}"/>
              </a:ext>
            </a:extLst>
          </p:cNvPr>
          <p:cNvSpPr/>
          <p:nvPr/>
        </p:nvSpPr>
        <p:spPr>
          <a:xfrm>
            <a:off x="3804851" y="3491341"/>
            <a:ext cx="2887500" cy="77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50">
            <a:extLst>
              <a:ext uri="{FF2B5EF4-FFF2-40B4-BE49-F238E27FC236}">
                <a16:creationId xmlns:a16="http://schemas.microsoft.com/office/drawing/2014/main" id="{1C00DA77-0C70-1698-F4AD-5AB502C9132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841661" y="3580588"/>
            <a:ext cx="3015531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quote-cjk-patch"/>
              </a:rPr>
              <a:t>Роль IT-менеджера в управлении поставщиками</a:t>
            </a:r>
            <a:endParaRPr sz="2000" b="0" dirty="0">
              <a:solidFill>
                <a:schemeClr val="lt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382" name="Google Shape;382;p50">
            <a:extLst>
              <a:ext uri="{FF2B5EF4-FFF2-40B4-BE49-F238E27FC236}">
                <a16:creationId xmlns:a16="http://schemas.microsoft.com/office/drawing/2014/main" id="{DC01DD00-21A9-2454-B1FC-95DF9A9D5C79}"/>
              </a:ext>
            </a:extLst>
          </p:cNvPr>
          <p:cNvSpPr/>
          <p:nvPr/>
        </p:nvSpPr>
        <p:spPr>
          <a:xfrm>
            <a:off x="719999" y="2960913"/>
            <a:ext cx="3481885" cy="1836057"/>
          </a:xfrm>
          <a:prstGeom prst="rect">
            <a:avLst/>
          </a:prstGeom>
          <a:solidFill>
            <a:srgbClr val="908269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50">
            <a:extLst>
              <a:ext uri="{FF2B5EF4-FFF2-40B4-BE49-F238E27FC236}">
                <a16:creationId xmlns:a16="http://schemas.microsoft.com/office/drawing/2014/main" id="{37588A26-11EC-3CA5-7F9A-C426FCA7728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25851" y="2960913"/>
            <a:ext cx="2830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ru-RU" sz="1200" i="0" dirty="0">
                <a:solidFill>
                  <a:srgbClr val="F9FAFB"/>
                </a:solidFill>
                <a:effectLst/>
                <a:latin typeface="quote-cjk-patch"/>
              </a:rPr>
              <a:t>Выбор надежного поставщика</a:t>
            </a:r>
            <a:br>
              <a:rPr lang="ru-RU" sz="1200" i="0" dirty="0">
                <a:solidFill>
                  <a:srgbClr val="F9FAFB"/>
                </a:solidFill>
                <a:effectLst/>
                <a:latin typeface="quote-cjk-patch"/>
              </a:rPr>
            </a:br>
            <a:br>
              <a:rPr lang="ru-RU" sz="120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200" i="0" dirty="0">
                <a:solidFill>
                  <a:srgbClr val="F9FAFB"/>
                </a:solidFill>
                <a:effectLst/>
                <a:latin typeface="quote-cjk-patch"/>
              </a:rPr>
              <a:t>Оценка степени критичности поставщика</a:t>
            </a:r>
            <a:br>
              <a:rPr lang="ru-RU" sz="1200" i="0" dirty="0">
                <a:solidFill>
                  <a:srgbClr val="F9FAFB"/>
                </a:solidFill>
                <a:effectLst/>
                <a:latin typeface="quote-cjk-patch"/>
              </a:rPr>
            </a:br>
            <a:br>
              <a:rPr lang="ru-RU" sz="120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200" i="0" dirty="0">
                <a:solidFill>
                  <a:srgbClr val="F9FAFB"/>
                </a:solidFill>
                <a:effectLst/>
                <a:latin typeface="quote-cjk-patch"/>
              </a:rPr>
              <a:t>Контроль исполнения договора и SLA</a:t>
            </a:r>
            <a:br>
              <a:rPr lang="ru-RU" sz="1200" i="0" dirty="0">
                <a:solidFill>
                  <a:srgbClr val="F9FAFB"/>
                </a:solidFill>
                <a:effectLst/>
                <a:latin typeface="quote-cjk-patch"/>
              </a:rPr>
            </a:br>
            <a:br>
              <a:rPr lang="ru-RU" sz="120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200" i="0" dirty="0">
                <a:solidFill>
                  <a:srgbClr val="F9FAFB"/>
                </a:solidFill>
                <a:effectLst/>
                <a:latin typeface="quote-cjk-patch"/>
              </a:rPr>
              <a:t>Управление рисками зависимости</a:t>
            </a:r>
            <a:endParaRPr sz="1200" dirty="0">
              <a:solidFill>
                <a:schemeClr val="lt1"/>
              </a:solidFill>
            </a:endParaRPr>
          </a:p>
        </p:txBody>
      </p:sp>
      <p:sp>
        <p:nvSpPr>
          <p:cNvPr id="380" name="Google Shape;380;p50">
            <a:extLst>
              <a:ext uri="{FF2B5EF4-FFF2-40B4-BE49-F238E27FC236}">
                <a16:creationId xmlns:a16="http://schemas.microsoft.com/office/drawing/2014/main" id="{6299FEC7-BE53-783C-014A-A150FECF0373}"/>
              </a:ext>
            </a:extLst>
          </p:cNvPr>
          <p:cNvSpPr/>
          <p:nvPr/>
        </p:nvSpPr>
        <p:spPr>
          <a:xfrm>
            <a:off x="751004" y="522610"/>
            <a:ext cx="3450881" cy="2049140"/>
          </a:xfrm>
          <a:prstGeom prst="rect">
            <a:avLst/>
          </a:prstGeom>
          <a:solidFill>
            <a:srgbClr val="908269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50">
            <a:extLst>
              <a:ext uri="{FF2B5EF4-FFF2-40B4-BE49-F238E27FC236}">
                <a16:creationId xmlns:a16="http://schemas.microsoft.com/office/drawing/2014/main" id="{08DF1902-35BD-A43D-3975-7E44C2EEB17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47325" y="647960"/>
            <a:ext cx="3136846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sz="1200" i="0" dirty="0">
                <a:solidFill>
                  <a:srgbClr val="F9FAFB"/>
                </a:solidFill>
                <a:effectLst/>
                <a:latin typeface="quote-cjk-patch"/>
              </a:rPr>
              <a:t>Предоставляет комплексные IT-услуги для малого и среднего бизнеса</a:t>
            </a:r>
            <a:br>
              <a:rPr lang="ru-RU" sz="1200" i="0" dirty="0">
                <a:solidFill>
                  <a:srgbClr val="F9FAFB"/>
                </a:solidFill>
                <a:effectLst/>
                <a:latin typeface="quote-cjk-patch"/>
              </a:rPr>
            </a:br>
            <a:br>
              <a:rPr lang="ru-RU" sz="120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200" i="0" dirty="0">
                <a:solidFill>
                  <a:srgbClr val="F9FAFB"/>
                </a:solidFill>
                <a:effectLst/>
                <a:latin typeface="quote-cjk-patch"/>
              </a:rPr>
              <a:t>Основные услуги: внедрение инфраструктуры, настройка ПО, поддержка систем</a:t>
            </a:r>
          </a:p>
        </p:txBody>
      </p:sp>
      <p:sp>
        <p:nvSpPr>
          <p:cNvPr id="381" name="Google Shape;381;p50">
            <a:extLst>
              <a:ext uri="{FF2B5EF4-FFF2-40B4-BE49-F238E27FC236}">
                <a16:creationId xmlns:a16="http://schemas.microsoft.com/office/drawing/2014/main" id="{B692CC46-994F-ECF5-23DA-163202E8AA4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850895" y="1164659"/>
            <a:ext cx="2830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quote-cjk-patch"/>
              </a:rPr>
              <a:t>Компания: ООО «</a:t>
            </a:r>
            <a:r>
              <a:rPr lang="ru-RU" sz="1600" b="1" i="0" dirty="0" err="1">
                <a:solidFill>
                  <a:srgbClr val="F9FAFB"/>
                </a:solidFill>
                <a:effectLst/>
                <a:latin typeface="quote-cjk-patch"/>
              </a:rPr>
              <a:t>Айтеко</a:t>
            </a:r>
            <a:r>
              <a:rPr lang="ru-RU" sz="1600" b="1" i="0" dirty="0">
                <a:solidFill>
                  <a:srgbClr val="F9FAFB"/>
                </a:solidFill>
                <a:effectLst/>
                <a:latin typeface="quote-cjk-patch"/>
              </a:rPr>
              <a:t>-Сервис»</a:t>
            </a:r>
            <a:endParaRPr sz="16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595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129CAA7-8CD5-3F79-2F87-E246C07ABBEF}"/>
              </a:ext>
            </a:extLst>
          </p:cNvPr>
          <p:cNvSpPr/>
          <p:nvPr/>
        </p:nvSpPr>
        <p:spPr>
          <a:xfrm>
            <a:off x="6138484" y="1562520"/>
            <a:ext cx="3467280" cy="2102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7" name="Google Shape;177;p38"/>
          <p:cNvSpPr txBox="1">
            <a:spLocks noGrp="1"/>
          </p:cNvSpPr>
          <p:nvPr>
            <p:ph type="ctrTitle" idx="13"/>
          </p:nvPr>
        </p:nvSpPr>
        <p:spPr>
          <a:xfrm>
            <a:off x="3446100" y="3271462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b="0" dirty="0"/>
              <a:t>Регулярный мониторинг качества услуг</a:t>
            </a:r>
          </a:p>
        </p:txBody>
      </p:sp>
      <p:sp>
        <p:nvSpPr>
          <p:cNvPr id="178" name="Google Shape;178;p38"/>
          <p:cNvSpPr txBox="1">
            <a:spLocks noGrp="1"/>
          </p:cNvSpPr>
          <p:nvPr>
            <p:ph type="ctrTitle" idx="16"/>
          </p:nvPr>
        </p:nvSpPr>
        <p:spPr>
          <a:xfrm>
            <a:off x="3446100" y="4242284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b="0" dirty="0"/>
              <a:t>Системное управление рисками</a:t>
            </a:r>
          </a:p>
        </p:txBody>
      </p:sp>
      <p:sp>
        <p:nvSpPr>
          <p:cNvPr id="179" name="Google Shape;179;p38"/>
          <p:cNvSpPr/>
          <p:nvPr/>
        </p:nvSpPr>
        <p:spPr>
          <a:xfrm rot="-5400000" flipH="1">
            <a:off x="-957092" y="955906"/>
            <a:ext cx="5140800" cy="32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8"/>
          <p:cNvSpPr txBox="1">
            <a:spLocks noGrp="1"/>
          </p:cNvSpPr>
          <p:nvPr>
            <p:ph type="title" idx="8"/>
          </p:nvPr>
        </p:nvSpPr>
        <p:spPr>
          <a:xfrm>
            <a:off x="2023007" y="2359007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81" name="Google Shape;181;p38"/>
          <p:cNvSpPr txBox="1">
            <a:spLocks noGrp="1"/>
          </p:cNvSpPr>
          <p:nvPr>
            <p:ph type="title" idx="2"/>
          </p:nvPr>
        </p:nvSpPr>
        <p:spPr>
          <a:xfrm>
            <a:off x="2073496" y="247872"/>
            <a:ext cx="173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82" name="Google Shape;182;p38"/>
          <p:cNvSpPr txBox="1">
            <a:spLocks noGrp="1"/>
          </p:cNvSpPr>
          <p:nvPr>
            <p:ph type="title" idx="5"/>
          </p:nvPr>
        </p:nvSpPr>
        <p:spPr>
          <a:xfrm>
            <a:off x="2051193" y="1272604"/>
            <a:ext cx="1615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83" name="Google Shape;183;p38"/>
          <p:cNvSpPr txBox="1">
            <a:spLocks noGrp="1"/>
          </p:cNvSpPr>
          <p:nvPr>
            <p:ph type="title" idx="15"/>
          </p:nvPr>
        </p:nvSpPr>
        <p:spPr>
          <a:xfrm>
            <a:off x="2023007" y="3309212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84" name="Google Shape;184;p38"/>
          <p:cNvSpPr txBox="1">
            <a:spLocks noGrp="1"/>
          </p:cNvSpPr>
          <p:nvPr>
            <p:ph type="title" idx="18"/>
          </p:nvPr>
        </p:nvSpPr>
        <p:spPr>
          <a:xfrm>
            <a:off x="2023007" y="4273617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185" name="Google Shape;185;p38"/>
          <p:cNvSpPr txBox="1">
            <a:spLocks noGrp="1"/>
          </p:cNvSpPr>
          <p:nvPr>
            <p:ph type="ctrTitle" idx="9"/>
          </p:nvPr>
        </p:nvSpPr>
        <p:spPr>
          <a:xfrm>
            <a:off x="6600249" y="2326650"/>
            <a:ext cx="2543751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1800" b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Стратегия и политика управления поставщиками</a:t>
            </a:r>
            <a:br>
              <a:rPr lang="vi-VN" sz="1800" b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br>
              <a:rPr lang="vi-VN" sz="1800" b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ru-RU" sz="1200" b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Цель: Обеспечение стабильности, непрерывности и качества IT-услуг</a:t>
            </a:r>
            <a:endParaRPr lang="ru-RU" sz="1800" b="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7" name="Google Shape;187;p38"/>
          <p:cNvSpPr txBox="1">
            <a:spLocks noGrp="1"/>
          </p:cNvSpPr>
          <p:nvPr>
            <p:ph type="ctrTitle" idx="6"/>
          </p:nvPr>
        </p:nvSpPr>
        <p:spPr>
          <a:xfrm>
            <a:off x="3425264" y="2307057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b="0" dirty="0"/>
              <a:t>Формализация требований в договорах и регламентах</a:t>
            </a:r>
          </a:p>
        </p:txBody>
      </p:sp>
      <p:sp>
        <p:nvSpPr>
          <p:cNvPr id="188" name="Google Shape;188;p38"/>
          <p:cNvSpPr txBox="1">
            <a:spLocks noGrp="1"/>
          </p:cNvSpPr>
          <p:nvPr>
            <p:ph type="ctrTitle"/>
          </p:nvPr>
        </p:nvSpPr>
        <p:spPr>
          <a:xfrm>
            <a:off x="3425264" y="140302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b="0" dirty="0"/>
              <a:t>Приоритет надежности над снижением затрат</a:t>
            </a:r>
          </a:p>
        </p:txBody>
      </p:sp>
      <p:sp>
        <p:nvSpPr>
          <p:cNvPr id="190" name="Google Shape;190;p38"/>
          <p:cNvSpPr txBox="1">
            <a:spLocks noGrp="1"/>
          </p:cNvSpPr>
          <p:nvPr>
            <p:ph type="ctrTitle" idx="3"/>
          </p:nvPr>
        </p:nvSpPr>
        <p:spPr>
          <a:xfrm>
            <a:off x="3446100" y="1254155"/>
            <a:ext cx="2547365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b="0" dirty="0"/>
              <a:t>Развитие долгосрочных отношений со стратегическими поставщиками</a:t>
            </a:r>
          </a:p>
        </p:txBody>
      </p:sp>
      <p:pic>
        <p:nvPicPr>
          <p:cNvPr id="20" name="Picture 2" descr="Компания АйТеко – ИТ интегратор">
            <a:extLst>
              <a:ext uri="{FF2B5EF4-FFF2-40B4-BE49-F238E27FC236}">
                <a16:creationId xmlns:a16="http://schemas.microsoft.com/office/drawing/2014/main" id="{0066D5F9-8B49-9E67-BA90-9298C9107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8806" y="-31546"/>
            <a:ext cx="2706914" cy="76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28535ADA-FB06-253C-9FF6-5AE8EA278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>
            <a:extLst>
              <a:ext uri="{FF2B5EF4-FFF2-40B4-BE49-F238E27FC236}">
                <a16:creationId xmlns:a16="http://schemas.microsoft.com/office/drawing/2014/main" id="{45CCD60A-697A-4A58-FB02-BEC0087316D8}"/>
              </a:ext>
            </a:extLst>
          </p:cNvPr>
          <p:cNvSpPr/>
          <p:nvPr/>
        </p:nvSpPr>
        <p:spPr>
          <a:xfrm rot="5400000">
            <a:off x="-752200" y="2013850"/>
            <a:ext cx="4059900" cy="111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54" name="Google Shape;254;p44">
            <a:extLst>
              <a:ext uri="{FF2B5EF4-FFF2-40B4-BE49-F238E27FC236}">
                <a16:creationId xmlns:a16="http://schemas.microsoft.com/office/drawing/2014/main" id="{9BC4238E-D417-ED69-F065-7A2702359B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754" b="16022"/>
          <a:stretch/>
        </p:blipFill>
        <p:spPr>
          <a:xfrm>
            <a:off x="1948200" y="541750"/>
            <a:ext cx="7195801" cy="405990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4">
            <a:extLst>
              <a:ext uri="{FF2B5EF4-FFF2-40B4-BE49-F238E27FC236}">
                <a16:creationId xmlns:a16="http://schemas.microsoft.com/office/drawing/2014/main" id="{2CD5F218-129D-6C22-05E4-DC678676BE9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16200000">
            <a:off x="-686270" y="2197614"/>
            <a:ext cx="3736000" cy="8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ru-RU" sz="2000" dirty="0">
                <a:solidFill>
                  <a:schemeClr val="bg1"/>
                </a:solidFill>
              </a:rPr>
              <a:t>Процесс управления поставщиком по ITIL 6.3</a:t>
            </a:r>
            <a:endParaRPr sz="2000" dirty="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9A6C723-C709-6DE6-422F-6FBCA17C64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720713"/>
              </p:ext>
            </p:extLst>
          </p:nvPr>
        </p:nvGraphicFramePr>
        <p:xfrm>
          <a:off x="2311964" y="980132"/>
          <a:ext cx="6468272" cy="333286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815148">
                  <a:extLst>
                    <a:ext uri="{9D8B030D-6E8A-4147-A177-3AD203B41FA5}">
                      <a16:colId xmlns:a16="http://schemas.microsoft.com/office/drawing/2014/main" val="2584888822"/>
                    </a:ext>
                  </a:extLst>
                </a:gridCol>
                <a:gridCol w="1836553">
                  <a:extLst>
                    <a:ext uri="{9D8B030D-6E8A-4147-A177-3AD203B41FA5}">
                      <a16:colId xmlns:a16="http://schemas.microsoft.com/office/drawing/2014/main" val="1611393331"/>
                    </a:ext>
                  </a:extLst>
                </a:gridCol>
                <a:gridCol w="2816571">
                  <a:extLst>
                    <a:ext uri="{9D8B030D-6E8A-4147-A177-3AD203B41FA5}">
                      <a16:colId xmlns:a16="http://schemas.microsoft.com/office/drawing/2014/main" val="3077802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Влияние / Зависимость</a:t>
                      </a:r>
                      <a:endParaRPr lang="ru-RU" sz="1050" b="1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1" kern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Этап</a:t>
                      </a:r>
                      <a:r>
                        <a:rPr lang="en-US" sz="1050" b="1" kern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процесса</a:t>
                      </a:r>
                      <a:endParaRPr lang="ru-RU" sz="1000" b="1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1" kern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Содержание</a:t>
                      </a:r>
                      <a:endParaRPr lang="ru-RU" sz="1000" b="1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0036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05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 kern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Выбор</a:t>
                      </a:r>
                      <a:r>
                        <a:rPr lang="en-US" sz="1050" b="0" kern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</a:t>
                      </a:r>
                      <a:r>
                        <a:rPr lang="en-US" sz="1050" b="0" kern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поставщика</a:t>
                      </a:r>
                      <a:endParaRPr lang="ru-RU" sz="10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050" b="0" kern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Анализ рынка и предварительная </a:t>
                      </a:r>
                      <a:r>
                        <a:rPr lang="ru-RU" sz="1050" b="0" kern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предварительная</a:t>
                      </a:r>
                      <a:r>
                        <a:rPr lang="ru-RU" sz="1050" b="0" kern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оценка потенциальных контрагентов</a:t>
                      </a:r>
                      <a:endParaRPr lang="ru-RU" sz="10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6578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05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 kern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Оценка</a:t>
                      </a:r>
                      <a:endParaRPr lang="ru-RU" sz="10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050" b="0" kern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Применение критериев оценки и сравнительный анализ поставщиков</a:t>
                      </a:r>
                      <a:endParaRPr lang="ru-RU" sz="10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4018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05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 kern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Категоризация</a:t>
                      </a:r>
                      <a:endParaRPr lang="ru-RU" sz="10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050" b="0" kern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Определение уровня значимости и критичности поставщика для ИТ-сервисов</a:t>
                      </a:r>
                      <a:endParaRPr lang="ru-RU" sz="10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4515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05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 kern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Контракт</a:t>
                      </a:r>
                      <a:endParaRPr lang="ru-RU" sz="1000" b="0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050" b="0" kern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Формализация условий сотрудничества, </a:t>
                      </a:r>
                      <a:r>
                        <a:rPr lang="en-US" sz="1050" b="0" kern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SLA</a:t>
                      </a:r>
                      <a:r>
                        <a:rPr lang="ru-RU" sz="1050" b="0" kern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и ответственности сторон</a:t>
                      </a:r>
                      <a:endParaRPr lang="ru-RU" sz="1000" b="0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9136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Низкое влияние</a:t>
                      </a:r>
                      <a:endParaRPr lang="ru-RU" sz="105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 kern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Управление рисками</a:t>
                      </a:r>
                      <a:endParaRPr lang="ru-RU" sz="1000" b="0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050" b="0" kern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Идентификация, оценка и контроль рисков взаимодействия</a:t>
                      </a:r>
                      <a:endParaRPr lang="ru-RU" sz="1000" b="0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6684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Высокое влияние</a:t>
                      </a:r>
                      <a:endParaRPr lang="ru-RU" sz="105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0" kern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Мониторинг</a:t>
                      </a:r>
                      <a:endParaRPr lang="ru-RU" sz="1000" b="0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050" b="0" kern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Контроль исполнения обязательств и регулярный пересмотр условий</a:t>
                      </a:r>
                      <a:endParaRPr lang="ru-RU" sz="10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3958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531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9"/>
          <p:cNvPicPr preferRelativeResize="0"/>
          <p:nvPr/>
        </p:nvPicPr>
        <p:blipFill rotWithShape="1">
          <a:blip r:embed="rId3">
            <a:alphaModFix/>
          </a:blip>
          <a:srcRect l="25616" r="25616"/>
          <a:stretch/>
        </p:blipFill>
        <p:spPr>
          <a:xfrm>
            <a:off x="5381625" y="0"/>
            <a:ext cx="376237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9"/>
          <p:cNvSpPr/>
          <p:nvPr/>
        </p:nvSpPr>
        <p:spPr>
          <a:xfrm>
            <a:off x="4819650" y="1577400"/>
            <a:ext cx="2991000" cy="1988700"/>
          </a:xfrm>
          <a:prstGeom prst="rect">
            <a:avLst/>
          </a:prstGeom>
          <a:solidFill>
            <a:srgbClr val="CFC3AC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9"/>
          <p:cNvSpPr txBox="1">
            <a:spLocks noGrp="1"/>
          </p:cNvSpPr>
          <p:nvPr>
            <p:ph type="subTitle" idx="1"/>
          </p:nvPr>
        </p:nvSpPr>
        <p:spPr>
          <a:xfrm flipH="1">
            <a:off x="340687" y="2190057"/>
            <a:ext cx="4170375" cy="11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ru-RU" b="1" dirty="0"/>
              <a:t>Функциональные:</a:t>
            </a:r>
            <a:r>
              <a:rPr lang="ru-RU" dirty="0"/>
              <a:t> Соответствие бизнес-требованиям</a:t>
            </a:r>
          </a:p>
          <a:p>
            <a:pPr algn="l"/>
            <a:r>
              <a:rPr lang="ru-RU" b="1" dirty="0"/>
              <a:t>Надежность:</a:t>
            </a:r>
            <a:r>
              <a:rPr lang="ru-RU" dirty="0"/>
              <a:t> Устойчивость решений, частота сбоев, опыт на рынке</a:t>
            </a:r>
          </a:p>
          <a:p>
            <a:pPr algn="l"/>
            <a:r>
              <a:rPr lang="ru-RU" b="1" dirty="0"/>
              <a:t>Поддержка:</a:t>
            </a:r>
            <a:r>
              <a:rPr lang="ru-RU" dirty="0"/>
              <a:t> Время реакции, качество консультаций, исправление ошибок</a:t>
            </a:r>
          </a:p>
          <a:p>
            <a:pPr algn="l"/>
            <a:r>
              <a:rPr lang="ru-RU" b="1" dirty="0"/>
              <a:t>Развитие:</a:t>
            </a:r>
            <a:r>
              <a:rPr lang="ru-RU" dirty="0"/>
              <a:t> Регулярность обновлений, адаптация к законодательству</a:t>
            </a:r>
          </a:p>
          <a:p>
            <a:pPr algn="l"/>
            <a:r>
              <a:rPr lang="ru-RU" b="1" dirty="0"/>
              <a:t>Зависимость:</a:t>
            </a:r>
            <a:r>
              <a:rPr lang="ru-RU" dirty="0"/>
              <a:t> Возможность замены, сложность миграции</a:t>
            </a:r>
          </a:p>
          <a:p>
            <a:pPr algn="l"/>
            <a:r>
              <a:rPr lang="ru-RU" b="1" dirty="0"/>
              <a:t>Репутация:</a:t>
            </a:r>
            <a:r>
              <a:rPr lang="ru-RU" dirty="0"/>
              <a:t> Позиция на рынке, количество внедрений</a:t>
            </a:r>
          </a:p>
          <a:p>
            <a:pPr algn="l"/>
            <a:r>
              <a:rPr lang="ru-RU" b="1" dirty="0"/>
              <a:t>Риски:</a:t>
            </a:r>
            <a:r>
              <a:rPr lang="ru-RU" dirty="0"/>
              <a:t> Вероятность инцидентов, изменение условий сотрудничества</a:t>
            </a:r>
          </a:p>
        </p:txBody>
      </p:sp>
      <p:sp>
        <p:nvSpPr>
          <p:cNvPr id="199" name="Google Shape;199;p39"/>
          <p:cNvSpPr txBox="1">
            <a:spLocks noGrp="1"/>
          </p:cNvSpPr>
          <p:nvPr>
            <p:ph type="title"/>
          </p:nvPr>
        </p:nvSpPr>
        <p:spPr>
          <a:xfrm>
            <a:off x="704474" y="889465"/>
            <a:ext cx="3498000" cy="89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ru-RU" dirty="0"/>
              <a:t>Критерии оценки поставщиков</a:t>
            </a:r>
          </a:p>
        </p:txBody>
      </p:sp>
      <p:sp>
        <p:nvSpPr>
          <p:cNvPr id="201" name="Google Shape;201;p39"/>
          <p:cNvSpPr/>
          <p:nvPr/>
        </p:nvSpPr>
        <p:spPr>
          <a:xfrm>
            <a:off x="0" y="1577400"/>
            <a:ext cx="362100" cy="1988700"/>
          </a:xfrm>
          <a:prstGeom prst="rect">
            <a:avLst/>
          </a:prstGeom>
          <a:solidFill>
            <a:srgbClr val="CFC3AC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94" name="Picture 2" descr="Компания Ай-Теко — о компании, фотографии офиса, контакты — Хабр Карьера">
            <a:extLst>
              <a:ext uri="{FF2B5EF4-FFF2-40B4-BE49-F238E27FC236}">
                <a16:creationId xmlns:a16="http://schemas.microsoft.com/office/drawing/2014/main" id="{B6127503-38FA-D0B5-70D9-78B38B3D4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087" y="1786165"/>
            <a:ext cx="1354125" cy="1354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5">
          <a:extLst>
            <a:ext uri="{FF2B5EF4-FFF2-40B4-BE49-F238E27FC236}">
              <a16:creationId xmlns:a16="http://schemas.microsoft.com/office/drawing/2014/main" id="{B38C8A5F-CE7F-8376-034D-FC649180A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>
            <a:extLst>
              <a:ext uri="{FF2B5EF4-FFF2-40B4-BE49-F238E27FC236}">
                <a16:creationId xmlns:a16="http://schemas.microsoft.com/office/drawing/2014/main" id="{580B979F-6B7C-C697-80EE-1DC1871DBE10}"/>
              </a:ext>
            </a:extLst>
          </p:cNvPr>
          <p:cNvSpPr/>
          <p:nvPr/>
        </p:nvSpPr>
        <p:spPr>
          <a:xfrm rot="-5400000">
            <a:off x="4144030" y="-2440439"/>
            <a:ext cx="710802" cy="6008918"/>
          </a:xfrm>
          <a:prstGeom prst="rect">
            <a:avLst/>
          </a:prstGeom>
          <a:gradFill>
            <a:gsLst>
              <a:gs pos="0">
                <a:srgbClr val="908269">
                  <a:alpha val="4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8" name="Google Shape;248;p43">
            <a:extLst>
              <a:ext uri="{FF2B5EF4-FFF2-40B4-BE49-F238E27FC236}">
                <a16:creationId xmlns:a16="http://schemas.microsoft.com/office/drawing/2014/main" id="{F9785246-205C-0CF9-6F79-081BF859F59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415916" y="86849"/>
            <a:ext cx="6494370" cy="4962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Разграничение ролей поставщика IT-услуг и поставщика продукции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EB4320EB-D99E-CCB9-CD6F-1B5D7D174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128428"/>
              </p:ext>
            </p:extLst>
          </p:nvPr>
        </p:nvGraphicFramePr>
        <p:xfrm>
          <a:off x="304800" y="1041191"/>
          <a:ext cx="8345713" cy="3590228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904119">
                  <a:extLst>
                    <a:ext uri="{9D8B030D-6E8A-4147-A177-3AD203B41FA5}">
                      <a16:colId xmlns:a16="http://schemas.microsoft.com/office/drawing/2014/main" val="1944017345"/>
                    </a:ext>
                  </a:extLst>
                </a:gridCol>
                <a:gridCol w="2147198">
                  <a:extLst>
                    <a:ext uri="{9D8B030D-6E8A-4147-A177-3AD203B41FA5}">
                      <a16:colId xmlns:a16="http://schemas.microsoft.com/office/drawing/2014/main" val="1674624872"/>
                    </a:ext>
                  </a:extLst>
                </a:gridCol>
                <a:gridCol w="2147198">
                  <a:extLst>
                    <a:ext uri="{9D8B030D-6E8A-4147-A177-3AD203B41FA5}">
                      <a16:colId xmlns:a16="http://schemas.microsoft.com/office/drawing/2014/main" val="3042079490"/>
                    </a:ext>
                  </a:extLst>
                </a:gridCol>
                <a:gridCol w="2147198">
                  <a:extLst>
                    <a:ext uri="{9D8B030D-6E8A-4147-A177-3AD203B41FA5}">
                      <a16:colId xmlns:a16="http://schemas.microsoft.com/office/drawing/2014/main" val="2151169549"/>
                    </a:ext>
                  </a:extLst>
                </a:gridCol>
              </a:tblGrid>
              <a:tr h="41023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100" b="1" dirty="0">
                          <a:effectLst/>
                        </a:rPr>
                        <a:t>Критерий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73521" marR="98029" marT="61268" marB="6126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100" b="1">
                          <a:effectLst/>
                        </a:rPr>
                        <a:t>1С</a:t>
                      </a:r>
                      <a:endParaRPr lang="ru-RU" sz="1100" b="1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100" b="1" dirty="0">
                          <a:effectLst/>
                        </a:rPr>
                        <a:t>Отечественные аналоги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100" b="1" dirty="0">
                          <a:effectLst/>
                        </a:rPr>
                        <a:t>Зарубежные платформы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extLst>
                  <a:ext uri="{0D108BD9-81ED-4DB2-BD59-A6C34878D82A}">
                    <a16:rowId xmlns:a16="http://schemas.microsoft.com/office/drawing/2014/main" val="3181244971"/>
                  </a:ext>
                </a:extLst>
              </a:tr>
              <a:tr h="3080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>
                          <a:effectLst/>
                        </a:rPr>
                        <a:t>Функциональность</a:t>
                      </a:r>
                      <a:endParaRPr lang="ru-RU" sz="1100" b="1">
                        <a:effectLst/>
                        <a:latin typeface="quote-cjk-patch"/>
                      </a:endParaRPr>
                    </a:p>
                  </a:txBody>
                  <a:tcPr marL="73521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</a:rPr>
                        <a:t>Высокая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>
                          <a:effectLst/>
                        </a:rPr>
                        <a:t>Средняя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>
                          <a:effectLst/>
                        </a:rPr>
                        <a:t>Высокая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98029" marR="73521" marT="61268" marB="61268" anchor="ctr"/>
                </a:tc>
                <a:extLst>
                  <a:ext uri="{0D108BD9-81ED-4DB2-BD59-A6C34878D82A}">
                    <a16:rowId xmlns:a16="http://schemas.microsoft.com/office/drawing/2014/main" val="3273025483"/>
                  </a:ext>
                </a:extLst>
              </a:tr>
              <a:tr h="3080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>
                          <a:effectLst/>
                        </a:rPr>
                        <a:t>Надежность</a:t>
                      </a:r>
                      <a:endParaRPr lang="ru-RU" sz="1100" b="1">
                        <a:effectLst/>
                        <a:latin typeface="quote-cjk-patch"/>
                      </a:endParaRPr>
                    </a:p>
                  </a:txBody>
                  <a:tcPr marL="73521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>
                          <a:effectLst/>
                        </a:rPr>
                        <a:t>Высокая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</a:rPr>
                        <a:t>Средняя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</a:rPr>
                        <a:t>Высокая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98029" marR="73521" marT="61268" marB="61268" anchor="ctr"/>
                </a:tc>
                <a:extLst>
                  <a:ext uri="{0D108BD9-81ED-4DB2-BD59-A6C34878D82A}">
                    <a16:rowId xmlns:a16="http://schemas.microsoft.com/office/drawing/2014/main" val="1026852977"/>
                  </a:ext>
                </a:extLst>
              </a:tr>
              <a:tr h="3080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>
                          <a:effectLst/>
                        </a:rPr>
                        <a:t>Техподдержка</a:t>
                      </a:r>
                      <a:endParaRPr lang="ru-RU" sz="1100" b="1">
                        <a:effectLst/>
                        <a:latin typeface="quote-cjk-patch"/>
                      </a:endParaRPr>
                    </a:p>
                  </a:txBody>
                  <a:tcPr marL="73521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</a:rPr>
                        <a:t>Высокая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</a:rPr>
                        <a:t>Средняя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</a:rPr>
                        <a:t>Средняя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98029" marR="73521" marT="61268" marB="61268" anchor="ctr"/>
                </a:tc>
                <a:extLst>
                  <a:ext uri="{0D108BD9-81ED-4DB2-BD59-A6C34878D82A}">
                    <a16:rowId xmlns:a16="http://schemas.microsoft.com/office/drawing/2014/main" val="2065631769"/>
                  </a:ext>
                </a:extLst>
              </a:tr>
              <a:tr h="52713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>
                          <a:effectLst/>
                        </a:rPr>
                        <a:t>Регулярность обновлений</a:t>
                      </a:r>
                      <a:endParaRPr lang="ru-RU" sz="1100" b="1">
                        <a:effectLst/>
                        <a:latin typeface="quote-cjk-patch"/>
                      </a:endParaRPr>
                    </a:p>
                  </a:txBody>
                  <a:tcPr marL="73521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</a:rPr>
                        <a:t>Регулярные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</a:rPr>
                        <a:t>Нерегулярные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</a:rPr>
                        <a:t>Регулярные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98029" marR="73521" marT="61268" marB="61268" anchor="ctr"/>
                </a:tc>
                <a:extLst>
                  <a:ext uri="{0D108BD9-81ED-4DB2-BD59-A6C34878D82A}">
                    <a16:rowId xmlns:a16="http://schemas.microsoft.com/office/drawing/2014/main" val="3165599443"/>
                  </a:ext>
                </a:extLst>
              </a:tr>
              <a:tr h="52713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>
                          <a:effectLst/>
                        </a:rPr>
                        <a:t>Адаптация к рынку РФ</a:t>
                      </a:r>
                      <a:endParaRPr lang="ru-RU" sz="1100" b="1">
                        <a:effectLst/>
                        <a:latin typeface="quote-cjk-patch"/>
                      </a:endParaRPr>
                    </a:p>
                  </a:txBody>
                  <a:tcPr marL="73521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</a:rPr>
                        <a:t>Полная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</a:rPr>
                        <a:t>Частичная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>
                          <a:effectLst/>
                        </a:rPr>
                        <a:t>Ограниченная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98029" marR="73521" marT="61268" marB="61268" anchor="ctr"/>
                </a:tc>
                <a:extLst>
                  <a:ext uri="{0D108BD9-81ED-4DB2-BD59-A6C34878D82A}">
                    <a16:rowId xmlns:a16="http://schemas.microsoft.com/office/drawing/2014/main" val="3121315605"/>
                  </a:ext>
                </a:extLst>
              </a:tr>
              <a:tr h="52713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>
                          <a:effectLst/>
                        </a:rPr>
                        <a:t>Уровень зависимости</a:t>
                      </a:r>
                      <a:endParaRPr lang="ru-RU" sz="1100" b="1">
                        <a:effectLst/>
                        <a:latin typeface="quote-cjk-patch"/>
                      </a:endParaRPr>
                    </a:p>
                  </a:txBody>
                  <a:tcPr marL="73521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>
                          <a:effectLst/>
                        </a:rPr>
                        <a:t>Высокий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>
                          <a:effectLst/>
                        </a:rPr>
                        <a:t>Средний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>
                          <a:effectLst/>
                        </a:rPr>
                        <a:t>Высокий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98029" marR="73521" marT="61268" marB="61268" anchor="ctr"/>
                </a:tc>
                <a:extLst>
                  <a:ext uri="{0D108BD9-81ED-4DB2-BD59-A6C34878D82A}">
                    <a16:rowId xmlns:a16="http://schemas.microsoft.com/office/drawing/2014/main" val="4059141803"/>
                  </a:ext>
                </a:extLst>
              </a:tr>
              <a:tr h="52713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 dirty="0">
                          <a:effectLst/>
                        </a:rPr>
                        <a:t>Риски использования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73521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>
                          <a:effectLst/>
                        </a:rPr>
                        <a:t>Средние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>
                          <a:effectLst/>
                        </a:rPr>
                        <a:t>Повышенные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98029" marR="98029" marT="61268" marB="6126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</a:rPr>
                        <a:t>Повышенные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98029" marR="73521" marT="61268" marB="61268" anchor="ctr"/>
                </a:tc>
                <a:extLst>
                  <a:ext uri="{0D108BD9-81ED-4DB2-BD59-A6C34878D82A}">
                    <a16:rowId xmlns:a16="http://schemas.microsoft.com/office/drawing/2014/main" val="42138313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5159129-2DA4-3AC0-827C-90A66D3F0ED3}"/>
              </a:ext>
            </a:extLst>
          </p:cNvPr>
          <p:cNvSpPr txBox="1"/>
          <p:nvPr/>
        </p:nvSpPr>
        <p:spPr>
          <a:xfrm>
            <a:off x="1799772" y="4753189"/>
            <a:ext cx="6110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→ Вывод: 1С наиболее подходит для ООО «</a:t>
            </a:r>
            <a:r>
              <a:rPr lang="ru-RU" dirty="0" err="1">
                <a:solidFill>
                  <a:schemeClr val="bg1"/>
                </a:solidFill>
              </a:rPr>
              <a:t>Айтеко</a:t>
            </a:r>
            <a:r>
              <a:rPr lang="ru-RU" dirty="0">
                <a:solidFill>
                  <a:schemeClr val="bg1"/>
                </a:solidFill>
              </a:rPr>
              <a:t>-Сервис».</a:t>
            </a:r>
          </a:p>
        </p:txBody>
      </p:sp>
    </p:spTree>
    <p:extLst>
      <p:ext uri="{BB962C8B-B14F-4D97-AF65-F5344CB8AC3E}">
        <p14:creationId xmlns:p14="http://schemas.microsoft.com/office/powerpoint/2010/main" val="1385599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45"/>
          <p:cNvPicPr preferRelativeResize="0"/>
          <p:nvPr/>
        </p:nvPicPr>
        <p:blipFill rotWithShape="1">
          <a:blip r:embed="rId3">
            <a:alphaModFix/>
          </a:blip>
          <a:srcRect t="7684" b="7684"/>
          <a:stretch/>
        </p:blipFill>
        <p:spPr>
          <a:xfrm>
            <a:off x="0" y="541750"/>
            <a:ext cx="7195801" cy="405990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5"/>
          <p:cNvSpPr/>
          <p:nvPr/>
        </p:nvSpPr>
        <p:spPr>
          <a:xfrm rot="-5400000" flipH="1">
            <a:off x="5836301" y="2013850"/>
            <a:ext cx="4059900" cy="111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5"/>
          <p:cNvSpPr/>
          <p:nvPr/>
        </p:nvSpPr>
        <p:spPr>
          <a:xfrm rot="5400000">
            <a:off x="3734484" y="1169297"/>
            <a:ext cx="2983307" cy="3881400"/>
          </a:xfrm>
          <a:prstGeom prst="rect">
            <a:avLst/>
          </a:prstGeom>
          <a:gradFill>
            <a:gsLst>
              <a:gs pos="0">
                <a:srgbClr val="908269">
                  <a:alpha val="4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5"/>
          <p:cNvSpPr txBox="1">
            <a:spLocks noGrp="1"/>
          </p:cNvSpPr>
          <p:nvPr>
            <p:ph type="subTitle" idx="1"/>
          </p:nvPr>
        </p:nvSpPr>
        <p:spPr>
          <a:xfrm flipH="1">
            <a:off x="3323336" y="1702665"/>
            <a:ext cx="3805602" cy="2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Причины выбора:</a:t>
            </a:r>
            <a:endParaRPr lang="ru-RU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Широкое распространение, большой опыт внедрений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Официальная поддержка, полная документация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Развитая партнерская сеть, быстрое реагирование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Регулярные обновления, соответствие законодательству РФ</a:t>
            </a:r>
          </a:p>
          <a:p>
            <a:r>
              <a:rPr lang="ru-RU" b="1" dirty="0">
                <a:solidFill>
                  <a:schemeClr val="bg1"/>
                </a:solidFill>
              </a:rPr>
              <a:t>Влияние:</a:t>
            </a:r>
            <a:r>
              <a:rPr lang="ru-RU" dirty="0">
                <a:solidFill>
                  <a:schemeClr val="bg1"/>
                </a:solidFill>
              </a:rPr>
              <a:t> Прямое воздействие на качество IT-услуг для клиентов.</a:t>
            </a:r>
          </a:p>
        </p:txBody>
      </p:sp>
      <p:sp>
        <p:nvSpPr>
          <p:cNvPr id="266" name="Google Shape;266;p45"/>
          <p:cNvSpPr txBox="1">
            <a:spLocks noGrp="1"/>
          </p:cNvSpPr>
          <p:nvPr>
            <p:ph type="ctrTitle"/>
          </p:nvPr>
        </p:nvSpPr>
        <p:spPr>
          <a:xfrm rot="5400000">
            <a:off x="6022856" y="2217813"/>
            <a:ext cx="4129790" cy="8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Выбор поставщика – Фирма «1С»</a:t>
            </a:r>
            <a:endParaRPr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/>
          <p:nvPr/>
        </p:nvSpPr>
        <p:spPr>
          <a:xfrm rot="5400000">
            <a:off x="-752200" y="2013850"/>
            <a:ext cx="4059900" cy="111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4" name="Google Shape;254;p44"/>
          <p:cNvPicPr preferRelativeResize="0"/>
          <p:nvPr/>
        </p:nvPicPr>
        <p:blipFill rotWithShape="1">
          <a:blip r:embed="rId3">
            <a:alphaModFix/>
          </a:blip>
          <a:srcRect r="754" b="16022"/>
          <a:stretch/>
        </p:blipFill>
        <p:spPr>
          <a:xfrm>
            <a:off x="1948200" y="541750"/>
            <a:ext cx="7195801" cy="405990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4"/>
          <p:cNvSpPr txBox="1">
            <a:spLocks noGrp="1"/>
          </p:cNvSpPr>
          <p:nvPr>
            <p:ph type="ctrTitle"/>
          </p:nvPr>
        </p:nvSpPr>
        <p:spPr>
          <a:xfrm rot="16200000">
            <a:off x="-873999" y="2183099"/>
            <a:ext cx="3736000" cy="8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000" dirty="0">
                <a:solidFill>
                  <a:schemeClr val="bg1"/>
                </a:solidFill>
              </a:rPr>
              <a:t>Категоризация поставщика</a:t>
            </a:r>
            <a:endParaRPr sz="2000" dirty="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BBE4B67-DBCD-F890-495E-37A4EA76C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726012"/>
              </p:ext>
            </p:extLst>
          </p:nvPr>
        </p:nvGraphicFramePr>
        <p:xfrm>
          <a:off x="2680980" y="1641391"/>
          <a:ext cx="5730240" cy="186061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910080">
                  <a:extLst>
                    <a:ext uri="{9D8B030D-6E8A-4147-A177-3AD203B41FA5}">
                      <a16:colId xmlns:a16="http://schemas.microsoft.com/office/drawing/2014/main" val="2584888822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1611393331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3077802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Влияние / Зависимость</a:t>
                      </a:r>
                      <a:endParaRPr lang="ru-RU" b="1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1" dirty="0">
                          <a:effectLst/>
                        </a:rPr>
                        <a:t>Низкая зависимость</a:t>
                      </a:r>
                      <a:endParaRPr lang="ru-RU" b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1" dirty="0">
                          <a:effectLst/>
                        </a:rPr>
                        <a:t>Высокая зависимость</a:t>
                      </a:r>
                      <a:endParaRPr lang="ru-RU" b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000036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Низкое влияние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Операционный поставщик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Ключевой поставщик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256684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Высокое влияние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Ключевой поставщик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 dirty="0">
                          <a:effectLst/>
                        </a:rPr>
                        <a:t>Стратегический поставщик (1С)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6639588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65AA7CC-2661-13FA-49B6-0C0B06617DFA}"/>
              </a:ext>
            </a:extLst>
          </p:cNvPr>
          <p:cNvSpPr txBox="1"/>
          <p:nvPr/>
        </p:nvSpPr>
        <p:spPr>
          <a:xfrm>
            <a:off x="3164114" y="881390"/>
            <a:ext cx="46010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→ 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1С относится к стратегическим поставщикам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, требует усиленного контроля и управления рисками.</a:t>
            </a: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6"/>
          <p:cNvSpPr/>
          <p:nvPr/>
        </p:nvSpPr>
        <p:spPr>
          <a:xfrm rot="5400000">
            <a:off x="1458310" y="1998813"/>
            <a:ext cx="1956703" cy="3247727"/>
          </a:xfrm>
          <a:prstGeom prst="flowChartOffpageConnector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8" name="Google Shape;468;p56"/>
          <p:cNvSpPr/>
          <p:nvPr/>
        </p:nvSpPr>
        <p:spPr>
          <a:xfrm rot="-5400000" flipH="1">
            <a:off x="4809041" y="135994"/>
            <a:ext cx="1760739" cy="3091925"/>
          </a:xfrm>
          <a:prstGeom prst="flowChartOffpageConnector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56"/>
          <p:cNvSpPr/>
          <p:nvPr/>
        </p:nvSpPr>
        <p:spPr>
          <a:xfrm rot="-5400000" flipH="1">
            <a:off x="4711059" y="2075807"/>
            <a:ext cx="1956704" cy="3091925"/>
          </a:xfrm>
          <a:prstGeom prst="flowChartOffpageConnector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56"/>
          <p:cNvSpPr txBox="1">
            <a:spLocks noGrp="1"/>
          </p:cNvSpPr>
          <p:nvPr>
            <p:ph type="ctrTitle"/>
          </p:nvPr>
        </p:nvSpPr>
        <p:spPr>
          <a:xfrm rot="5400000">
            <a:off x="6785023" y="1924124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SWOT-</a:t>
            </a:r>
            <a:r>
              <a:rPr lang="ru-RU" dirty="0"/>
              <a:t>анализ поставщика «1С»</a:t>
            </a:r>
          </a:p>
        </p:txBody>
      </p:sp>
      <p:sp>
        <p:nvSpPr>
          <p:cNvPr id="471" name="Google Shape;471;p56"/>
          <p:cNvSpPr/>
          <p:nvPr/>
        </p:nvSpPr>
        <p:spPr>
          <a:xfrm rot="5400000">
            <a:off x="1543154" y="51260"/>
            <a:ext cx="1782572" cy="3247726"/>
          </a:xfrm>
          <a:prstGeom prst="flowChartOffpageConnector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</p:txBody>
      </p:sp>
      <p:sp>
        <p:nvSpPr>
          <p:cNvPr id="472" name="Google Shape;472;p56"/>
          <p:cNvSpPr txBox="1">
            <a:spLocks noGrp="1"/>
          </p:cNvSpPr>
          <p:nvPr>
            <p:ph type="ctrTitle" idx="4294967295"/>
          </p:nvPr>
        </p:nvSpPr>
        <p:spPr>
          <a:xfrm>
            <a:off x="1381953" y="988702"/>
            <a:ext cx="2761495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1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Широкое распространение на рынке</a:t>
            </a:r>
            <a:r>
              <a:rPr lang="vi-VN" sz="11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br>
              <a:rPr lang="vi-VN" sz="11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ru-RU" sz="11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Устойчивая позиция, долгий опыт</a:t>
            </a:r>
            <a:br>
              <a:rPr lang="vi-VN" sz="11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ru-RU" sz="11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Официальные обновления и документация</a:t>
            </a:r>
            <a:br>
              <a:rPr lang="vi-VN" sz="11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ru-RU" sz="11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Развитая партнерская сеть и поддержка</a:t>
            </a:r>
            <a:br>
              <a:rPr lang="vi-VN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ru-RU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3" name="Google Shape;473;p56"/>
          <p:cNvSpPr txBox="1">
            <a:spLocks noGrp="1"/>
          </p:cNvSpPr>
          <p:nvPr>
            <p:ph type="ctrTitle" idx="4294967295"/>
          </p:nvPr>
        </p:nvSpPr>
        <p:spPr>
          <a:xfrm>
            <a:off x="1373804" y="2923895"/>
            <a:ext cx="2840289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1100" dirty="0">
                <a:solidFill>
                  <a:schemeClr val="bg1"/>
                </a:solidFill>
              </a:rPr>
              <a:t>Расширение функциональности ПО</a:t>
            </a:r>
            <a:br>
              <a:rPr lang="vi-VN" sz="1100" dirty="0">
                <a:solidFill>
                  <a:schemeClr val="bg1"/>
                </a:solidFill>
              </a:rPr>
            </a:br>
            <a:r>
              <a:rPr lang="ru-RU" sz="1100" dirty="0">
                <a:solidFill>
                  <a:schemeClr val="bg1"/>
                </a:solidFill>
              </a:rPr>
              <a:t>Адаптация под новые бизнес-требования</a:t>
            </a:r>
            <a:br>
              <a:rPr lang="vi-VN" sz="1100" dirty="0">
                <a:solidFill>
                  <a:schemeClr val="bg1"/>
                </a:solidFill>
              </a:rPr>
            </a:br>
            <a:r>
              <a:rPr lang="ru-RU" sz="1100" dirty="0">
                <a:solidFill>
                  <a:schemeClr val="bg1"/>
                </a:solidFill>
              </a:rPr>
              <a:t>Развитие экосистемы прикладных решений</a:t>
            </a:r>
            <a:br>
              <a:rPr lang="vi-VN" sz="1100" dirty="0">
                <a:solidFill>
                  <a:schemeClr val="bg1"/>
                </a:solidFill>
              </a:rPr>
            </a:br>
            <a:r>
              <a:rPr lang="ru-RU" sz="1100" dirty="0">
                <a:solidFill>
                  <a:schemeClr val="bg1"/>
                </a:solidFill>
              </a:rPr>
              <a:t>Повышение качества IT-услуг через новые версии</a:t>
            </a:r>
            <a:endParaRPr sz="1100" dirty="0">
              <a:solidFill>
                <a:schemeClr val="bg1"/>
              </a:solidFill>
            </a:endParaRPr>
          </a:p>
        </p:txBody>
      </p:sp>
      <p:sp>
        <p:nvSpPr>
          <p:cNvPr id="474" name="Google Shape;474;p56"/>
          <p:cNvSpPr txBox="1">
            <a:spLocks noGrp="1"/>
          </p:cNvSpPr>
          <p:nvPr>
            <p:ph type="ctrTitle" idx="4294967295"/>
          </p:nvPr>
        </p:nvSpPr>
        <p:spPr>
          <a:xfrm>
            <a:off x="4228593" y="878719"/>
            <a:ext cx="300678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100" dirty="0">
                <a:solidFill>
                  <a:schemeClr val="bg1"/>
                </a:solidFill>
              </a:rPr>
              <a:t>Высокая зависимость от одного поставщика</a:t>
            </a:r>
            <a:br>
              <a:rPr lang="vi-VN" sz="1100" dirty="0">
                <a:solidFill>
                  <a:schemeClr val="bg1"/>
                </a:solidFill>
              </a:rPr>
            </a:br>
            <a:r>
              <a:rPr lang="ru-RU" sz="1100" dirty="0">
                <a:solidFill>
                  <a:schemeClr val="bg1"/>
                </a:solidFill>
              </a:rPr>
              <a:t>Ограниченная возможность быстрой замены</a:t>
            </a:r>
            <a:br>
              <a:rPr lang="vi-VN" sz="1100" dirty="0">
                <a:solidFill>
                  <a:schemeClr val="bg1"/>
                </a:solidFill>
              </a:rPr>
            </a:br>
            <a:r>
              <a:rPr lang="ru-RU" sz="1100" dirty="0">
                <a:solidFill>
                  <a:schemeClr val="bg1"/>
                </a:solidFill>
              </a:rPr>
              <a:t>Зависимость от политики лицензирования</a:t>
            </a:r>
            <a:br>
              <a:rPr lang="vi-VN" sz="1100" dirty="0">
                <a:solidFill>
                  <a:schemeClr val="bg1"/>
                </a:solidFill>
              </a:rPr>
            </a:br>
            <a:r>
              <a:rPr lang="ru-RU" sz="1100" dirty="0">
                <a:solidFill>
                  <a:schemeClr val="bg1"/>
                </a:solidFill>
              </a:rPr>
              <a:t>Сложность интеграции с некоторыми сторонними решениями</a:t>
            </a:r>
            <a:br>
              <a:rPr lang="vi-VN" sz="1100" dirty="0">
                <a:solidFill>
                  <a:schemeClr val="bg1"/>
                </a:solidFill>
              </a:rPr>
            </a:br>
            <a:endParaRPr lang="ru-RU" sz="1100" dirty="0">
              <a:solidFill>
                <a:schemeClr val="bg1"/>
              </a:solidFill>
            </a:endParaRPr>
          </a:p>
        </p:txBody>
      </p:sp>
      <p:sp>
        <p:nvSpPr>
          <p:cNvPr id="475" name="Google Shape;475;p56"/>
          <p:cNvSpPr txBox="1">
            <a:spLocks noGrp="1"/>
          </p:cNvSpPr>
          <p:nvPr>
            <p:ph type="ctrTitle" idx="4294967295"/>
          </p:nvPr>
        </p:nvSpPr>
        <p:spPr>
          <a:xfrm>
            <a:off x="4279116" y="3019229"/>
            <a:ext cx="266597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1100" dirty="0">
                <a:solidFill>
                  <a:schemeClr val="bg1"/>
                </a:solidFill>
              </a:rPr>
              <a:t>Изменение условий лицензирования</a:t>
            </a:r>
            <a:br>
              <a:rPr lang="vi-VN" sz="1100" dirty="0">
                <a:solidFill>
                  <a:schemeClr val="bg1"/>
                </a:solidFill>
              </a:rPr>
            </a:br>
            <a:r>
              <a:rPr lang="ru-RU" sz="1100" dirty="0">
                <a:solidFill>
                  <a:schemeClr val="bg1"/>
                </a:solidFill>
              </a:rPr>
              <a:t>Задержки выпуска обновлений</a:t>
            </a:r>
            <a:br>
              <a:rPr lang="vi-VN" sz="1100" dirty="0">
                <a:solidFill>
                  <a:schemeClr val="bg1"/>
                </a:solidFill>
              </a:rPr>
            </a:br>
            <a:r>
              <a:rPr lang="ru-RU" sz="1100" dirty="0">
                <a:solidFill>
                  <a:schemeClr val="bg1"/>
                </a:solidFill>
              </a:rPr>
              <a:t>Рост конкуренции со стороны других платформ</a:t>
            </a:r>
            <a:br>
              <a:rPr lang="vi-VN" sz="1100" dirty="0">
                <a:solidFill>
                  <a:schemeClr val="bg1"/>
                </a:solidFill>
              </a:rPr>
            </a:br>
            <a:r>
              <a:rPr lang="ru-RU" sz="1100" dirty="0">
                <a:solidFill>
                  <a:schemeClr val="bg1"/>
                </a:solidFill>
              </a:rPr>
              <a:t>Усиление зависимости компании от поставщика</a:t>
            </a:r>
            <a:br>
              <a:rPr lang="ru-RU" sz="1100" dirty="0">
                <a:solidFill>
                  <a:schemeClr val="bg1"/>
                </a:solidFill>
              </a:rPr>
            </a:br>
            <a:endParaRPr sz="1100" dirty="0">
              <a:solidFill>
                <a:schemeClr val="bg1"/>
              </a:solidFill>
            </a:endParaRPr>
          </a:p>
        </p:txBody>
      </p:sp>
      <p:sp>
        <p:nvSpPr>
          <p:cNvPr id="478" name="Google Shape;478;p56"/>
          <p:cNvSpPr/>
          <p:nvPr/>
        </p:nvSpPr>
        <p:spPr>
          <a:xfrm>
            <a:off x="3652825" y="2342925"/>
            <a:ext cx="885900" cy="52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56"/>
          <p:cNvSpPr/>
          <p:nvPr/>
        </p:nvSpPr>
        <p:spPr>
          <a:xfrm>
            <a:off x="3924857" y="2403095"/>
            <a:ext cx="372159" cy="372159"/>
          </a:xfrm>
          <a:custGeom>
            <a:avLst/>
            <a:gdLst/>
            <a:ahLst/>
            <a:cxnLst/>
            <a:rect l="l" t="t" r="r" b="b"/>
            <a:pathLst>
              <a:path w="11693" h="11693" extrusionOk="0">
                <a:moveTo>
                  <a:pt x="10252" y="584"/>
                </a:moveTo>
                <a:lnTo>
                  <a:pt x="10252" y="1263"/>
                </a:lnTo>
                <a:cubicBezTo>
                  <a:pt x="10252" y="1358"/>
                  <a:pt x="10323" y="1429"/>
                  <a:pt x="10406" y="1429"/>
                </a:cubicBezTo>
                <a:lnTo>
                  <a:pt x="11097" y="1429"/>
                </a:lnTo>
                <a:lnTo>
                  <a:pt x="9609" y="2918"/>
                </a:lnTo>
                <a:lnTo>
                  <a:pt x="9001" y="2918"/>
                </a:lnTo>
                <a:lnTo>
                  <a:pt x="9978" y="1941"/>
                </a:lnTo>
                <a:cubicBezTo>
                  <a:pt x="10037" y="1882"/>
                  <a:pt x="10037" y="1751"/>
                  <a:pt x="9978" y="1691"/>
                </a:cubicBezTo>
                <a:cubicBezTo>
                  <a:pt x="9948" y="1667"/>
                  <a:pt x="9903" y="1656"/>
                  <a:pt x="9859" y="1656"/>
                </a:cubicBezTo>
                <a:cubicBezTo>
                  <a:pt x="9814" y="1656"/>
                  <a:pt x="9769" y="1667"/>
                  <a:pt x="9740" y="1691"/>
                </a:cubicBezTo>
                <a:lnTo>
                  <a:pt x="8763" y="2679"/>
                </a:lnTo>
                <a:lnTo>
                  <a:pt x="8763" y="2072"/>
                </a:lnTo>
                <a:lnTo>
                  <a:pt x="10252" y="584"/>
                </a:lnTo>
                <a:close/>
                <a:moveTo>
                  <a:pt x="4739" y="2537"/>
                </a:moveTo>
                <a:cubicBezTo>
                  <a:pt x="5894" y="2537"/>
                  <a:pt x="6942" y="2977"/>
                  <a:pt x="7739" y="3703"/>
                </a:cubicBezTo>
                <a:lnTo>
                  <a:pt x="4620" y="6811"/>
                </a:lnTo>
                <a:cubicBezTo>
                  <a:pt x="4560" y="6870"/>
                  <a:pt x="4560" y="7001"/>
                  <a:pt x="4620" y="7049"/>
                </a:cubicBezTo>
                <a:cubicBezTo>
                  <a:pt x="4656" y="7085"/>
                  <a:pt x="4703" y="7097"/>
                  <a:pt x="4739" y="7097"/>
                </a:cubicBezTo>
                <a:cubicBezTo>
                  <a:pt x="4787" y="7097"/>
                  <a:pt x="4834" y="7085"/>
                  <a:pt x="4858" y="7049"/>
                </a:cubicBezTo>
                <a:lnTo>
                  <a:pt x="5632" y="6275"/>
                </a:lnTo>
                <a:cubicBezTo>
                  <a:pt x="5775" y="6478"/>
                  <a:pt x="5846" y="6692"/>
                  <a:pt x="5846" y="6930"/>
                </a:cubicBezTo>
                <a:cubicBezTo>
                  <a:pt x="5846" y="7549"/>
                  <a:pt x="5358" y="8037"/>
                  <a:pt x="4739" y="8037"/>
                </a:cubicBezTo>
                <a:cubicBezTo>
                  <a:pt x="4132" y="8037"/>
                  <a:pt x="3644" y="7549"/>
                  <a:pt x="3644" y="6930"/>
                </a:cubicBezTo>
                <a:cubicBezTo>
                  <a:pt x="3644" y="6323"/>
                  <a:pt x="4132" y="5835"/>
                  <a:pt x="4739" y="5835"/>
                </a:cubicBezTo>
                <a:cubicBezTo>
                  <a:pt x="4822" y="5835"/>
                  <a:pt x="4882" y="5835"/>
                  <a:pt x="4953" y="5847"/>
                </a:cubicBezTo>
                <a:cubicBezTo>
                  <a:pt x="4962" y="5848"/>
                  <a:pt x="4970" y="5848"/>
                  <a:pt x="4979" y="5848"/>
                </a:cubicBezTo>
                <a:cubicBezTo>
                  <a:pt x="5055" y="5848"/>
                  <a:pt x="5133" y="5801"/>
                  <a:pt x="5144" y="5716"/>
                </a:cubicBezTo>
                <a:cubicBezTo>
                  <a:pt x="5156" y="5620"/>
                  <a:pt x="5096" y="5537"/>
                  <a:pt x="5013" y="5525"/>
                </a:cubicBezTo>
                <a:cubicBezTo>
                  <a:pt x="4918" y="5513"/>
                  <a:pt x="4834" y="5489"/>
                  <a:pt x="4739" y="5489"/>
                </a:cubicBezTo>
                <a:cubicBezTo>
                  <a:pt x="3941" y="5489"/>
                  <a:pt x="3298" y="6144"/>
                  <a:pt x="3298" y="6942"/>
                </a:cubicBezTo>
                <a:cubicBezTo>
                  <a:pt x="3298" y="7740"/>
                  <a:pt x="3953" y="8383"/>
                  <a:pt x="4739" y="8383"/>
                </a:cubicBezTo>
                <a:cubicBezTo>
                  <a:pt x="5549" y="8383"/>
                  <a:pt x="6192" y="7728"/>
                  <a:pt x="6192" y="6942"/>
                </a:cubicBezTo>
                <a:cubicBezTo>
                  <a:pt x="6192" y="6609"/>
                  <a:pt x="6084" y="6299"/>
                  <a:pt x="5870" y="6049"/>
                </a:cubicBezTo>
                <a:lnTo>
                  <a:pt x="6406" y="5513"/>
                </a:lnTo>
                <a:cubicBezTo>
                  <a:pt x="6751" y="5906"/>
                  <a:pt x="6942" y="6418"/>
                  <a:pt x="6942" y="6942"/>
                </a:cubicBezTo>
                <a:cubicBezTo>
                  <a:pt x="6942" y="8156"/>
                  <a:pt x="5965" y="9133"/>
                  <a:pt x="4739" y="9133"/>
                </a:cubicBezTo>
                <a:cubicBezTo>
                  <a:pt x="3525" y="9133"/>
                  <a:pt x="2536" y="8156"/>
                  <a:pt x="2536" y="6942"/>
                </a:cubicBezTo>
                <a:cubicBezTo>
                  <a:pt x="2536" y="5716"/>
                  <a:pt x="3525" y="4739"/>
                  <a:pt x="4739" y="4739"/>
                </a:cubicBezTo>
                <a:cubicBezTo>
                  <a:pt x="5120" y="4739"/>
                  <a:pt x="5477" y="4823"/>
                  <a:pt x="5787" y="5001"/>
                </a:cubicBezTo>
                <a:cubicBezTo>
                  <a:pt x="5812" y="5016"/>
                  <a:pt x="5840" y="5022"/>
                  <a:pt x="5868" y="5022"/>
                </a:cubicBezTo>
                <a:cubicBezTo>
                  <a:pt x="5930" y="5022"/>
                  <a:pt x="5992" y="4988"/>
                  <a:pt x="6025" y="4930"/>
                </a:cubicBezTo>
                <a:cubicBezTo>
                  <a:pt x="6073" y="4834"/>
                  <a:pt x="6037" y="4739"/>
                  <a:pt x="5953" y="4692"/>
                </a:cubicBezTo>
                <a:cubicBezTo>
                  <a:pt x="5572" y="4501"/>
                  <a:pt x="5156" y="4370"/>
                  <a:pt x="4739" y="4370"/>
                </a:cubicBezTo>
                <a:cubicBezTo>
                  <a:pt x="3346" y="4370"/>
                  <a:pt x="2203" y="5525"/>
                  <a:pt x="2203" y="6918"/>
                </a:cubicBezTo>
                <a:cubicBezTo>
                  <a:pt x="2203" y="8323"/>
                  <a:pt x="3346" y="9466"/>
                  <a:pt x="4739" y="9466"/>
                </a:cubicBezTo>
                <a:cubicBezTo>
                  <a:pt x="6144" y="9466"/>
                  <a:pt x="7287" y="8323"/>
                  <a:pt x="7287" y="6918"/>
                </a:cubicBezTo>
                <a:cubicBezTo>
                  <a:pt x="7287" y="6299"/>
                  <a:pt x="7061" y="5716"/>
                  <a:pt x="6668" y="5239"/>
                </a:cubicBezTo>
                <a:lnTo>
                  <a:pt x="7204" y="4704"/>
                </a:lnTo>
                <a:cubicBezTo>
                  <a:pt x="7751" y="5311"/>
                  <a:pt x="8049" y="6085"/>
                  <a:pt x="8049" y="6918"/>
                </a:cubicBezTo>
                <a:cubicBezTo>
                  <a:pt x="8049" y="8740"/>
                  <a:pt x="6561" y="10228"/>
                  <a:pt x="4739" y="10228"/>
                </a:cubicBezTo>
                <a:cubicBezTo>
                  <a:pt x="2929" y="10228"/>
                  <a:pt x="1441" y="8740"/>
                  <a:pt x="1441" y="6918"/>
                </a:cubicBezTo>
                <a:cubicBezTo>
                  <a:pt x="1441" y="5108"/>
                  <a:pt x="2929" y="3620"/>
                  <a:pt x="4739" y="3620"/>
                </a:cubicBezTo>
                <a:cubicBezTo>
                  <a:pt x="5382" y="3620"/>
                  <a:pt x="5989" y="3799"/>
                  <a:pt x="6525" y="4132"/>
                </a:cubicBezTo>
                <a:cubicBezTo>
                  <a:pt x="6558" y="4151"/>
                  <a:pt x="6594" y="4161"/>
                  <a:pt x="6628" y="4161"/>
                </a:cubicBezTo>
                <a:cubicBezTo>
                  <a:pt x="6679" y="4161"/>
                  <a:pt x="6727" y="4139"/>
                  <a:pt x="6763" y="4096"/>
                </a:cubicBezTo>
                <a:cubicBezTo>
                  <a:pt x="6811" y="4025"/>
                  <a:pt x="6799" y="3918"/>
                  <a:pt x="6727" y="3858"/>
                </a:cubicBezTo>
                <a:cubicBezTo>
                  <a:pt x="6144" y="3477"/>
                  <a:pt x="5453" y="3275"/>
                  <a:pt x="4763" y="3275"/>
                </a:cubicBezTo>
                <a:cubicBezTo>
                  <a:pt x="2751" y="3275"/>
                  <a:pt x="1108" y="4918"/>
                  <a:pt x="1108" y="6918"/>
                </a:cubicBezTo>
                <a:cubicBezTo>
                  <a:pt x="1108" y="8930"/>
                  <a:pt x="2751" y="10573"/>
                  <a:pt x="4763" y="10573"/>
                </a:cubicBezTo>
                <a:cubicBezTo>
                  <a:pt x="6763" y="10573"/>
                  <a:pt x="8406" y="8930"/>
                  <a:pt x="8406" y="6918"/>
                </a:cubicBezTo>
                <a:cubicBezTo>
                  <a:pt x="8406" y="6013"/>
                  <a:pt x="8061" y="5132"/>
                  <a:pt x="7454" y="4465"/>
                </a:cubicBezTo>
                <a:lnTo>
                  <a:pt x="7989" y="3930"/>
                </a:lnTo>
                <a:cubicBezTo>
                  <a:pt x="8704" y="4739"/>
                  <a:pt x="9144" y="5775"/>
                  <a:pt x="9144" y="6942"/>
                </a:cubicBezTo>
                <a:cubicBezTo>
                  <a:pt x="9144" y="9359"/>
                  <a:pt x="7168" y="11347"/>
                  <a:pt x="4739" y="11347"/>
                </a:cubicBezTo>
                <a:cubicBezTo>
                  <a:pt x="2322" y="11347"/>
                  <a:pt x="334" y="9359"/>
                  <a:pt x="334" y="6942"/>
                </a:cubicBezTo>
                <a:cubicBezTo>
                  <a:pt x="334" y="4513"/>
                  <a:pt x="2322" y="2537"/>
                  <a:pt x="4739" y="2537"/>
                </a:cubicBezTo>
                <a:close/>
                <a:moveTo>
                  <a:pt x="10403" y="1"/>
                </a:moveTo>
                <a:cubicBezTo>
                  <a:pt x="10360" y="1"/>
                  <a:pt x="10315" y="16"/>
                  <a:pt x="10275" y="48"/>
                </a:cubicBezTo>
                <a:lnTo>
                  <a:pt x="8466" y="1882"/>
                </a:lnTo>
                <a:cubicBezTo>
                  <a:pt x="8430" y="1906"/>
                  <a:pt x="8418" y="1953"/>
                  <a:pt x="8418" y="1989"/>
                </a:cubicBezTo>
                <a:lnTo>
                  <a:pt x="8418" y="3025"/>
                </a:lnTo>
                <a:lnTo>
                  <a:pt x="7978" y="3465"/>
                </a:lnTo>
                <a:cubicBezTo>
                  <a:pt x="7120" y="2679"/>
                  <a:pt x="5989" y="2203"/>
                  <a:pt x="4739" y="2203"/>
                </a:cubicBezTo>
                <a:cubicBezTo>
                  <a:pt x="2120" y="2203"/>
                  <a:pt x="0" y="4334"/>
                  <a:pt x="0" y="6954"/>
                </a:cubicBezTo>
                <a:cubicBezTo>
                  <a:pt x="0" y="9573"/>
                  <a:pt x="2120" y="11692"/>
                  <a:pt x="4739" y="11692"/>
                </a:cubicBezTo>
                <a:cubicBezTo>
                  <a:pt x="7358" y="11692"/>
                  <a:pt x="9490" y="9573"/>
                  <a:pt x="9490" y="6954"/>
                </a:cubicBezTo>
                <a:cubicBezTo>
                  <a:pt x="9490" y="5704"/>
                  <a:pt x="9013" y="4573"/>
                  <a:pt x="8228" y="3715"/>
                </a:cubicBezTo>
                <a:lnTo>
                  <a:pt x="8668" y="3275"/>
                </a:lnTo>
                <a:lnTo>
                  <a:pt x="9704" y="3275"/>
                </a:lnTo>
                <a:cubicBezTo>
                  <a:pt x="9740" y="3275"/>
                  <a:pt x="9787" y="3263"/>
                  <a:pt x="9823" y="3227"/>
                </a:cubicBezTo>
                <a:lnTo>
                  <a:pt x="11645" y="1394"/>
                </a:lnTo>
                <a:cubicBezTo>
                  <a:pt x="11680" y="1346"/>
                  <a:pt x="11692" y="1263"/>
                  <a:pt x="11668" y="1203"/>
                </a:cubicBezTo>
                <a:cubicBezTo>
                  <a:pt x="11633" y="1144"/>
                  <a:pt x="11573" y="1096"/>
                  <a:pt x="11502" y="1096"/>
                </a:cubicBezTo>
                <a:lnTo>
                  <a:pt x="10573" y="1096"/>
                </a:lnTo>
                <a:lnTo>
                  <a:pt x="10573" y="179"/>
                </a:lnTo>
                <a:cubicBezTo>
                  <a:pt x="10573" y="108"/>
                  <a:pt x="10537" y="48"/>
                  <a:pt x="10466" y="12"/>
                </a:cubicBezTo>
                <a:cubicBezTo>
                  <a:pt x="10446" y="5"/>
                  <a:pt x="10425" y="1"/>
                  <a:pt x="1040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2" descr="Компания АйТеко – ИТ интегратор">
            <a:extLst>
              <a:ext uri="{FF2B5EF4-FFF2-40B4-BE49-F238E27FC236}">
                <a16:creationId xmlns:a16="http://schemas.microsoft.com/office/drawing/2014/main" id="{BD1C1FB1-E62F-9F70-F86C-CFC3E57A2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27" y="-19792"/>
            <a:ext cx="2176923" cy="615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3E9188-430A-1B67-95E8-D8D2EEF87F55}"/>
              </a:ext>
            </a:extLst>
          </p:cNvPr>
          <p:cNvSpPr txBox="1"/>
          <p:nvPr/>
        </p:nvSpPr>
        <p:spPr>
          <a:xfrm>
            <a:off x="1928093" y="42727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Сильные стороны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3D4B44-0156-2090-63A9-477007F65371}"/>
              </a:ext>
            </a:extLst>
          </p:cNvPr>
          <p:cNvSpPr txBox="1"/>
          <p:nvPr/>
        </p:nvSpPr>
        <p:spPr>
          <a:xfrm>
            <a:off x="4538725" y="42727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Слабые стороны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02073-3FBE-3CEC-097C-45CEBEF220DA}"/>
              </a:ext>
            </a:extLst>
          </p:cNvPr>
          <p:cNvSpPr txBox="1"/>
          <p:nvPr/>
        </p:nvSpPr>
        <p:spPr>
          <a:xfrm>
            <a:off x="2111829" y="460173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Возможности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8CCD69-9858-DE50-B062-78434313FE5F}"/>
              </a:ext>
            </a:extLst>
          </p:cNvPr>
          <p:cNvSpPr txBox="1"/>
          <p:nvPr/>
        </p:nvSpPr>
        <p:spPr>
          <a:xfrm>
            <a:off x="4949373" y="456233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Угрозы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/>
          <p:nvPr/>
        </p:nvSpPr>
        <p:spPr>
          <a:xfrm rot="-5400000">
            <a:off x="2031650" y="-1023300"/>
            <a:ext cx="1057500" cy="31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8" name="Google Shape;238;p42"/>
          <p:cNvPicPr preferRelativeResize="0"/>
          <p:nvPr/>
        </p:nvPicPr>
        <p:blipFill rotWithShape="1">
          <a:blip r:embed="rId3">
            <a:alphaModFix/>
          </a:blip>
          <a:srcRect r="37500"/>
          <a:stretch/>
        </p:blipFill>
        <p:spPr>
          <a:xfrm>
            <a:off x="331425" y="271375"/>
            <a:ext cx="4224899" cy="450614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42"/>
          <p:cNvSpPr txBox="1">
            <a:spLocks noGrp="1"/>
          </p:cNvSpPr>
          <p:nvPr>
            <p:ph type="ctrTitle"/>
          </p:nvPr>
        </p:nvSpPr>
        <p:spPr>
          <a:xfrm>
            <a:off x="4798137" y="2571750"/>
            <a:ext cx="4224897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ru-RU" sz="2400" dirty="0"/>
              <a:t>База данных поставщиков и договоров (SCD)</a:t>
            </a:r>
            <a:br>
              <a:rPr lang="vi-VN" sz="2400" dirty="0"/>
            </a:br>
            <a:br>
              <a:rPr lang="vi-VN" sz="2400" dirty="0"/>
            </a:br>
            <a:br>
              <a:rPr lang="ru-RU" dirty="0"/>
            </a:br>
            <a:r>
              <a:rPr lang="ru-RU" sz="1200" dirty="0"/>
              <a:t>Назначение:</a:t>
            </a:r>
            <a:r>
              <a:rPr lang="ru-RU" sz="1200" b="0" dirty="0"/>
              <a:t> Централизованное хранение, прозрачное управление, поддержка принятия решений</a:t>
            </a:r>
            <a:br>
              <a:rPr lang="ru-RU" sz="1200" b="0" dirty="0"/>
            </a:br>
            <a:r>
              <a:rPr lang="ru-RU" sz="1200" dirty="0"/>
              <a:t>Хранимая информация:</a:t>
            </a:r>
            <a:br>
              <a:rPr lang="ru-RU" sz="1200" b="0" dirty="0"/>
            </a:br>
            <a:r>
              <a:rPr lang="ru-RU" sz="1200" b="0" dirty="0"/>
              <a:t>Общие данные о поставщике</a:t>
            </a:r>
            <a:br>
              <a:rPr lang="ru-RU" sz="1200" b="0" dirty="0"/>
            </a:br>
            <a:r>
              <a:rPr lang="ru-RU" sz="1200" b="0" dirty="0"/>
              <a:t>Детали договоров и приложений</a:t>
            </a:r>
            <a:br>
              <a:rPr lang="ru-RU" sz="1200" b="0" dirty="0"/>
            </a:br>
            <a:r>
              <a:rPr lang="ru-RU" sz="1200" b="0" dirty="0"/>
              <a:t>Показатели исполнения (SLA, инциденты)</a:t>
            </a:r>
            <a:br>
              <a:rPr lang="ru-RU" sz="1200" b="0" dirty="0"/>
            </a:br>
            <a:r>
              <a:rPr lang="ru-RU" sz="1200" b="0" dirty="0"/>
              <a:t>Оценка рисков и меры по снижению</a:t>
            </a:r>
            <a:br>
              <a:rPr lang="ru-RU" sz="1200" b="0" dirty="0"/>
            </a:br>
            <a:r>
              <a:rPr lang="ru-RU" sz="1200" dirty="0"/>
              <a:t>Преимущества:</a:t>
            </a:r>
            <a:r>
              <a:rPr lang="ru-RU" sz="1200" b="0" dirty="0"/>
              <a:t> Снижение риска потери информации, удобство контроля и отчетности.</a:t>
            </a:r>
            <a:br>
              <a:rPr lang="ru-RU" b="0" dirty="0"/>
            </a:br>
            <a:r>
              <a:rPr lang="en" sz="1400" dirty="0">
                <a:solidFill>
                  <a:schemeClr val="lt1"/>
                </a:solidFill>
              </a:rPr>
              <a:t>THE PROJECT</a:t>
            </a: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241" name="Google Shape;241;p42"/>
          <p:cNvSpPr/>
          <p:nvPr/>
        </p:nvSpPr>
        <p:spPr>
          <a:xfrm rot="-5400000">
            <a:off x="6600" y="1660525"/>
            <a:ext cx="1057500" cy="1070700"/>
          </a:xfrm>
          <a:prstGeom prst="rect">
            <a:avLst/>
          </a:prstGeom>
          <a:gradFill>
            <a:gsLst>
              <a:gs pos="0">
                <a:srgbClr val="908269">
                  <a:alpha val="4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FA3535-0325-663C-AFBE-30A7BD4B5D7C}"/>
              </a:ext>
            </a:extLst>
          </p:cNvPr>
          <p:cNvSpPr txBox="1"/>
          <p:nvPr/>
        </p:nvSpPr>
        <p:spPr>
          <a:xfrm>
            <a:off x="268514" y="1413231"/>
            <a:ext cx="6090557" cy="3392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27432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рамках процесса управления поставщиками базовый договор дополняется рядом приложений, которые конкретизируют требования к предоставляемым ИТ-услугам и обеспечивают возможность их практического контроля. Для ООО «</a:t>
            </a:r>
            <a:r>
              <a:rPr lang="ru-RU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Айтеко</a:t>
            </a:r>
            <a:r>
              <a:rPr lang="ru-RU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-Сервис» данные приложения являются обязательным элементом управления взаимоотношениями со стратегическим поставщиком и используются в повседневной деятельности ИТ-менеджмента.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27432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Ключевые приложения к договору позволяют перевести общие договорные условия в измеримые и управляемые параметры, а также обеспечить прозрачность взаимодействия между компанией и поставщиком.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B68AC-4332-06A3-1385-039060E6EA6F}"/>
              </a:ext>
            </a:extLst>
          </p:cNvPr>
          <p:cNvSpPr txBox="1"/>
          <p:nvPr/>
        </p:nvSpPr>
        <p:spPr>
          <a:xfrm>
            <a:off x="4446814" y="235504"/>
            <a:ext cx="46119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Ключевые приложения к договору с поставщиком</a:t>
            </a:r>
          </a:p>
        </p:txBody>
      </p:sp>
    </p:spTree>
    <p:extLst>
      <p:ext uri="{BB962C8B-B14F-4D97-AF65-F5344CB8AC3E}">
        <p14:creationId xmlns:p14="http://schemas.microsoft.com/office/powerpoint/2010/main" val="1091066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5">
          <a:extLst>
            <a:ext uri="{FF2B5EF4-FFF2-40B4-BE49-F238E27FC236}">
              <a16:creationId xmlns:a16="http://schemas.microsoft.com/office/drawing/2014/main" id="{3086E1F0-E59E-E2EA-3576-5EC5D97AD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>
            <a:extLst>
              <a:ext uri="{FF2B5EF4-FFF2-40B4-BE49-F238E27FC236}">
                <a16:creationId xmlns:a16="http://schemas.microsoft.com/office/drawing/2014/main" id="{9999C299-5D67-CCDE-8A1B-4C0ECDFAFC74}"/>
              </a:ext>
            </a:extLst>
          </p:cNvPr>
          <p:cNvSpPr/>
          <p:nvPr/>
        </p:nvSpPr>
        <p:spPr>
          <a:xfrm rot="-5400000">
            <a:off x="4144030" y="-2440439"/>
            <a:ext cx="710802" cy="6008918"/>
          </a:xfrm>
          <a:prstGeom prst="rect">
            <a:avLst/>
          </a:prstGeom>
          <a:gradFill>
            <a:gsLst>
              <a:gs pos="0">
                <a:srgbClr val="908269">
                  <a:alpha val="4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8" name="Google Shape;248;p43">
            <a:extLst>
              <a:ext uri="{FF2B5EF4-FFF2-40B4-BE49-F238E27FC236}">
                <a16:creationId xmlns:a16="http://schemas.microsoft.com/office/drawing/2014/main" id="{E6C96F7E-2DAA-A23C-2A45-DDBF7BEC2B9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54658" y="152163"/>
            <a:ext cx="6494370" cy="4962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План управления рисками при работе с поставщиком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583A2E2-DF89-30DF-C6D6-48C9D393C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829516"/>
              </p:ext>
            </p:extLst>
          </p:nvPr>
        </p:nvGraphicFramePr>
        <p:xfrm>
          <a:off x="326574" y="1078623"/>
          <a:ext cx="8345713" cy="3856258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904119">
                  <a:extLst>
                    <a:ext uri="{9D8B030D-6E8A-4147-A177-3AD203B41FA5}">
                      <a16:colId xmlns:a16="http://schemas.microsoft.com/office/drawing/2014/main" val="1944017345"/>
                    </a:ext>
                  </a:extLst>
                </a:gridCol>
                <a:gridCol w="2147198">
                  <a:extLst>
                    <a:ext uri="{9D8B030D-6E8A-4147-A177-3AD203B41FA5}">
                      <a16:colId xmlns:a16="http://schemas.microsoft.com/office/drawing/2014/main" val="1674624872"/>
                    </a:ext>
                  </a:extLst>
                </a:gridCol>
                <a:gridCol w="2147198">
                  <a:extLst>
                    <a:ext uri="{9D8B030D-6E8A-4147-A177-3AD203B41FA5}">
                      <a16:colId xmlns:a16="http://schemas.microsoft.com/office/drawing/2014/main" val="3042079490"/>
                    </a:ext>
                  </a:extLst>
                </a:gridCol>
                <a:gridCol w="2147198">
                  <a:extLst>
                    <a:ext uri="{9D8B030D-6E8A-4147-A177-3AD203B41FA5}">
                      <a16:colId xmlns:a16="http://schemas.microsoft.com/office/drawing/2014/main" val="2151169549"/>
                    </a:ext>
                  </a:extLst>
                </a:gridCol>
              </a:tblGrid>
              <a:tr h="41023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Риск</a:t>
                      </a:r>
                      <a:endParaRPr lang="ru-RU" b="1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Причина</a:t>
                      </a:r>
                      <a:endParaRPr lang="ru-RU" b="1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Меры снижения</a:t>
                      </a:r>
                      <a:endParaRPr lang="ru-RU" b="1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1" dirty="0">
                          <a:effectLst/>
                        </a:rPr>
                        <a:t>Риск</a:t>
                      </a:r>
                      <a:endParaRPr lang="ru-RU" b="1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181244971"/>
                  </a:ext>
                </a:extLst>
              </a:tr>
              <a:tr h="3080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Зависимость от одного поставщика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Использование специализированных решений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Мониторинг рынка, подготовка альтернатив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Зависимость от одного поставщика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273025483"/>
                  </a:ext>
                </a:extLst>
              </a:tr>
              <a:tr h="3080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Задержка выпуска обновлений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Изменение графиков релизов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Планирование внедрения, предварительное тестирование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Задержка выпуска обновлений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026852977"/>
                  </a:ext>
                </a:extLst>
              </a:tr>
              <a:tr h="3080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Ошибки в новых версиях ПО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Недостаточное тестирование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Тестирование в изолированной среде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Ошибки в новых версиях ПО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065631769"/>
                  </a:ext>
                </a:extLst>
              </a:tr>
              <a:tr h="52713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Несоответствие требованиям клиентов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Изменение бизнес-требований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Согласование требований, адаптация решений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Несоответствие требованиям клиентов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165599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698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3"/>
          <p:cNvSpPr/>
          <p:nvPr/>
        </p:nvSpPr>
        <p:spPr>
          <a:xfrm>
            <a:off x="1045029" y="2293501"/>
            <a:ext cx="5123542" cy="272844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53"/>
          <p:cNvSpPr txBox="1">
            <a:spLocks noGrp="1"/>
          </p:cNvSpPr>
          <p:nvPr>
            <p:ph type="subTitle" idx="1"/>
          </p:nvPr>
        </p:nvSpPr>
        <p:spPr>
          <a:xfrm>
            <a:off x="1103085" y="2392040"/>
            <a:ext cx="4717143" cy="15807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Управление поставщиками – стратегическая функция, напрямую влияющая на качество IT-услуг.</a:t>
            </a:r>
          </a:p>
          <a:p>
            <a:endParaRPr lang="ru-RU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ru-RU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Категоризация, оценка и детализация договоров позволяют контролировать риски и повышать стабильность.</a:t>
            </a:r>
          </a:p>
          <a:p>
            <a:endParaRPr lang="ru-RU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ru-RU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База данных SCD и план управления рисками поддерживают проактивное управление.</a:t>
            </a:r>
          </a:p>
          <a:p>
            <a:endParaRPr lang="ru-RU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ru-RU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Применение ITIL 6.3 способствует переходу от реактивного к проактивному управлению.</a:t>
            </a:r>
          </a:p>
          <a:p>
            <a:endParaRPr lang="ru-RU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ru-RU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Результаты могут быть применены в других IT-компаниях со схожей бизнес-моделью.</a:t>
            </a:r>
          </a:p>
        </p:txBody>
      </p:sp>
      <p:pic>
        <p:nvPicPr>
          <p:cNvPr id="413" name="Google Shape;413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029" y="0"/>
            <a:ext cx="5123542" cy="229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53"/>
          <p:cNvSpPr txBox="1">
            <a:spLocks noGrp="1"/>
          </p:cNvSpPr>
          <p:nvPr>
            <p:ph type="ctrTitle"/>
          </p:nvPr>
        </p:nvSpPr>
        <p:spPr>
          <a:xfrm>
            <a:off x="6569400" y="2377282"/>
            <a:ext cx="2468642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dirty="0"/>
              <a:t>Выводы</a:t>
            </a:r>
            <a:br>
              <a:rPr lang="ru-RU" dirty="0"/>
            </a:br>
            <a:br>
              <a:rPr lang="ru-RU" b="0" dirty="0"/>
            </a:br>
            <a:endParaRPr sz="2800" dirty="0"/>
          </a:p>
        </p:txBody>
      </p:sp>
      <p:sp>
        <p:nvSpPr>
          <p:cNvPr id="415" name="Google Shape;415;p53"/>
          <p:cNvSpPr/>
          <p:nvPr/>
        </p:nvSpPr>
        <p:spPr>
          <a:xfrm>
            <a:off x="-165700" y="540000"/>
            <a:ext cx="2320200" cy="138600"/>
          </a:xfrm>
          <a:prstGeom prst="rect">
            <a:avLst/>
          </a:prstGeom>
          <a:solidFill>
            <a:srgbClr val="CFC3AC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442" y="0"/>
            <a:ext cx="516255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61"/>
          <p:cNvSpPr/>
          <p:nvPr/>
        </p:nvSpPr>
        <p:spPr>
          <a:xfrm rot="5400000">
            <a:off x="833850" y="199653"/>
            <a:ext cx="3358800" cy="5026500"/>
          </a:xfrm>
          <a:prstGeom prst="rect">
            <a:avLst/>
          </a:prstGeom>
          <a:solidFill>
            <a:srgbClr val="908269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9" name="Google Shape;609;p61"/>
          <p:cNvSpPr txBox="1">
            <a:spLocks noGrp="1"/>
          </p:cNvSpPr>
          <p:nvPr>
            <p:ph type="ctrTitle"/>
          </p:nvPr>
        </p:nvSpPr>
        <p:spPr>
          <a:xfrm>
            <a:off x="642515" y="1218327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solidFill>
                  <a:schemeClr val="lt1"/>
                </a:solidFill>
              </a:rPr>
              <a:t>СПАСИБО ЗА ВНИМАНИЕ</a:t>
            </a:r>
            <a:endParaRPr sz="4000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gineering Project Proposal by Slidesgo">
  <a:themeElements>
    <a:clrScheme name="Simple Light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908269"/>
      </a:accent1>
      <a:accent2>
        <a:srgbClr val="212121"/>
      </a:accent2>
      <a:accent3>
        <a:srgbClr val="CFC3AC"/>
      </a:accent3>
      <a:accent4>
        <a:srgbClr val="976E26"/>
      </a:accent4>
      <a:accent5>
        <a:srgbClr val="927D59"/>
      </a:accent5>
      <a:accent6>
        <a:srgbClr val="584F3E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881</Words>
  <Application>Microsoft Office PowerPoint</Application>
  <PresentationFormat>Экран (16:9)</PresentationFormat>
  <Paragraphs>162</Paragraphs>
  <Slides>16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6" baseType="lpstr">
      <vt:lpstr>quote-cjk-patch</vt:lpstr>
      <vt:lpstr>Calibri</vt:lpstr>
      <vt:lpstr>Arial</vt:lpstr>
      <vt:lpstr>Roboto</vt:lpstr>
      <vt:lpstr>Catamaran Light</vt:lpstr>
      <vt:lpstr>Fira Sans Extra Condensed Medium</vt:lpstr>
      <vt:lpstr>Livvic</vt:lpstr>
      <vt:lpstr>Times New Roman</vt:lpstr>
      <vt:lpstr>Nunito Light</vt:lpstr>
      <vt:lpstr>Engineering Project Proposal by Slidesgo</vt:lpstr>
      <vt:lpstr>Презентация PowerPoint</vt:lpstr>
      <vt:lpstr>Презентация PowerPoint</vt:lpstr>
      <vt:lpstr>Презентация PowerPoint</vt:lpstr>
      <vt:lpstr>Контекст компании и роль IT-менеджера</vt:lpstr>
      <vt:lpstr>Регулярный мониторинг качества услуг</vt:lpstr>
      <vt:lpstr>Процесс управления поставщиком по ITIL 6.3</vt:lpstr>
      <vt:lpstr>Критерии оценки поставщиков</vt:lpstr>
      <vt:lpstr>Презентация PowerPoint</vt:lpstr>
      <vt:lpstr>Выбор поставщика – Фирма «1С»</vt:lpstr>
      <vt:lpstr>Категоризация поставщика</vt:lpstr>
      <vt:lpstr>SWOT-анализ поставщика «1С»</vt:lpstr>
      <vt:lpstr>База данных поставщиков и договоров (SCD)   Назначение: Централизованное хранение, прозрачное управление, поддержка принятия решений Хранимая информация: Общие данные о поставщике Детали договоров и приложений Показатели исполнения (SLA, инциденты) Оценка рисков и меры по снижению Преимущества: Снижение риска потери информации, удобство контроля и отчетности. THE PROJECT</vt:lpstr>
      <vt:lpstr>Презентация PowerPoint</vt:lpstr>
      <vt:lpstr>Презентация PowerPoint</vt:lpstr>
      <vt:lpstr>Выводы  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Чан Куанг Тханг</cp:lastModifiedBy>
  <cp:revision>15</cp:revision>
  <dcterms:modified xsi:type="dcterms:W3CDTF">2025-12-26T23:37:30Z</dcterms:modified>
</cp:coreProperties>
</file>