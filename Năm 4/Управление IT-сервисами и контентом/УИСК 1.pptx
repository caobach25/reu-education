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6.jp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sldIdLst>
    <p:sldId id="283" r:id="rId2"/>
    <p:sldId id="592" r:id="rId3"/>
    <p:sldId id="541" r:id="rId4"/>
    <p:sldId id="542" r:id="rId5"/>
    <p:sldId id="612" r:id="rId6"/>
    <p:sldId id="591" r:id="rId7"/>
    <p:sldId id="555" r:id="rId8"/>
    <p:sldId id="556" r:id="rId9"/>
    <p:sldId id="558" r:id="rId10"/>
    <p:sldId id="567" r:id="rId11"/>
    <p:sldId id="561" r:id="rId12"/>
    <p:sldId id="575" r:id="rId13"/>
    <p:sldId id="568" r:id="rId14"/>
    <p:sldId id="590" r:id="rId15"/>
    <p:sldId id="570" r:id="rId16"/>
    <p:sldId id="571" r:id="rId17"/>
    <p:sldId id="572" r:id="rId18"/>
    <p:sldId id="573" r:id="rId19"/>
    <p:sldId id="584" r:id="rId20"/>
    <p:sldId id="574" r:id="rId21"/>
    <p:sldId id="576" r:id="rId22"/>
    <p:sldId id="559" r:id="rId23"/>
    <p:sldId id="583" r:id="rId24"/>
    <p:sldId id="585" r:id="rId25"/>
    <p:sldId id="587" r:id="rId26"/>
    <p:sldId id="603" r:id="rId27"/>
    <p:sldId id="594" r:id="rId28"/>
    <p:sldId id="598" r:id="rId29"/>
    <p:sldId id="599" r:id="rId30"/>
    <p:sldId id="588" r:id="rId31"/>
    <p:sldId id="601" r:id="rId32"/>
    <p:sldId id="589" r:id="rId33"/>
    <p:sldId id="604" r:id="rId34"/>
    <p:sldId id="597" r:id="rId35"/>
    <p:sldId id="605" r:id="rId36"/>
    <p:sldId id="606" r:id="rId37"/>
    <p:sldId id="608" r:id="rId38"/>
    <p:sldId id="607" r:id="rId39"/>
    <p:sldId id="595" r:id="rId40"/>
    <p:sldId id="596" r:id="rId41"/>
    <p:sldId id="610" r:id="rId42"/>
    <p:sldId id="593" r:id="rId43"/>
    <p:sldId id="611" r:id="rId44"/>
    <p:sldId id="281" r:id="rId4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7584"/>
    <a:srgbClr val="D2D5DC"/>
    <a:srgbClr val="ECEDF0"/>
    <a:srgbClr val="0B2D50"/>
    <a:srgbClr val="FFFFFF"/>
    <a:srgbClr val="E7E8ED"/>
    <a:srgbClr val="F2F2F2"/>
    <a:srgbClr val="525253"/>
    <a:srgbClr val="D3D6DB"/>
    <a:srgbClr val="2A86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05" autoAdjust="0"/>
    <p:restoredTop sz="94660"/>
  </p:normalViewPr>
  <p:slideViewPr>
    <p:cSldViewPr snapToGrid="0">
      <p:cViewPr varScale="1">
        <p:scale>
          <a:sx n="99" d="100"/>
          <a:sy n="99" d="100"/>
        </p:scale>
        <p:origin x="456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5" d="100"/>
          <a:sy n="85" d="100"/>
        </p:scale>
        <p:origin x="305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C6AD3E-D4E2-460A-81E1-57A20C9B450A}" type="datetimeFigureOut">
              <a:rPr lang="ru-RU" smtClean="0"/>
              <a:t>04.03.2025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D3061-9593-44D4-A63C-E5B85802C7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1609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5874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https://www.abebooks.com/9780113313235/ITIL-Lifecycle-Suite-2011-Edition-0113313233/plp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3812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Роль ИС-службы в современном бизнесе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0687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ИТ-служба </a:t>
            </a:r>
            <a:r>
              <a:rPr lang="ru-RU" dirty="0"/>
              <a:t>может включать в себя сторонние предприятия или работников (аутсорсинг)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5918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8122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ITIL 5</a:t>
            </a:r>
            <a:r>
              <a:rPr lang="ru-RU" dirty="0"/>
              <a:t>: …Управление доступностью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22017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ITIL 5</a:t>
            </a:r>
            <a:r>
              <a:rPr lang="ru-RU" dirty="0"/>
              <a:t>: …Управление доступностью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158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1352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4921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5561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67748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24001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3297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Цель: предоставление заказчику требуемого качества ИТ-сервиса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82795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7332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ГОСТ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серии 24.*</a:t>
            </a:r>
            <a:endParaRPr lang="en-US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50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+ </a:t>
            </a:r>
            <a:r>
              <a:rPr lang="ru-RU" dirty="0"/>
              <a:t>введение в </a:t>
            </a:r>
            <a:r>
              <a:rPr lang="en-US" dirty="0"/>
              <a:t>ITIL </a:t>
            </a:r>
            <a:endParaRPr lang="ru-RU" b="0" i="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b="0" i="0" dirty="0">
                <a:solidFill>
                  <a:srgbClr val="282D3D"/>
                </a:solidFill>
                <a:effectLst/>
                <a:latin typeface="Open Sans Regular"/>
              </a:rPr>
              <a:t>The service value system (SVS) is a key component of ITIL 4</a:t>
            </a:r>
            <a:r>
              <a:rPr lang="ru-RU" b="0" i="0" dirty="0">
                <a:solidFill>
                  <a:srgbClr val="282D3D"/>
                </a:solidFill>
                <a:effectLst/>
                <a:latin typeface="Open Sans Regular"/>
              </a:rPr>
              <a:t>. </a:t>
            </a:r>
            <a:r>
              <a:rPr lang="en-US" b="0" i="0" dirty="0">
                <a:solidFill>
                  <a:srgbClr val="282D3D"/>
                </a:solidFill>
                <a:effectLst/>
                <a:latin typeface="Open Sans Regular"/>
              </a:rPr>
              <a:t>The SVS includes 34 management practices</a:t>
            </a:r>
            <a:r>
              <a:rPr lang="ru-RU" b="0" i="0" dirty="0">
                <a:solidFill>
                  <a:srgbClr val="282D3D"/>
                </a:solidFill>
                <a:effectLst/>
                <a:latin typeface="Open Sans Regular"/>
              </a:rPr>
              <a:t> (</a:t>
            </a:r>
            <a:r>
              <a:rPr lang="en-US" b="0" i="0" dirty="0">
                <a:solidFill>
                  <a:srgbClr val="282D3D"/>
                </a:solidFill>
                <a:effectLst/>
                <a:latin typeface="Open Sans Regular"/>
              </a:rPr>
              <a:t>vs processes</a:t>
            </a:r>
            <a:r>
              <a:rPr lang="ru-RU" b="0" i="0" dirty="0">
                <a:solidFill>
                  <a:srgbClr val="282D3D"/>
                </a:solidFill>
                <a:effectLst/>
                <a:latin typeface="Open Sans Regular"/>
              </a:rPr>
              <a:t>).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2365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A means of delivering value to customers by facilitating outcomes customers want to achieve, but without the ownership of specific costs and risks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94879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8100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02934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69283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66426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89100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73557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88472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373D3F"/>
                </a:solidFill>
                <a:effectLst/>
                <a:latin typeface="Lora" pitchFamily="2" charset="-52"/>
              </a:rPr>
              <a:t>SKMS: набор инструментов и баз данных, которые используются для систематизации знаний и информации об услуге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4264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58487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75665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142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5776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2080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373D3F"/>
                </a:solidFill>
                <a:effectLst/>
                <a:latin typeface="Lora" pitchFamily="2" charset="-52"/>
              </a:rPr>
              <a:t>Ау</a:t>
            </a:r>
            <a:r>
              <a:rPr lang="en-US" b="0" i="0" dirty="0">
                <a:solidFill>
                  <a:srgbClr val="373D3F"/>
                </a:solidFill>
                <a:effectLst/>
                <a:latin typeface="Lora" pitchFamily="2" charset="-52"/>
              </a:rPr>
              <a:t> – </a:t>
            </a:r>
            <a:r>
              <a:rPr lang="ru-RU" b="0" i="0" dirty="0">
                <a:solidFill>
                  <a:srgbClr val="373D3F"/>
                </a:solidFill>
                <a:effectLst/>
                <a:latin typeface="Lora" pitchFamily="2" charset="-52"/>
              </a:rPr>
              <a:t>активы, </a:t>
            </a:r>
            <a:r>
              <a:rPr lang="en-US" b="0" i="0" dirty="0" err="1">
                <a:solidFill>
                  <a:srgbClr val="373D3F"/>
                </a:solidFill>
                <a:effectLst/>
                <a:latin typeface="Lora" pitchFamily="2" charset="-52"/>
              </a:rPr>
              <a:t>Ux</a:t>
            </a:r>
            <a:r>
              <a:rPr lang="ru-RU" b="0" i="0" dirty="0">
                <a:solidFill>
                  <a:srgbClr val="373D3F"/>
                </a:solidFill>
                <a:effectLst/>
                <a:latin typeface="Lora" pitchFamily="2" charset="-52"/>
              </a:rPr>
              <a:t> – профили услуг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44417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66841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0551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96181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3061-9593-44D4-A63C-E5B85802C738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6069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3AAE5A-F614-47DE-A925-E1F7D2473D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671A44C-D8F6-4830-9878-DF7D49655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6B97BC-6465-443A-9026-4FA63751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70EC-860E-4C78-AD71-541469ED0376}" type="datetime1">
              <a:rPr lang="ru-RU" smtClean="0"/>
              <a:t>04.03.2025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DCBCEE-4208-4DA9-8B82-196D8D445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95572C-FB11-40AD-87F0-1A1D00147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9398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1DEE6-B82F-4E8F-B683-27BD09713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5A8030-AC05-4EE2-AD37-CF062FC83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6FCF93-FCBC-4D60-9E45-06432BA11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6D5C-05C2-42FE-862B-01C977FD93D1}" type="datetime1">
              <a:rPr lang="ru-RU" smtClean="0"/>
              <a:t>04.03.2025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EA734A-F88D-49F7-BDCA-211FA5F8E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1B4103-3469-42CA-94D1-F80CF80A7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7437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9ECA7-D242-4F4B-ABD4-F901728E2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7ED342-9C06-4F47-AC1E-6C3E06161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228353-B0F3-4F39-B010-E50FDF485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6F90E-6AF7-42E0-87D2-F1FD3E84A1C0}" type="datetime1">
              <a:rPr lang="ru-RU" smtClean="0"/>
              <a:t>04.03.2025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841A63-BE40-478A-8242-551209949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B8D7AB-7758-4364-B334-84AF62E0A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72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1AF773-EE69-4A0D-97F3-669813B1B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5F3297-55C6-44DF-B10B-9FAD12125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1EC04DC-CAF2-42D0-9CA1-1E5D0963F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404C13-2580-4E34-8EEC-705090948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4E1B-7144-4401-B52E-C6BACF4BA89E}" type="datetime1">
              <a:rPr lang="ru-RU" smtClean="0"/>
              <a:t>04.03.2025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C81E36-FA43-4FC3-9414-19E79BF99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3B18DF-7240-4AE3-B44F-3100BF003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1882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DC380E-1C0E-4261-9F50-4DB085798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72E56F-D9BA-4443-AE1B-64A47027C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BAE6378-7C5F-49A0-9335-AD01E52EC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26DB0C0-41EF-4B7F-9E18-EACD736AD6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25EC559-9169-4628-9831-253D216BF4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724FB6F-AB6C-40B1-976B-E05C8165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75B63-DCEA-496E-B35D-EFD293917B6B}" type="datetime1">
              <a:rPr lang="ru-RU" smtClean="0"/>
              <a:t>04.03.2025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C546BB4-CC8E-40BC-98A5-84325FDFB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D3F3243-51B4-495F-A6E4-2471B5160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4864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1C8E23-520B-4266-AE1D-67F5C8035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6861DFA-05E8-40F2-87DB-DE52D670E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A11B-C75E-4D47-AC56-12CD7873E1A0}" type="datetime1">
              <a:rPr lang="ru-RU" smtClean="0"/>
              <a:t>04.03.2025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DF3A2F-3ADD-4CD8-99D7-DEA267EC8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A32A016-787A-452C-AD51-804ED7444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757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B49DE22-7D5A-492D-807B-1EF1506EC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F4037-9687-4A27-90D2-2E770288A671}" type="datetime1">
              <a:rPr lang="ru-RU" smtClean="0"/>
              <a:t>04.03.2025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C5C5DE3-3CD1-4D00-B5D9-ED89E3474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63B6BFC-1181-4C12-A6ED-4943ED8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40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6ED9C-7A1F-4C74-B103-B0A5F573A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1FEA02-F3B8-4604-B3CD-F37D00638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0EBB1FC-69DD-4CC8-878B-891D4FA43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95EA34-2DA7-4A49-BE55-18622FB6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46E46-8C15-49B3-B8F5-AA54675B90B4}" type="datetime1">
              <a:rPr lang="ru-RU" smtClean="0"/>
              <a:t>04.03.2025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4CB8E1C-FEB6-47AC-9459-30510A46C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7E426A-EB1A-4D59-82FE-374740DBF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9398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AFEAA4-6C64-4161-AA73-00EA1C324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A302402-212F-4EDD-8015-9E1F0D9322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CE9C9A8-052E-4069-9CF2-353192E72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45B972-56A0-4D71-9188-451F4E480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97FA6-29B7-4EB9-959E-3C9277D70070}" type="datetime1">
              <a:rPr lang="ru-RU" smtClean="0"/>
              <a:t>04.03.2025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2DF97E-2FE8-4511-8E93-B5E7A4B80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237234-01F2-4C2F-AEC9-5711340AC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3935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0C598B-E1C9-453A-85FA-2FC629BEE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D8BB4E1-B5B6-4FA2-B655-F0DCFC409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D1576D-4B86-47F6-B944-CDAE43B3F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71D3-5B33-46CE-8E6E-9584A60344DD}" type="datetime1">
              <a:rPr lang="ru-RU" smtClean="0"/>
              <a:t>04.03.2025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04B19F-BB5E-4517-ABDF-DF12AD5C0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E7DD52-4E01-4F36-8126-6B0E60AB2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1557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D2601C4-7CE6-4F44-81AA-A4A3E222D2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C2ABB75-E830-4124-8194-5F16365F9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B15BE6-1F4B-455D-837B-3AC931907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9182D-0122-4295-B86E-9E770C731C90}" type="datetime1">
              <a:rPr lang="ru-RU" smtClean="0"/>
              <a:t>04.03.2025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D10EB3-2304-46EA-B4B7-75D434FFF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206F26-F674-45D9-93AE-0D23577E4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292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EE1B21-4C5E-435F-9246-B3CCF52AB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0E7C8B-E0C1-4A40-83B2-3A47A8C11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D5574D-D804-4A5A-B16E-669895306A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E2350-7076-4AD6-A9E3-7F489C92E38D}" type="datetime1">
              <a:rPr lang="ru-RU" smtClean="0"/>
              <a:t>04.03.2025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603355-B2D1-47A3-8096-FB5B4FBC71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0759F3-7DC1-4F8D-8640-0E50710D9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471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D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9BA4B8E2-9C29-421E-9280-15EA4FDBE646}"/>
              </a:ext>
            </a:extLst>
          </p:cNvPr>
          <p:cNvSpPr txBox="1">
            <a:spLocks/>
          </p:cNvSpPr>
          <p:nvPr/>
        </p:nvSpPr>
        <p:spPr>
          <a:xfrm>
            <a:off x="1343462" y="2739068"/>
            <a:ext cx="9505076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b="1" dirty="0">
                <a:solidFill>
                  <a:schemeClr val="bg1"/>
                </a:solidFill>
                <a:latin typeface="Arial Black" panose="020B0A040201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Управление информационными сервисами и контентом</a:t>
            </a:r>
          </a:p>
        </p:txBody>
      </p:sp>
      <p:pic>
        <p:nvPicPr>
          <p:cNvPr id="5" name="Рисунок 4" descr="Изображение выглядит как текст, логотип, эмблем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C1FD6353-61E0-BE29-95B2-DFFD8F8E364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3365" y="92765"/>
            <a:ext cx="1843835" cy="1037410"/>
          </a:xfrm>
          <a:prstGeom prst="rect">
            <a:avLst/>
          </a:prstGeom>
        </p:spPr>
      </p:pic>
      <p:sp>
        <p:nvSpPr>
          <p:cNvPr id="6" name="author">
            <a:extLst>
              <a:ext uri="{FF2B5EF4-FFF2-40B4-BE49-F238E27FC236}">
                <a16:creationId xmlns:a16="http://schemas.microsoft.com/office/drawing/2014/main" id="{10AA219B-B775-4C7F-808E-0F513973DB18}"/>
              </a:ext>
            </a:extLst>
          </p:cNvPr>
          <p:cNvSpPr txBox="1"/>
          <p:nvPr/>
        </p:nvSpPr>
        <p:spPr>
          <a:xfrm>
            <a:off x="1343462" y="5054095"/>
            <a:ext cx="627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Тема 1: Основы управления ИТ-структурой предприятия</a:t>
            </a:r>
          </a:p>
        </p:txBody>
      </p:sp>
    </p:spTree>
    <p:extLst>
      <p:ext uri="{BB962C8B-B14F-4D97-AF65-F5344CB8AC3E}">
        <p14:creationId xmlns:p14="http://schemas.microsoft.com/office/powerpoint/2010/main" val="1439292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page number">
            <a:extLst>
              <a:ext uri="{FF2B5EF4-FFF2-40B4-BE49-F238E27FC236}">
                <a16:creationId xmlns:a16="http://schemas.microsoft.com/office/drawing/2014/main" id="{912DEE05-3897-4622-BECE-32CDEA3BA586}"/>
              </a:ext>
            </a:extLst>
          </p:cNvPr>
          <p:cNvGrpSpPr/>
          <p:nvPr/>
        </p:nvGrpSpPr>
        <p:grpSpPr>
          <a:xfrm>
            <a:off x="11354291" y="6242955"/>
            <a:ext cx="525720" cy="365125"/>
            <a:chOff x="11354291" y="6242955"/>
            <a:chExt cx="525720" cy="365125"/>
          </a:xfrm>
        </p:grpSpPr>
        <p:sp>
          <p:nvSpPr>
            <p:cNvPr id="54" name="page number">
              <a:extLst>
                <a:ext uri="{FF2B5EF4-FFF2-40B4-BE49-F238E27FC236}">
                  <a16:creationId xmlns:a16="http://schemas.microsoft.com/office/drawing/2014/main" id="{7E11964B-BF3C-4168-801A-9EA4210EDDC9}"/>
                </a:ext>
              </a:extLst>
            </p:cNvPr>
            <p:cNvSpPr txBox="1">
              <a:spLocks/>
            </p:cNvSpPr>
            <p:nvPr/>
          </p:nvSpPr>
          <p:spPr>
            <a:xfrm>
              <a:off x="11354291" y="6242955"/>
              <a:ext cx="46623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2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5" name="rectangles">
              <a:extLst>
                <a:ext uri="{FF2B5EF4-FFF2-40B4-BE49-F238E27FC236}">
                  <a16:creationId xmlns:a16="http://schemas.microsoft.com/office/drawing/2014/main" id="{AADED0D1-5832-45D6-A9E2-8F52D2554263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56" name="rectangle">
                <a:extLst>
                  <a:ext uri="{FF2B5EF4-FFF2-40B4-BE49-F238E27FC236}">
                    <a16:creationId xmlns:a16="http://schemas.microsoft.com/office/drawing/2014/main" id="{36B4B861-21D0-41BB-BB10-65954A072121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7" name="rectangle">
                <a:extLst>
                  <a:ext uri="{FF2B5EF4-FFF2-40B4-BE49-F238E27FC236}">
                    <a16:creationId xmlns:a16="http://schemas.microsoft.com/office/drawing/2014/main" id="{B96B9734-06F7-42EF-A63F-07DDFE80EC20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8" name="rectangle">
                <a:extLst>
                  <a:ext uri="{FF2B5EF4-FFF2-40B4-BE49-F238E27FC236}">
                    <a16:creationId xmlns:a16="http://schemas.microsoft.com/office/drawing/2014/main" id="{8D843A73-4A00-4EB5-BF10-46CBA15B0CB3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9" name="rectangle">
                <a:extLst>
                  <a:ext uri="{FF2B5EF4-FFF2-40B4-BE49-F238E27FC236}">
                    <a16:creationId xmlns:a16="http://schemas.microsoft.com/office/drawing/2014/main" id="{B530E3A9-4818-4541-BE35-5AD789D1390D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cxnSp>
        <p:nvCxnSpPr>
          <p:cNvPr id="5" name="line">
            <a:extLst>
              <a:ext uri="{FF2B5EF4-FFF2-40B4-BE49-F238E27FC236}">
                <a16:creationId xmlns:a16="http://schemas.microsoft.com/office/drawing/2014/main" id="{295BB422-C9FD-4684-A7D0-820E305493CB}"/>
              </a:ext>
            </a:extLst>
          </p:cNvPr>
          <p:cNvCxnSpPr/>
          <p:nvPr/>
        </p:nvCxnSpPr>
        <p:spPr>
          <a:xfrm>
            <a:off x="371475" y="200025"/>
            <a:ext cx="0" cy="6457950"/>
          </a:xfrm>
          <a:prstGeom prst="line">
            <a:avLst/>
          </a:prstGeom>
          <a:ln w="9525" cap="rnd">
            <a:solidFill>
              <a:srgbClr val="D2D5DC"/>
            </a:solidFill>
            <a:prstDash val="dash"/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ellipses">
            <a:extLst>
              <a:ext uri="{FF2B5EF4-FFF2-40B4-BE49-F238E27FC236}">
                <a16:creationId xmlns:a16="http://schemas.microsoft.com/office/drawing/2014/main" id="{9347D5E7-7D89-493D-8656-7659D3DE9B68}"/>
              </a:ext>
            </a:extLst>
          </p:cNvPr>
          <p:cNvGrpSpPr/>
          <p:nvPr/>
        </p:nvGrpSpPr>
        <p:grpSpPr>
          <a:xfrm>
            <a:off x="170760" y="1699152"/>
            <a:ext cx="3970151" cy="3970151"/>
            <a:chOff x="170760" y="1699152"/>
            <a:chExt cx="3970151" cy="3970151"/>
          </a:xfrm>
        </p:grpSpPr>
        <p:sp>
          <p:nvSpPr>
            <p:cNvPr id="6" name="arc">
              <a:extLst>
                <a:ext uri="{FF2B5EF4-FFF2-40B4-BE49-F238E27FC236}">
                  <a16:creationId xmlns:a16="http://schemas.microsoft.com/office/drawing/2014/main" id="{73663D9A-E2ED-483B-92D4-F52D81827096}"/>
                </a:ext>
              </a:extLst>
            </p:cNvPr>
            <p:cNvSpPr/>
            <p:nvPr/>
          </p:nvSpPr>
          <p:spPr>
            <a:xfrm>
              <a:off x="170760" y="1699152"/>
              <a:ext cx="3970151" cy="3970151"/>
            </a:xfrm>
            <a:prstGeom prst="arc">
              <a:avLst>
                <a:gd name="adj1" fmla="val 16200000"/>
                <a:gd name="adj2" fmla="val 5433205"/>
              </a:avLst>
            </a:prstGeom>
            <a:ln w="53975">
              <a:gradFill>
                <a:gsLst>
                  <a:gs pos="82000">
                    <a:srgbClr val="D9D9D9"/>
                  </a:gs>
                  <a:gs pos="0">
                    <a:schemeClr val="bg1">
                      <a:lumMod val="85000"/>
                      <a:alpha val="0"/>
                    </a:schemeClr>
                  </a:gs>
                  <a:gs pos="20000">
                    <a:schemeClr val="bg1">
                      <a:lumMod val="85000"/>
                    </a:schemeClr>
                  </a:gs>
                  <a:gs pos="100000">
                    <a:schemeClr val="bg1">
                      <a:lumMod val="85000"/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8" name="ellipse 3">
              <a:extLst>
                <a:ext uri="{FF2B5EF4-FFF2-40B4-BE49-F238E27FC236}">
                  <a16:creationId xmlns:a16="http://schemas.microsoft.com/office/drawing/2014/main" id="{3853C6DF-667A-4E6F-978A-15BADA21E1BB}"/>
                </a:ext>
              </a:extLst>
            </p:cNvPr>
            <p:cNvSpPr/>
            <p:nvPr/>
          </p:nvSpPr>
          <p:spPr>
            <a:xfrm>
              <a:off x="551142" y="2888363"/>
              <a:ext cx="2504715" cy="2504715"/>
            </a:xfrm>
            <a:prstGeom prst="ellipse">
              <a:avLst/>
            </a:prstGeom>
            <a:solidFill>
              <a:srgbClr val="C7E0F8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ellipse 2">
              <a:extLst>
                <a:ext uri="{FF2B5EF4-FFF2-40B4-BE49-F238E27FC236}">
                  <a16:creationId xmlns:a16="http://schemas.microsoft.com/office/drawing/2014/main" id="{390F41F4-E352-44D7-888E-E0E01D72234D}"/>
                </a:ext>
              </a:extLst>
            </p:cNvPr>
            <p:cNvSpPr/>
            <p:nvPr/>
          </p:nvSpPr>
          <p:spPr>
            <a:xfrm>
              <a:off x="852995" y="1844662"/>
              <a:ext cx="2504715" cy="2504715"/>
            </a:xfrm>
            <a:prstGeom prst="ellipse">
              <a:avLst/>
            </a:prstGeom>
            <a:solidFill>
              <a:srgbClr val="2784E1">
                <a:alpha val="1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ellipse 1">
              <a:extLst>
                <a:ext uri="{FF2B5EF4-FFF2-40B4-BE49-F238E27FC236}">
                  <a16:creationId xmlns:a16="http://schemas.microsoft.com/office/drawing/2014/main" id="{3E6BF43C-B90A-4575-B653-3ED8584DE6B3}"/>
                </a:ext>
              </a:extLst>
            </p:cNvPr>
            <p:cNvSpPr/>
            <p:nvPr/>
          </p:nvSpPr>
          <p:spPr>
            <a:xfrm>
              <a:off x="1463873" y="2230354"/>
              <a:ext cx="2504715" cy="2504715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 l="-11085" r="-1108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2002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Содержание</a:t>
            </a:r>
          </a:p>
        </p:txBody>
      </p:sp>
      <p:grpSp>
        <p:nvGrpSpPr>
          <p:cNvPr id="37" name="item">
            <a:extLst>
              <a:ext uri="{FF2B5EF4-FFF2-40B4-BE49-F238E27FC236}">
                <a16:creationId xmlns:a16="http://schemas.microsoft.com/office/drawing/2014/main" id="{221C4C0D-14F2-4C39-A014-24A729FD3A1D}"/>
              </a:ext>
            </a:extLst>
          </p:cNvPr>
          <p:cNvGrpSpPr/>
          <p:nvPr/>
        </p:nvGrpSpPr>
        <p:grpSpPr>
          <a:xfrm>
            <a:off x="2510260" y="1356632"/>
            <a:ext cx="9304737" cy="374571"/>
            <a:chOff x="2447925" y="1328372"/>
            <a:chExt cx="9304737" cy="374571"/>
          </a:xfrm>
        </p:grpSpPr>
        <p:cxnSp>
          <p:nvCxnSpPr>
            <p:cNvPr id="12" name="bullet">
              <a:extLst>
                <a:ext uri="{FF2B5EF4-FFF2-40B4-BE49-F238E27FC236}">
                  <a16:creationId xmlns:a16="http://schemas.microsoft.com/office/drawing/2014/main" id="{6582700A-341D-4AB7-A4FD-16B1CDF2DEB6}"/>
                </a:ext>
              </a:extLst>
            </p:cNvPr>
            <p:cNvCxnSpPr>
              <a:cxnSpLocks/>
            </p:cNvCxnSpPr>
            <p:nvPr/>
          </p:nvCxnSpPr>
          <p:spPr>
            <a:xfrm>
              <a:off x="2447925" y="1524000"/>
              <a:ext cx="571500" cy="0"/>
            </a:xfrm>
            <a:prstGeom prst="line">
              <a:avLst/>
            </a:prstGeom>
            <a:ln w="9525">
              <a:solidFill>
                <a:srgbClr val="A61500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">
              <a:extLst>
                <a:ext uri="{FF2B5EF4-FFF2-40B4-BE49-F238E27FC236}">
                  <a16:creationId xmlns:a16="http://schemas.microsoft.com/office/drawing/2014/main" id="{B5599E9C-EAB8-4072-B6F9-885AEA32892C}"/>
                </a:ext>
              </a:extLst>
            </p:cNvPr>
            <p:cNvSpPr txBox="1"/>
            <p:nvPr/>
          </p:nvSpPr>
          <p:spPr>
            <a:xfrm>
              <a:off x="3238912" y="1360598"/>
              <a:ext cx="31361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600" b="1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Структура курса, литература</a:t>
              </a:r>
            </a:p>
          </p:txBody>
        </p:sp>
        <p:sp>
          <p:nvSpPr>
            <p:cNvPr id="29" name="page number">
              <a:extLst>
                <a:ext uri="{FF2B5EF4-FFF2-40B4-BE49-F238E27FC236}">
                  <a16:creationId xmlns:a16="http://schemas.microsoft.com/office/drawing/2014/main" id="{5EE126A1-104A-4943-9B53-776C81A0A372}"/>
                </a:ext>
              </a:extLst>
            </p:cNvPr>
            <p:cNvSpPr txBox="1">
              <a:spLocks/>
            </p:cNvSpPr>
            <p:nvPr/>
          </p:nvSpPr>
          <p:spPr>
            <a:xfrm>
              <a:off x="11248662" y="1328372"/>
              <a:ext cx="504000" cy="374571"/>
            </a:xfrm>
            <a:prstGeom prst="roundRect">
              <a:avLst>
                <a:gd name="adj" fmla="val 16667"/>
              </a:avLst>
            </a:prstGeom>
            <a:solidFill>
              <a:srgbClr val="AB2003"/>
            </a:solidFill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38" name="item">
            <a:extLst>
              <a:ext uri="{FF2B5EF4-FFF2-40B4-BE49-F238E27FC236}">
                <a16:creationId xmlns:a16="http://schemas.microsoft.com/office/drawing/2014/main" id="{D4277843-AE51-4C20-BB0D-0A30D9DBE729}"/>
              </a:ext>
            </a:extLst>
          </p:cNvPr>
          <p:cNvGrpSpPr/>
          <p:nvPr/>
        </p:nvGrpSpPr>
        <p:grpSpPr>
          <a:xfrm>
            <a:off x="4141179" y="2557036"/>
            <a:ext cx="7673818" cy="374571"/>
            <a:chOff x="3357710" y="1927264"/>
            <a:chExt cx="8394952" cy="374571"/>
          </a:xfrm>
        </p:grpSpPr>
        <p:cxnSp>
          <p:nvCxnSpPr>
            <p:cNvPr id="14" name="bullet">
              <a:extLst>
                <a:ext uri="{FF2B5EF4-FFF2-40B4-BE49-F238E27FC236}">
                  <a16:creationId xmlns:a16="http://schemas.microsoft.com/office/drawing/2014/main" id="{7E4304D3-B9E7-4D1C-AC18-C7FF1EF29168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>
              <a:off x="3357710" y="2114550"/>
              <a:ext cx="616315" cy="0"/>
            </a:xfrm>
            <a:prstGeom prst="line">
              <a:avLst/>
            </a:prstGeom>
            <a:ln w="9525">
              <a:solidFill>
                <a:srgbClr val="86B9EE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">
              <a:extLst>
                <a:ext uri="{FF2B5EF4-FFF2-40B4-BE49-F238E27FC236}">
                  <a16:creationId xmlns:a16="http://schemas.microsoft.com/office/drawing/2014/main" id="{BBA0248A-DC19-4AB9-BB51-C07D5BCA6CFF}"/>
                </a:ext>
              </a:extLst>
            </p:cNvPr>
            <p:cNvSpPr txBox="1"/>
            <p:nvPr/>
          </p:nvSpPr>
          <p:spPr>
            <a:xfrm>
              <a:off x="3974025" y="1945273"/>
              <a:ext cx="184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ru-RU" sz="1600" dirty="0">
                <a:solidFill>
                  <a:srgbClr val="0B2D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page number">
              <a:extLst>
                <a:ext uri="{FF2B5EF4-FFF2-40B4-BE49-F238E27FC236}">
                  <a16:creationId xmlns:a16="http://schemas.microsoft.com/office/drawing/2014/main" id="{7F746E45-5393-440E-A4C4-7F3F839265D6}"/>
                </a:ext>
              </a:extLst>
            </p:cNvPr>
            <p:cNvSpPr txBox="1">
              <a:spLocks/>
            </p:cNvSpPr>
            <p:nvPr/>
          </p:nvSpPr>
          <p:spPr>
            <a:xfrm>
              <a:off x="11248662" y="1927264"/>
              <a:ext cx="504000" cy="374571"/>
            </a:xfrm>
            <a:prstGeom prst="roundRect">
              <a:avLst>
                <a:gd name="adj" fmla="val 16667"/>
              </a:avLst>
            </a:prstGeom>
            <a:solidFill>
              <a:srgbClr val="86BAEC"/>
            </a:solidFill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41" name="item">
            <a:extLst>
              <a:ext uri="{FF2B5EF4-FFF2-40B4-BE49-F238E27FC236}">
                <a16:creationId xmlns:a16="http://schemas.microsoft.com/office/drawing/2014/main" id="{BEFC191C-ACA0-4A3D-AD6A-C2607FA7BA7D}"/>
              </a:ext>
            </a:extLst>
          </p:cNvPr>
          <p:cNvGrpSpPr/>
          <p:nvPr/>
        </p:nvGrpSpPr>
        <p:grpSpPr>
          <a:xfrm>
            <a:off x="4203246" y="3779242"/>
            <a:ext cx="7611751" cy="864156"/>
            <a:chOff x="4140911" y="3412513"/>
            <a:chExt cx="7611751" cy="884828"/>
          </a:xfrm>
        </p:grpSpPr>
        <p:cxnSp>
          <p:nvCxnSpPr>
            <p:cNvPr id="17" name="bullet">
              <a:extLst>
                <a:ext uri="{FF2B5EF4-FFF2-40B4-BE49-F238E27FC236}">
                  <a16:creationId xmlns:a16="http://schemas.microsoft.com/office/drawing/2014/main" id="{50A487FB-46D1-441A-B9D4-73F3A764D96B}"/>
                </a:ext>
              </a:extLst>
            </p:cNvPr>
            <p:cNvCxnSpPr>
              <a:cxnSpLocks/>
            </p:cNvCxnSpPr>
            <p:nvPr/>
          </p:nvCxnSpPr>
          <p:spPr>
            <a:xfrm>
              <a:off x="4140911" y="3775370"/>
              <a:ext cx="571500" cy="0"/>
            </a:xfrm>
            <a:prstGeom prst="line">
              <a:avLst/>
            </a:prstGeom>
            <a:ln w="9525">
              <a:solidFill>
                <a:srgbClr val="2986E2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">
              <a:extLst>
                <a:ext uri="{FF2B5EF4-FFF2-40B4-BE49-F238E27FC236}">
                  <a16:creationId xmlns:a16="http://schemas.microsoft.com/office/drawing/2014/main" id="{B9FCA255-5FB9-49B2-8622-2A25CFD5C1DB}"/>
                </a:ext>
              </a:extLst>
            </p:cNvPr>
            <p:cNvSpPr txBox="1"/>
            <p:nvPr/>
          </p:nvSpPr>
          <p:spPr>
            <a:xfrm>
              <a:off x="4818984" y="3466344"/>
              <a:ext cx="520841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b="1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Организация ИТ-службы предприятия</a:t>
              </a:r>
              <a:br>
                <a:rPr lang="en-US" sz="1600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ru-RU" sz="1600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Функциональные и процессные модели службы ИС предприятия</a:t>
              </a:r>
            </a:p>
          </p:txBody>
        </p:sp>
        <p:sp>
          <p:nvSpPr>
            <p:cNvPr id="33" name="page number">
              <a:extLst>
                <a:ext uri="{FF2B5EF4-FFF2-40B4-BE49-F238E27FC236}">
                  <a16:creationId xmlns:a16="http://schemas.microsoft.com/office/drawing/2014/main" id="{0C4D9451-5D1C-4F82-B6C9-DA2DC275A42C}"/>
                </a:ext>
              </a:extLst>
            </p:cNvPr>
            <p:cNvSpPr txBox="1">
              <a:spLocks/>
            </p:cNvSpPr>
            <p:nvPr/>
          </p:nvSpPr>
          <p:spPr>
            <a:xfrm>
              <a:off x="11248662" y="3412513"/>
              <a:ext cx="504000" cy="374571"/>
            </a:xfrm>
            <a:prstGeom prst="roundRect">
              <a:avLst>
                <a:gd name="adj" fmla="val 16667"/>
              </a:avLst>
            </a:prstGeom>
            <a:solidFill>
              <a:srgbClr val="2986E2"/>
            </a:solidFill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4" name="item">
            <a:extLst>
              <a:ext uri="{FF2B5EF4-FFF2-40B4-BE49-F238E27FC236}">
                <a16:creationId xmlns:a16="http://schemas.microsoft.com/office/drawing/2014/main" id="{CE935143-B815-4278-B5D4-1CD322CAADBF}"/>
              </a:ext>
            </a:extLst>
          </p:cNvPr>
          <p:cNvGrpSpPr/>
          <p:nvPr/>
        </p:nvGrpSpPr>
        <p:grpSpPr>
          <a:xfrm>
            <a:off x="2489145" y="5512215"/>
            <a:ext cx="9325852" cy="584775"/>
            <a:chOff x="2447925" y="5512215"/>
            <a:chExt cx="9325852" cy="584775"/>
          </a:xfrm>
        </p:grpSpPr>
        <p:cxnSp>
          <p:nvCxnSpPr>
            <p:cNvPr id="20" name="bullet">
              <a:extLst>
                <a:ext uri="{FF2B5EF4-FFF2-40B4-BE49-F238E27FC236}">
                  <a16:creationId xmlns:a16="http://schemas.microsoft.com/office/drawing/2014/main" id="{5B9AB7B6-DDC8-49A9-9301-10DA13363AD0}"/>
                </a:ext>
              </a:extLst>
            </p:cNvPr>
            <p:cNvCxnSpPr>
              <a:cxnSpLocks/>
            </p:cNvCxnSpPr>
            <p:nvPr/>
          </p:nvCxnSpPr>
          <p:spPr>
            <a:xfrm>
              <a:off x="2447925" y="5829299"/>
              <a:ext cx="571500" cy="0"/>
            </a:xfrm>
            <a:prstGeom prst="line">
              <a:avLst/>
            </a:prstGeom>
            <a:ln w="9525">
              <a:solidFill>
                <a:srgbClr val="C59E59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">
              <a:extLst>
                <a:ext uri="{FF2B5EF4-FFF2-40B4-BE49-F238E27FC236}">
                  <a16:creationId xmlns:a16="http://schemas.microsoft.com/office/drawing/2014/main" id="{3F145565-7D7D-4390-A4BF-5295E88FDA42}"/>
                </a:ext>
              </a:extLst>
            </p:cNvPr>
            <p:cNvSpPr txBox="1"/>
            <p:nvPr/>
          </p:nvSpPr>
          <p:spPr>
            <a:xfrm>
              <a:off x="3213000" y="5512215"/>
              <a:ext cx="68721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600" b="1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Библиотека инфраструктуры информационных технологий (ITIL)</a:t>
              </a:r>
              <a:br>
                <a:rPr lang="ru-RU" sz="1600" b="1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ru-RU" sz="1600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Общие сведения о библиотеке ITIL. Построение стратегии.</a:t>
              </a:r>
            </a:p>
          </p:txBody>
        </p:sp>
        <p:sp>
          <p:nvSpPr>
            <p:cNvPr id="36" name="page number">
              <a:extLst>
                <a:ext uri="{FF2B5EF4-FFF2-40B4-BE49-F238E27FC236}">
                  <a16:creationId xmlns:a16="http://schemas.microsoft.com/office/drawing/2014/main" id="{881BBE25-2633-4925-8AE7-9CB98088263F}"/>
                </a:ext>
              </a:extLst>
            </p:cNvPr>
            <p:cNvSpPr txBox="1">
              <a:spLocks/>
            </p:cNvSpPr>
            <p:nvPr/>
          </p:nvSpPr>
          <p:spPr>
            <a:xfrm>
              <a:off x="11269777" y="5621463"/>
              <a:ext cx="504000" cy="374571"/>
            </a:xfrm>
            <a:prstGeom prst="roundRect">
              <a:avLst>
                <a:gd name="adj" fmla="val 16667"/>
              </a:avLst>
            </a:prstGeom>
            <a:solidFill>
              <a:srgbClr val="C59E59"/>
            </a:solidFill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51" name="Рисунок 50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860DBFE6-C0FB-431C-B908-1209EE4A05F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DB64C8CC-1B20-4F01-8997-1FA1F280D3D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sp>
        <p:nvSpPr>
          <p:cNvPr id="50" name="text">
            <a:extLst>
              <a:ext uri="{FF2B5EF4-FFF2-40B4-BE49-F238E27FC236}">
                <a16:creationId xmlns:a16="http://schemas.microsoft.com/office/drawing/2014/main" id="{696B3B12-5E49-42BA-9F9D-5CBFF4177F13}"/>
              </a:ext>
            </a:extLst>
          </p:cNvPr>
          <p:cNvSpPr txBox="1"/>
          <p:nvPr/>
        </p:nvSpPr>
        <p:spPr>
          <a:xfrm>
            <a:off x="4876607" y="2414378"/>
            <a:ext cx="39260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rgbClr val="0B2D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Основные понятия ИТ-менеджмента</a:t>
            </a:r>
            <a:br>
              <a:rPr lang="ru-RU" sz="1600" b="1" dirty="0">
                <a:solidFill>
                  <a:srgbClr val="0B2D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600" dirty="0">
                <a:solidFill>
                  <a:srgbClr val="0B2D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Понятие и характеристики ИТ-сервиса</a:t>
            </a:r>
            <a:br>
              <a:rPr lang="ru-RU" sz="1600" b="1" dirty="0">
                <a:solidFill>
                  <a:srgbClr val="0B2D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1600" b="1" dirty="0">
              <a:solidFill>
                <a:srgbClr val="0B2D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0" name="Рисунок 59"/>
          <p:cNvPicPr>
            <a:picLocks noChangeAspect="1"/>
          </p:cNvPicPr>
          <p:nvPr/>
        </p:nvPicPr>
        <p:blipFill>
          <a:blip r:embed="rId5" cstate="hq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223949" y="1226304"/>
            <a:ext cx="635226" cy="63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977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422855" y="6242955"/>
            <a:ext cx="457156" cy="365125"/>
            <a:chOff x="11422855" y="6242955"/>
            <a:chExt cx="457156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422855" y="6242955"/>
              <a:ext cx="397669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3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7659449" cy="2003754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+mj-lt"/>
              <a:buAutoNum type="arabicPeriod"/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Основы управления ИТ-структурой предприятия. Концептуальные основы процессов ИТ-службы (1)</a:t>
            </a:r>
          </a:p>
          <a:p>
            <a:pPr marL="355600" indent="-34290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+mj-lt"/>
              <a:buAutoNum type="arabicPeriod"/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Библиотека инфраструктуры информационных технологий 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(ITIL)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(4)</a:t>
            </a:r>
          </a:p>
          <a:p>
            <a:pPr marL="355600" indent="-34290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+mj-lt"/>
              <a:buAutoNum type="arabicPeriod"/>
              <a:tabLst>
                <a:tab pos="297815" algn="l"/>
                <a:tab pos="298450" algn="l"/>
              </a:tabLst>
            </a:pPr>
            <a:r>
              <a:rPr lang="ru-RU" spc="6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Модели уровней зрелости бизнес-процессов предприятия. Управление контентом предприятия (1)</a:t>
            </a:r>
          </a:p>
        </p:txBody>
      </p:sp>
      <p:sp>
        <p:nvSpPr>
          <p:cNvPr id="52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2582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Структура курса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3FE726-1E60-4FD5-B4D6-5AADC6F766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454" y="4815974"/>
            <a:ext cx="2032401" cy="203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721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BE27199-BEB5-4DDC-B291-0DB7DE97DA0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430" y="5180557"/>
            <a:ext cx="1142730" cy="114273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4B36C0D-3B89-4C8D-A08B-4B0EAE8FF0C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507" y="5180557"/>
            <a:ext cx="1142730" cy="114273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99B95C5-CB95-462E-8B7F-46BD408B2F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95" y="1746433"/>
            <a:ext cx="3064468" cy="466966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A9BE904-3A4B-4D9D-8972-99DF5EB0B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0803" y="1746433"/>
            <a:ext cx="2839479" cy="4457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422855" y="6242955"/>
            <a:ext cx="457156" cy="365125"/>
            <a:chOff x="11422855" y="6242955"/>
            <a:chExt cx="457156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422855" y="6242955"/>
              <a:ext cx="397669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4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773822" y="1784973"/>
            <a:ext cx="4272437" cy="3111749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ITIL. IT Service Management 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по стандартам 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V.3.1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/ Скрипник Д. А., М.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ИНТУИТ, 2016.</a:t>
            </a:r>
            <a:endParaRPr lang="en-US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Управление контентом. Практикум / </a:t>
            </a:r>
            <a:r>
              <a:rPr lang="ru-RU" spc="60" dirty="0" err="1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Цупин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В. А., </a:t>
            </a:r>
            <a:r>
              <a:rPr lang="ru-RU" spc="60" dirty="0" err="1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Ниматулаев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М. М., М.: ИНФРА-М, 2022.</a:t>
            </a:r>
          </a:p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Управление ИТ-сервисами и контентом : учебное пособие / Артюшина Л. А., Троицкая Е. А., Изд-во </a:t>
            </a:r>
            <a:r>
              <a:rPr lang="ru-RU" spc="60" dirty="0" err="1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ВлГУ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, 2021.</a:t>
            </a:r>
          </a:p>
        </p:txBody>
      </p:sp>
      <p:sp>
        <p:nvSpPr>
          <p:cNvPr id="52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175721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6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Литература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382FD5-0B73-4542-9FBB-49FBFF7AEF47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8468" y="5180557"/>
            <a:ext cx="1142730" cy="114273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649D79F-81CC-4C68-AE36-177EC022EDC3}"/>
              </a:ext>
            </a:extLst>
          </p:cNvPr>
          <p:cNvSpPr txBox="1"/>
          <p:nvPr/>
        </p:nvSpPr>
        <p:spPr>
          <a:xfrm>
            <a:off x="6896766" y="6425517"/>
            <a:ext cx="4557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https://www.intuit.ru/studies/courses/2323/623/info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476663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FE57ED8-4FDE-4AFC-A8D9-A9CD01F5B3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5456" y="683347"/>
            <a:ext cx="4398402" cy="5687590"/>
          </a:xfrm>
          <a:prstGeom prst="rect">
            <a:avLst/>
          </a:prstGeom>
        </p:spPr>
      </p:pic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5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6C0FE78-0ACD-47AC-A8F6-F497C60461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012" y="683346"/>
            <a:ext cx="4382808" cy="5687034"/>
          </a:xfrm>
          <a:prstGeom prst="rect">
            <a:avLst/>
          </a:prstGeom>
        </p:spPr>
      </p:pic>
      <p:sp>
        <p:nvSpPr>
          <p:cNvPr id="17" name="main title">
            <a:extLst>
              <a:ext uri="{FF2B5EF4-FFF2-40B4-BE49-F238E27FC236}">
                <a16:creationId xmlns:a16="http://schemas.microsoft.com/office/drawing/2014/main" id="{FE2DEEAB-AB29-4048-86B7-85501623DB20}"/>
              </a:ext>
            </a:extLst>
          </p:cNvPr>
          <p:cNvSpPr txBox="1"/>
          <p:nvPr/>
        </p:nvSpPr>
        <p:spPr>
          <a:xfrm>
            <a:off x="668604" y="566547"/>
            <a:ext cx="4903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ITIL Lifecycle Suite, 2011 Edition</a:t>
            </a:r>
            <a:endParaRPr lang="ru-RU" sz="2800" b="1" dirty="0">
              <a:solidFill>
                <a:srgbClr val="0B2D50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575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page number">
            <a:extLst>
              <a:ext uri="{FF2B5EF4-FFF2-40B4-BE49-F238E27FC236}">
                <a16:creationId xmlns:a16="http://schemas.microsoft.com/office/drawing/2014/main" id="{912DEE05-3897-4622-BECE-32CDEA3BA586}"/>
              </a:ext>
            </a:extLst>
          </p:cNvPr>
          <p:cNvGrpSpPr/>
          <p:nvPr/>
        </p:nvGrpSpPr>
        <p:grpSpPr>
          <a:xfrm>
            <a:off x="11354291" y="6242955"/>
            <a:ext cx="525720" cy="365125"/>
            <a:chOff x="11354291" y="6242955"/>
            <a:chExt cx="525720" cy="365125"/>
          </a:xfrm>
        </p:grpSpPr>
        <p:sp>
          <p:nvSpPr>
            <p:cNvPr id="54" name="page number">
              <a:extLst>
                <a:ext uri="{FF2B5EF4-FFF2-40B4-BE49-F238E27FC236}">
                  <a16:creationId xmlns:a16="http://schemas.microsoft.com/office/drawing/2014/main" id="{7E11964B-BF3C-4168-801A-9EA4210EDDC9}"/>
                </a:ext>
              </a:extLst>
            </p:cNvPr>
            <p:cNvSpPr txBox="1">
              <a:spLocks/>
            </p:cNvSpPr>
            <p:nvPr/>
          </p:nvSpPr>
          <p:spPr>
            <a:xfrm>
              <a:off x="11354291" y="6242955"/>
              <a:ext cx="46623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6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5" name="rectangles">
              <a:extLst>
                <a:ext uri="{FF2B5EF4-FFF2-40B4-BE49-F238E27FC236}">
                  <a16:creationId xmlns:a16="http://schemas.microsoft.com/office/drawing/2014/main" id="{AADED0D1-5832-45D6-A9E2-8F52D2554263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56" name="rectangle">
                <a:extLst>
                  <a:ext uri="{FF2B5EF4-FFF2-40B4-BE49-F238E27FC236}">
                    <a16:creationId xmlns:a16="http://schemas.microsoft.com/office/drawing/2014/main" id="{36B4B861-21D0-41BB-BB10-65954A072121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7" name="rectangle">
                <a:extLst>
                  <a:ext uri="{FF2B5EF4-FFF2-40B4-BE49-F238E27FC236}">
                    <a16:creationId xmlns:a16="http://schemas.microsoft.com/office/drawing/2014/main" id="{B96B9734-06F7-42EF-A63F-07DDFE80EC20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8" name="rectangle">
                <a:extLst>
                  <a:ext uri="{FF2B5EF4-FFF2-40B4-BE49-F238E27FC236}">
                    <a16:creationId xmlns:a16="http://schemas.microsoft.com/office/drawing/2014/main" id="{8D843A73-4A00-4EB5-BF10-46CBA15B0CB3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9" name="rectangle">
                <a:extLst>
                  <a:ext uri="{FF2B5EF4-FFF2-40B4-BE49-F238E27FC236}">
                    <a16:creationId xmlns:a16="http://schemas.microsoft.com/office/drawing/2014/main" id="{B530E3A9-4818-4541-BE35-5AD789D1390D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cxnSp>
        <p:nvCxnSpPr>
          <p:cNvPr id="5" name="line">
            <a:extLst>
              <a:ext uri="{FF2B5EF4-FFF2-40B4-BE49-F238E27FC236}">
                <a16:creationId xmlns:a16="http://schemas.microsoft.com/office/drawing/2014/main" id="{295BB422-C9FD-4684-A7D0-820E305493CB}"/>
              </a:ext>
            </a:extLst>
          </p:cNvPr>
          <p:cNvCxnSpPr/>
          <p:nvPr/>
        </p:nvCxnSpPr>
        <p:spPr>
          <a:xfrm>
            <a:off x="371475" y="200025"/>
            <a:ext cx="0" cy="6457950"/>
          </a:xfrm>
          <a:prstGeom prst="line">
            <a:avLst/>
          </a:prstGeom>
          <a:ln w="9525" cap="rnd">
            <a:solidFill>
              <a:srgbClr val="D2D5DC"/>
            </a:solidFill>
            <a:prstDash val="dash"/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ellipses">
            <a:extLst>
              <a:ext uri="{FF2B5EF4-FFF2-40B4-BE49-F238E27FC236}">
                <a16:creationId xmlns:a16="http://schemas.microsoft.com/office/drawing/2014/main" id="{9347D5E7-7D89-493D-8656-7659D3DE9B68}"/>
              </a:ext>
            </a:extLst>
          </p:cNvPr>
          <p:cNvGrpSpPr/>
          <p:nvPr/>
        </p:nvGrpSpPr>
        <p:grpSpPr>
          <a:xfrm>
            <a:off x="170760" y="1699152"/>
            <a:ext cx="3970151" cy="3970151"/>
            <a:chOff x="170760" y="1699152"/>
            <a:chExt cx="3970151" cy="3970151"/>
          </a:xfrm>
        </p:grpSpPr>
        <p:sp>
          <p:nvSpPr>
            <p:cNvPr id="6" name="arc">
              <a:extLst>
                <a:ext uri="{FF2B5EF4-FFF2-40B4-BE49-F238E27FC236}">
                  <a16:creationId xmlns:a16="http://schemas.microsoft.com/office/drawing/2014/main" id="{73663D9A-E2ED-483B-92D4-F52D81827096}"/>
                </a:ext>
              </a:extLst>
            </p:cNvPr>
            <p:cNvSpPr/>
            <p:nvPr/>
          </p:nvSpPr>
          <p:spPr>
            <a:xfrm>
              <a:off x="170760" y="1699152"/>
              <a:ext cx="3970151" cy="3970151"/>
            </a:xfrm>
            <a:prstGeom prst="arc">
              <a:avLst>
                <a:gd name="adj1" fmla="val 16200000"/>
                <a:gd name="adj2" fmla="val 5433205"/>
              </a:avLst>
            </a:prstGeom>
            <a:ln w="53975">
              <a:gradFill>
                <a:gsLst>
                  <a:gs pos="82000">
                    <a:srgbClr val="D9D9D9"/>
                  </a:gs>
                  <a:gs pos="0">
                    <a:schemeClr val="bg1">
                      <a:lumMod val="85000"/>
                      <a:alpha val="0"/>
                    </a:schemeClr>
                  </a:gs>
                  <a:gs pos="20000">
                    <a:schemeClr val="bg1">
                      <a:lumMod val="85000"/>
                    </a:schemeClr>
                  </a:gs>
                  <a:gs pos="100000">
                    <a:schemeClr val="bg1">
                      <a:lumMod val="85000"/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8" name="ellipse 3">
              <a:extLst>
                <a:ext uri="{FF2B5EF4-FFF2-40B4-BE49-F238E27FC236}">
                  <a16:creationId xmlns:a16="http://schemas.microsoft.com/office/drawing/2014/main" id="{3853C6DF-667A-4E6F-978A-15BADA21E1BB}"/>
                </a:ext>
              </a:extLst>
            </p:cNvPr>
            <p:cNvSpPr/>
            <p:nvPr/>
          </p:nvSpPr>
          <p:spPr>
            <a:xfrm>
              <a:off x="551142" y="2888363"/>
              <a:ext cx="2504715" cy="2504715"/>
            </a:xfrm>
            <a:prstGeom prst="ellipse">
              <a:avLst/>
            </a:prstGeom>
            <a:solidFill>
              <a:srgbClr val="C7E0F8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ellipse 2">
              <a:extLst>
                <a:ext uri="{FF2B5EF4-FFF2-40B4-BE49-F238E27FC236}">
                  <a16:creationId xmlns:a16="http://schemas.microsoft.com/office/drawing/2014/main" id="{390F41F4-E352-44D7-888E-E0E01D72234D}"/>
                </a:ext>
              </a:extLst>
            </p:cNvPr>
            <p:cNvSpPr/>
            <p:nvPr/>
          </p:nvSpPr>
          <p:spPr>
            <a:xfrm>
              <a:off x="852995" y="1844662"/>
              <a:ext cx="2504715" cy="2504715"/>
            </a:xfrm>
            <a:prstGeom prst="ellipse">
              <a:avLst/>
            </a:prstGeom>
            <a:solidFill>
              <a:srgbClr val="2784E1">
                <a:alpha val="1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ellipse 1">
              <a:extLst>
                <a:ext uri="{FF2B5EF4-FFF2-40B4-BE49-F238E27FC236}">
                  <a16:creationId xmlns:a16="http://schemas.microsoft.com/office/drawing/2014/main" id="{3E6BF43C-B90A-4575-B653-3ED8584DE6B3}"/>
                </a:ext>
              </a:extLst>
            </p:cNvPr>
            <p:cNvSpPr/>
            <p:nvPr/>
          </p:nvSpPr>
          <p:spPr>
            <a:xfrm>
              <a:off x="1463873" y="2230354"/>
              <a:ext cx="2504715" cy="2504715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 l="-11085" r="-1108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2002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Содержание</a:t>
            </a:r>
          </a:p>
        </p:txBody>
      </p:sp>
      <p:grpSp>
        <p:nvGrpSpPr>
          <p:cNvPr id="37" name="item">
            <a:extLst>
              <a:ext uri="{FF2B5EF4-FFF2-40B4-BE49-F238E27FC236}">
                <a16:creationId xmlns:a16="http://schemas.microsoft.com/office/drawing/2014/main" id="{221C4C0D-14F2-4C39-A014-24A729FD3A1D}"/>
              </a:ext>
            </a:extLst>
          </p:cNvPr>
          <p:cNvGrpSpPr/>
          <p:nvPr/>
        </p:nvGrpSpPr>
        <p:grpSpPr>
          <a:xfrm>
            <a:off x="2510260" y="1356632"/>
            <a:ext cx="9304737" cy="374571"/>
            <a:chOff x="2447925" y="1328372"/>
            <a:chExt cx="9304737" cy="374571"/>
          </a:xfrm>
        </p:grpSpPr>
        <p:cxnSp>
          <p:nvCxnSpPr>
            <p:cNvPr id="12" name="bullet">
              <a:extLst>
                <a:ext uri="{FF2B5EF4-FFF2-40B4-BE49-F238E27FC236}">
                  <a16:creationId xmlns:a16="http://schemas.microsoft.com/office/drawing/2014/main" id="{6582700A-341D-4AB7-A4FD-16B1CDF2DEB6}"/>
                </a:ext>
              </a:extLst>
            </p:cNvPr>
            <p:cNvCxnSpPr>
              <a:cxnSpLocks/>
            </p:cNvCxnSpPr>
            <p:nvPr/>
          </p:nvCxnSpPr>
          <p:spPr>
            <a:xfrm>
              <a:off x="2447925" y="1524000"/>
              <a:ext cx="571500" cy="0"/>
            </a:xfrm>
            <a:prstGeom prst="line">
              <a:avLst/>
            </a:prstGeom>
            <a:ln w="9525">
              <a:solidFill>
                <a:srgbClr val="A61500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">
              <a:extLst>
                <a:ext uri="{FF2B5EF4-FFF2-40B4-BE49-F238E27FC236}">
                  <a16:creationId xmlns:a16="http://schemas.microsoft.com/office/drawing/2014/main" id="{B5599E9C-EAB8-4072-B6F9-885AEA32892C}"/>
                </a:ext>
              </a:extLst>
            </p:cNvPr>
            <p:cNvSpPr txBox="1"/>
            <p:nvPr/>
          </p:nvSpPr>
          <p:spPr>
            <a:xfrm>
              <a:off x="3238912" y="1360598"/>
              <a:ext cx="31361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600" b="1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Структура курса, литература</a:t>
              </a:r>
            </a:p>
          </p:txBody>
        </p:sp>
        <p:sp>
          <p:nvSpPr>
            <p:cNvPr id="29" name="page number">
              <a:extLst>
                <a:ext uri="{FF2B5EF4-FFF2-40B4-BE49-F238E27FC236}">
                  <a16:creationId xmlns:a16="http://schemas.microsoft.com/office/drawing/2014/main" id="{5EE126A1-104A-4943-9B53-776C81A0A372}"/>
                </a:ext>
              </a:extLst>
            </p:cNvPr>
            <p:cNvSpPr txBox="1">
              <a:spLocks/>
            </p:cNvSpPr>
            <p:nvPr/>
          </p:nvSpPr>
          <p:spPr>
            <a:xfrm>
              <a:off x="11248662" y="1328372"/>
              <a:ext cx="504000" cy="374571"/>
            </a:xfrm>
            <a:prstGeom prst="roundRect">
              <a:avLst>
                <a:gd name="adj" fmla="val 16667"/>
              </a:avLst>
            </a:prstGeom>
            <a:solidFill>
              <a:srgbClr val="AB2003"/>
            </a:solidFill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38" name="item">
            <a:extLst>
              <a:ext uri="{FF2B5EF4-FFF2-40B4-BE49-F238E27FC236}">
                <a16:creationId xmlns:a16="http://schemas.microsoft.com/office/drawing/2014/main" id="{D4277843-AE51-4C20-BB0D-0A30D9DBE729}"/>
              </a:ext>
            </a:extLst>
          </p:cNvPr>
          <p:cNvGrpSpPr/>
          <p:nvPr/>
        </p:nvGrpSpPr>
        <p:grpSpPr>
          <a:xfrm>
            <a:off x="4141179" y="2557036"/>
            <a:ext cx="7673818" cy="374571"/>
            <a:chOff x="3357710" y="1927264"/>
            <a:chExt cx="8394952" cy="374571"/>
          </a:xfrm>
        </p:grpSpPr>
        <p:cxnSp>
          <p:nvCxnSpPr>
            <p:cNvPr id="14" name="bullet">
              <a:extLst>
                <a:ext uri="{FF2B5EF4-FFF2-40B4-BE49-F238E27FC236}">
                  <a16:creationId xmlns:a16="http://schemas.microsoft.com/office/drawing/2014/main" id="{7E4304D3-B9E7-4D1C-AC18-C7FF1EF29168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>
              <a:off x="3357710" y="2114550"/>
              <a:ext cx="616315" cy="0"/>
            </a:xfrm>
            <a:prstGeom prst="line">
              <a:avLst/>
            </a:prstGeom>
            <a:ln w="9525">
              <a:solidFill>
                <a:srgbClr val="86B9EE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">
              <a:extLst>
                <a:ext uri="{FF2B5EF4-FFF2-40B4-BE49-F238E27FC236}">
                  <a16:creationId xmlns:a16="http://schemas.microsoft.com/office/drawing/2014/main" id="{BBA0248A-DC19-4AB9-BB51-C07D5BCA6CFF}"/>
                </a:ext>
              </a:extLst>
            </p:cNvPr>
            <p:cNvSpPr txBox="1"/>
            <p:nvPr/>
          </p:nvSpPr>
          <p:spPr>
            <a:xfrm>
              <a:off x="3974025" y="1945273"/>
              <a:ext cx="184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ru-RU" sz="1600" dirty="0">
                <a:solidFill>
                  <a:srgbClr val="0B2D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page number">
              <a:extLst>
                <a:ext uri="{FF2B5EF4-FFF2-40B4-BE49-F238E27FC236}">
                  <a16:creationId xmlns:a16="http://schemas.microsoft.com/office/drawing/2014/main" id="{7F746E45-5393-440E-A4C4-7F3F839265D6}"/>
                </a:ext>
              </a:extLst>
            </p:cNvPr>
            <p:cNvSpPr txBox="1">
              <a:spLocks/>
            </p:cNvSpPr>
            <p:nvPr/>
          </p:nvSpPr>
          <p:spPr>
            <a:xfrm>
              <a:off x="11248662" y="1927264"/>
              <a:ext cx="504000" cy="374571"/>
            </a:xfrm>
            <a:prstGeom prst="roundRect">
              <a:avLst>
                <a:gd name="adj" fmla="val 16667"/>
              </a:avLst>
            </a:prstGeom>
            <a:solidFill>
              <a:srgbClr val="86BAEC"/>
            </a:solidFill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41" name="item">
            <a:extLst>
              <a:ext uri="{FF2B5EF4-FFF2-40B4-BE49-F238E27FC236}">
                <a16:creationId xmlns:a16="http://schemas.microsoft.com/office/drawing/2014/main" id="{BEFC191C-ACA0-4A3D-AD6A-C2607FA7BA7D}"/>
              </a:ext>
            </a:extLst>
          </p:cNvPr>
          <p:cNvGrpSpPr/>
          <p:nvPr/>
        </p:nvGrpSpPr>
        <p:grpSpPr>
          <a:xfrm>
            <a:off x="4203246" y="3779242"/>
            <a:ext cx="7611751" cy="864156"/>
            <a:chOff x="4140911" y="3412513"/>
            <a:chExt cx="7611751" cy="884828"/>
          </a:xfrm>
        </p:grpSpPr>
        <p:cxnSp>
          <p:nvCxnSpPr>
            <p:cNvPr id="17" name="bullet">
              <a:extLst>
                <a:ext uri="{FF2B5EF4-FFF2-40B4-BE49-F238E27FC236}">
                  <a16:creationId xmlns:a16="http://schemas.microsoft.com/office/drawing/2014/main" id="{50A487FB-46D1-441A-B9D4-73F3A764D96B}"/>
                </a:ext>
              </a:extLst>
            </p:cNvPr>
            <p:cNvCxnSpPr>
              <a:cxnSpLocks/>
            </p:cNvCxnSpPr>
            <p:nvPr/>
          </p:nvCxnSpPr>
          <p:spPr>
            <a:xfrm>
              <a:off x="4140911" y="3775370"/>
              <a:ext cx="571500" cy="0"/>
            </a:xfrm>
            <a:prstGeom prst="line">
              <a:avLst/>
            </a:prstGeom>
            <a:ln w="9525">
              <a:solidFill>
                <a:srgbClr val="2986E2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">
              <a:extLst>
                <a:ext uri="{FF2B5EF4-FFF2-40B4-BE49-F238E27FC236}">
                  <a16:creationId xmlns:a16="http://schemas.microsoft.com/office/drawing/2014/main" id="{B9FCA255-5FB9-49B2-8622-2A25CFD5C1DB}"/>
                </a:ext>
              </a:extLst>
            </p:cNvPr>
            <p:cNvSpPr txBox="1"/>
            <p:nvPr/>
          </p:nvSpPr>
          <p:spPr>
            <a:xfrm>
              <a:off x="4818984" y="3466344"/>
              <a:ext cx="520841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b="1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Организация ИТ-службы предприятия</a:t>
              </a:r>
              <a:br>
                <a:rPr lang="en-US" sz="1600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ru-RU" sz="1600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Функциональные и процессные модели службы ИС предприятия</a:t>
              </a:r>
            </a:p>
          </p:txBody>
        </p:sp>
        <p:sp>
          <p:nvSpPr>
            <p:cNvPr id="33" name="page number">
              <a:extLst>
                <a:ext uri="{FF2B5EF4-FFF2-40B4-BE49-F238E27FC236}">
                  <a16:creationId xmlns:a16="http://schemas.microsoft.com/office/drawing/2014/main" id="{0C4D9451-5D1C-4F82-B6C9-DA2DC275A42C}"/>
                </a:ext>
              </a:extLst>
            </p:cNvPr>
            <p:cNvSpPr txBox="1">
              <a:spLocks/>
            </p:cNvSpPr>
            <p:nvPr/>
          </p:nvSpPr>
          <p:spPr>
            <a:xfrm>
              <a:off x="11248662" y="3412513"/>
              <a:ext cx="504000" cy="374571"/>
            </a:xfrm>
            <a:prstGeom prst="roundRect">
              <a:avLst>
                <a:gd name="adj" fmla="val 16667"/>
              </a:avLst>
            </a:prstGeom>
            <a:solidFill>
              <a:srgbClr val="2986E2"/>
            </a:solidFill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4" name="item">
            <a:extLst>
              <a:ext uri="{FF2B5EF4-FFF2-40B4-BE49-F238E27FC236}">
                <a16:creationId xmlns:a16="http://schemas.microsoft.com/office/drawing/2014/main" id="{CE935143-B815-4278-B5D4-1CD322CAADBF}"/>
              </a:ext>
            </a:extLst>
          </p:cNvPr>
          <p:cNvGrpSpPr/>
          <p:nvPr/>
        </p:nvGrpSpPr>
        <p:grpSpPr>
          <a:xfrm>
            <a:off x="2489145" y="5512215"/>
            <a:ext cx="9325852" cy="584775"/>
            <a:chOff x="2447925" y="5512215"/>
            <a:chExt cx="9325852" cy="584775"/>
          </a:xfrm>
        </p:grpSpPr>
        <p:cxnSp>
          <p:nvCxnSpPr>
            <p:cNvPr id="20" name="bullet">
              <a:extLst>
                <a:ext uri="{FF2B5EF4-FFF2-40B4-BE49-F238E27FC236}">
                  <a16:creationId xmlns:a16="http://schemas.microsoft.com/office/drawing/2014/main" id="{5B9AB7B6-DDC8-49A9-9301-10DA13363AD0}"/>
                </a:ext>
              </a:extLst>
            </p:cNvPr>
            <p:cNvCxnSpPr>
              <a:cxnSpLocks/>
            </p:cNvCxnSpPr>
            <p:nvPr/>
          </p:nvCxnSpPr>
          <p:spPr>
            <a:xfrm>
              <a:off x="2447925" y="5829299"/>
              <a:ext cx="571500" cy="0"/>
            </a:xfrm>
            <a:prstGeom prst="line">
              <a:avLst/>
            </a:prstGeom>
            <a:ln w="9525">
              <a:solidFill>
                <a:srgbClr val="C59E59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">
              <a:extLst>
                <a:ext uri="{FF2B5EF4-FFF2-40B4-BE49-F238E27FC236}">
                  <a16:creationId xmlns:a16="http://schemas.microsoft.com/office/drawing/2014/main" id="{3F145565-7D7D-4390-A4BF-5295E88FDA42}"/>
                </a:ext>
              </a:extLst>
            </p:cNvPr>
            <p:cNvSpPr txBox="1"/>
            <p:nvPr/>
          </p:nvSpPr>
          <p:spPr>
            <a:xfrm>
              <a:off x="3213000" y="5512215"/>
              <a:ext cx="68721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600" b="1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Библиотека инфраструктуры информационных технологий (ITIL)</a:t>
              </a:r>
              <a:br>
                <a:rPr lang="ru-RU" sz="1600" b="1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ru-RU" sz="1600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Общие сведения о библиотеке ITIL. Построение стратегии.</a:t>
              </a:r>
            </a:p>
          </p:txBody>
        </p:sp>
        <p:sp>
          <p:nvSpPr>
            <p:cNvPr id="36" name="page number">
              <a:extLst>
                <a:ext uri="{FF2B5EF4-FFF2-40B4-BE49-F238E27FC236}">
                  <a16:creationId xmlns:a16="http://schemas.microsoft.com/office/drawing/2014/main" id="{881BBE25-2633-4925-8AE7-9CB98088263F}"/>
                </a:ext>
              </a:extLst>
            </p:cNvPr>
            <p:cNvSpPr txBox="1">
              <a:spLocks/>
            </p:cNvSpPr>
            <p:nvPr/>
          </p:nvSpPr>
          <p:spPr>
            <a:xfrm>
              <a:off x="11269777" y="5621463"/>
              <a:ext cx="504000" cy="374571"/>
            </a:xfrm>
            <a:prstGeom prst="roundRect">
              <a:avLst>
                <a:gd name="adj" fmla="val 16667"/>
              </a:avLst>
            </a:prstGeom>
            <a:solidFill>
              <a:srgbClr val="C59E59"/>
            </a:solidFill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51" name="Рисунок 50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860DBFE6-C0FB-431C-B908-1209EE4A05F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DB64C8CC-1B20-4F01-8997-1FA1F280D3D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sp>
        <p:nvSpPr>
          <p:cNvPr id="50" name="text">
            <a:extLst>
              <a:ext uri="{FF2B5EF4-FFF2-40B4-BE49-F238E27FC236}">
                <a16:creationId xmlns:a16="http://schemas.microsoft.com/office/drawing/2014/main" id="{696B3B12-5E49-42BA-9F9D-5CBFF4177F13}"/>
              </a:ext>
            </a:extLst>
          </p:cNvPr>
          <p:cNvSpPr txBox="1"/>
          <p:nvPr/>
        </p:nvSpPr>
        <p:spPr>
          <a:xfrm>
            <a:off x="4876607" y="2414378"/>
            <a:ext cx="39260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rgbClr val="0B2D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Основные понятия ИТ-менеджмента</a:t>
            </a:r>
            <a:br>
              <a:rPr lang="ru-RU" sz="1600" b="1" dirty="0">
                <a:solidFill>
                  <a:srgbClr val="0B2D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600" dirty="0">
                <a:solidFill>
                  <a:srgbClr val="0B2D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Понятие и характеристики ИТ-сервиса</a:t>
            </a:r>
            <a:br>
              <a:rPr lang="ru-RU" sz="1600" b="1" dirty="0">
                <a:solidFill>
                  <a:srgbClr val="0B2D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1600" b="1" dirty="0">
              <a:solidFill>
                <a:srgbClr val="0B2D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0" name="Рисунок 59"/>
          <p:cNvPicPr>
            <a:picLocks noChangeAspect="1"/>
          </p:cNvPicPr>
          <p:nvPr/>
        </p:nvPicPr>
        <p:blipFill>
          <a:blip r:embed="rId5" cstate="hq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538378" y="2257432"/>
            <a:ext cx="635226" cy="63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247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422855" y="6242955"/>
            <a:ext cx="457156" cy="365125"/>
            <a:chOff x="11422855" y="6242955"/>
            <a:chExt cx="457156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422855" y="6242955"/>
              <a:ext cx="397669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7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8293237" cy="4127412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Информационные технологии (ИТ)</a:t>
            </a: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технологии, используемые для хранения, преобразования, защиты, передачи и извлечения информации в деятельности человека</a:t>
            </a:r>
          </a:p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ИТ-сервис</a:t>
            </a: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ИТ-услуга, которую ИТ-подразделение (ИТ-служба) предоставляет бизнес-подразделениям предприятия для поддержки их бизнес-процессов</a:t>
            </a:r>
            <a:endParaRPr lang="en-US" b="1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внутренние процессы в организации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взаимодействие с внешними пользователями (клиентами)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электронная почта, резервирование данных, бизнес-приложения, …</a:t>
            </a:r>
          </a:p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97815" algn="l"/>
                <a:tab pos="298450" algn="l"/>
              </a:tabLst>
            </a:pPr>
            <a:r>
              <a:rPr lang="ru-RU" b="1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Контент</a:t>
            </a: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информационное наполнение, связанное с ИТ-сервисом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документы, веб-страницы, файлы мультимедиа, … </a:t>
            </a:r>
            <a:endParaRPr lang="ru-RU" b="1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37353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Основные определения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1A35755-B44A-40BC-9236-80E828417C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4182740"/>
            <a:ext cx="268247" cy="26215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F747687-A985-4E1F-89D5-BD801505D8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4567896"/>
            <a:ext cx="268247" cy="26215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6C26865-1647-4C90-B764-07D0F3DD9B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434" y="4953052"/>
            <a:ext cx="268247" cy="262151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EBB83A5-9AB0-42B1-BC65-4357090BFE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6000054"/>
            <a:ext cx="268247" cy="2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714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422855" y="6242955"/>
            <a:ext cx="457156" cy="365125"/>
            <a:chOff x="11422855" y="6242955"/>
            <a:chExt cx="457156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422855" y="6242955"/>
              <a:ext cx="397669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8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8293237" cy="428899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Система управления контентом 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(CMS ‒ Content Management System): программный комплекс, предназначенный для создания, редактирования, публикации и управления контентом</a:t>
            </a:r>
          </a:p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Управление ИТ-сервисами и контентом 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(== </a:t>
            </a:r>
            <a:r>
              <a:rPr lang="ru-RU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ИТ-менеджмент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): деятельность, которая охватывает управление всеми информационными, компьютерными и коммуникационными ресурсами организации</a:t>
            </a:r>
          </a:p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Служба ИТ:</a:t>
            </a:r>
            <a:endParaRPr lang="ru-RU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обеспечивает разработку, ввод в действие и эксплуатацию ИС 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посредством координированных действий, которые обеспечивают непрерывность функционирования существующей системы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в соответствии с согласованными правилами и процедурами на протяжении жизненного цикла ИТ</a:t>
            </a: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37353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Основные определения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D907C9D-1040-45D9-B071-5A2EB6D923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4830315"/>
            <a:ext cx="268247" cy="26215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24FCA39-561B-49FF-A209-ECE1F4014A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5218386"/>
            <a:ext cx="268247" cy="26215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0D7E945-C49F-45BB-809D-D04A867120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3" y="5888767"/>
            <a:ext cx="268247" cy="2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712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9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8293237" cy="3619581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Объекты ИТ-менеджмента</a:t>
            </a:r>
            <a:endParaRPr lang="ru-RU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ИТ-инфраструктура: объединение программных, вычислительных и телекоммуникационных средств, связей между ними и эксплуатационного персонала 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приложения: ПО, обеспечивающее работу автоматизированных рабочих мест (АРМ)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организационная структура службы ИТ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ИТ-проект: </a:t>
            </a:r>
            <a:r>
              <a:rPr lang="ru-RU" u="sng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спланированная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и </a:t>
            </a:r>
            <a:r>
              <a:rPr lang="ru-RU" u="sng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ограниченная по срокам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деятельность по созданию, внедрению, преобразованию, аудиту или документированию объектов ИТ менеджмента (разработка ПО, внедрение новых ИС, модернизация существующих ИС)</a:t>
            </a: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37353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Основные определения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1A35755-B44A-40BC-9236-80E828417C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2671575"/>
            <a:ext cx="268247" cy="26215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F747687-A985-4E1F-89D5-BD801505D8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3624621"/>
            <a:ext cx="268247" cy="26215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6C26865-1647-4C90-B764-07D0F3DD9B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4293631"/>
            <a:ext cx="268247" cy="262151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EBB83A5-9AB0-42B1-BC65-4357090BFE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4680096"/>
            <a:ext cx="268247" cy="2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59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10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8293237" cy="3573414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Высокая динамика изменений информационных систем предприятия обусловлена:</a:t>
            </a:r>
            <a:endParaRPr lang="ru-RU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изменением внешней и внутренней среды предприятия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развитием существующих и появлением новых информационных технологий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социальными изменениями</a:t>
            </a:r>
          </a:p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Необходима система контролируемого изменения ИТ инфраструктуры предприятия синхронно с изменением бизнеса</a:t>
            </a:r>
            <a:endParaRPr lang="ru-RU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endParaRPr lang="ru-RU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endParaRPr lang="ru-RU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37353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Основные определения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1A35755-B44A-40BC-9236-80E828417C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2960333"/>
            <a:ext cx="268247" cy="26215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F747687-A985-4E1F-89D5-BD801505D8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3335863"/>
            <a:ext cx="268247" cy="26215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6C26865-1647-4C90-B764-07D0F3DD9B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3995247"/>
            <a:ext cx="268247" cy="2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300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11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8293237" cy="3457998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ИТ-сервис: ИТ-услуга, которую ИТ-подразделение (ИТ-служба) предоставляет бизнес-подразделениям предприятия для поддержки их бизнес-процессов</a:t>
            </a:r>
          </a:p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Характеристики ИТ-сервисов</a:t>
            </a:r>
            <a:endParaRPr lang="ru-RU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Функциональность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бизнес-задача, решаемая сервисом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Время обслуживания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период работы в ответственности ИТ-службы (напр.: в рабочее время, 24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/7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, …)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Доступность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% доступности сервиса во время обслуживания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Надежность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метрики частоты и продолжительности сбоев в обслуживании</a:t>
            </a: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1705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ИТ-сервис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1A35755-B44A-40BC-9236-80E828417C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3635370"/>
            <a:ext cx="268247" cy="26215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F747687-A985-4E1F-89D5-BD801505D8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4024591"/>
            <a:ext cx="268247" cy="26215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6C26865-1647-4C90-B764-07D0F3DD9B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4654442"/>
            <a:ext cx="268247" cy="262151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EBB83A5-9AB0-42B1-BC65-4357090BFE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5053291"/>
            <a:ext cx="268247" cy="26215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0794C3F-4B3E-46C9-A4F8-04B998E41D6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5951" y="2214582"/>
            <a:ext cx="691734" cy="60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88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12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8293237" cy="2788584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Характеристики ИТ-сервисов (продолжение)</a:t>
            </a:r>
            <a:endParaRPr lang="ru-RU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Производительность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одна из метрик пропускной способности (время отклика системы, количество транзакций в секунду, и т.д.)</a:t>
            </a:r>
            <a:endParaRPr lang="ru-RU" i="1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Конфиденциальность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вероятность несанкционированного доступа к данным или их несанкционированного изменения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Масштаб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объем и сложность работ по поддержке ИТ-сервиса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Затраты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стоимость ресурсов, требующихся для сопровождения ИТ-сервиса, и потерь в результате сбоев</a:t>
            </a: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1705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ИТ-сервис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1A35755-B44A-40BC-9236-80E828417C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2683258"/>
            <a:ext cx="268247" cy="26215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F747687-A985-4E1F-89D5-BD801505D8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3336435"/>
            <a:ext cx="268247" cy="26215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6C26865-1647-4C90-B764-07D0F3DD9B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4003995"/>
            <a:ext cx="268247" cy="26215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ED684D2-DE11-4EC2-8E94-029AA697E8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4390479"/>
            <a:ext cx="268247" cy="2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524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13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8293237" cy="4473661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Совокупная стоимость использования </a:t>
            </a: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</a:t>
            </a:r>
            <a:r>
              <a:rPr lang="en-US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Total Cost of Utilization </a:t>
            </a: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или TCU): полные затраты заказчика на использование услуги на протяжении всего ее жизненного цикла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стоимость оборудования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стоимость программного обеспечения (лицензии)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стоимость расходных материалов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стоимость технической поддержки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затраты на помещение, коммунальные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затраты на ремонт и амортизацию оборудования и помещений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затраты на персонал ИТ-службы и сторонний персонал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затраты на обучение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потери из за сбоев</a:t>
            </a: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1705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ИТ-сервис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1A35755-B44A-40BC-9236-80E828417C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3240026"/>
            <a:ext cx="268247" cy="26215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F747687-A985-4E1F-89D5-BD801505D8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3627156"/>
            <a:ext cx="268247" cy="26215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6C26865-1647-4C90-B764-07D0F3DD9B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4014286"/>
            <a:ext cx="268247" cy="262151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EBB83A5-9AB0-42B1-BC65-4357090BFE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4401416"/>
            <a:ext cx="268247" cy="26215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92D5748-9D10-44CA-93A6-5FC9C3FCFC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4788546"/>
            <a:ext cx="268247" cy="26215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A2DFDA6-E988-4EB3-A03E-DB845AB813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5175676"/>
            <a:ext cx="268247" cy="26215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E7DE9868-B26F-44CF-A722-D58812132E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5562806"/>
            <a:ext cx="268247" cy="262151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FE175CA-8B8E-4958-9BC9-9F2983128C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5949936"/>
            <a:ext cx="268247" cy="262151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B25E5DD-8E2F-425F-83D1-CEB2897B96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6337067"/>
            <a:ext cx="268247" cy="2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355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page number">
            <a:extLst>
              <a:ext uri="{FF2B5EF4-FFF2-40B4-BE49-F238E27FC236}">
                <a16:creationId xmlns:a16="http://schemas.microsoft.com/office/drawing/2014/main" id="{912DEE05-3897-4622-BECE-32CDEA3BA586}"/>
              </a:ext>
            </a:extLst>
          </p:cNvPr>
          <p:cNvGrpSpPr/>
          <p:nvPr/>
        </p:nvGrpSpPr>
        <p:grpSpPr>
          <a:xfrm>
            <a:off x="11354291" y="6242955"/>
            <a:ext cx="525720" cy="365125"/>
            <a:chOff x="11354291" y="6242955"/>
            <a:chExt cx="525720" cy="365125"/>
          </a:xfrm>
        </p:grpSpPr>
        <p:sp>
          <p:nvSpPr>
            <p:cNvPr id="54" name="page number">
              <a:extLst>
                <a:ext uri="{FF2B5EF4-FFF2-40B4-BE49-F238E27FC236}">
                  <a16:creationId xmlns:a16="http://schemas.microsoft.com/office/drawing/2014/main" id="{7E11964B-BF3C-4168-801A-9EA4210EDDC9}"/>
                </a:ext>
              </a:extLst>
            </p:cNvPr>
            <p:cNvSpPr txBox="1">
              <a:spLocks/>
            </p:cNvSpPr>
            <p:nvPr/>
          </p:nvSpPr>
          <p:spPr>
            <a:xfrm>
              <a:off x="11354291" y="6242955"/>
              <a:ext cx="46623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14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5" name="rectangles">
              <a:extLst>
                <a:ext uri="{FF2B5EF4-FFF2-40B4-BE49-F238E27FC236}">
                  <a16:creationId xmlns:a16="http://schemas.microsoft.com/office/drawing/2014/main" id="{AADED0D1-5832-45D6-A9E2-8F52D2554263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56" name="rectangle">
                <a:extLst>
                  <a:ext uri="{FF2B5EF4-FFF2-40B4-BE49-F238E27FC236}">
                    <a16:creationId xmlns:a16="http://schemas.microsoft.com/office/drawing/2014/main" id="{36B4B861-21D0-41BB-BB10-65954A072121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7" name="rectangle">
                <a:extLst>
                  <a:ext uri="{FF2B5EF4-FFF2-40B4-BE49-F238E27FC236}">
                    <a16:creationId xmlns:a16="http://schemas.microsoft.com/office/drawing/2014/main" id="{B96B9734-06F7-42EF-A63F-07DDFE80EC20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8" name="rectangle">
                <a:extLst>
                  <a:ext uri="{FF2B5EF4-FFF2-40B4-BE49-F238E27FC236}">
                    <a16:creationId xmlns:a16="http://schemas.microsoft.com/office/drawing/2014/main" id="{8D843A73-4A00-4EB5-BF10-46CBA15B0CB3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9" name="rectangle">
                <a:extLst>
                  <a:ext uri="{FF2B5EF4-FFF2-40B4-BE49-F238E27FC236}">
                    <a16:creationId xmlns:a16="http://schemas.microsoft.com/office/drawing/2014/main" id="{B530E3A9-4818-4541-BE35-5AD789D1390D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cxnSp>
        <p:nvCxnSpPr>
          <p:cNvPr id="5" name="line">
            <a:extLst>
              <a:ext uri="{FF2B5EF4-FFF2-40B4-BE49-F238E27FC236}">
                <a16:creationId xmlns:a16="http://schemas.microsoft.com/office/drawing/2014/main" id="{295BB422-C9FD-4684-A7D0-820E305493CB}"/>
              </a:ext>
            </a:extLst>
          </p:cNvPr>
          <p:cNvCxnSpPr/>
          <p:nvPr/>
        </p:nvCxnSpPr>
        <p:spPr>
          <a:xfrm>
            <a:off x="371475" y="200025"/>
            <a:ext cx="0" cy="6457950"/>
          </a:xfrm>
          <a:prstGeom prst="line">
            <a:avLst/>
          </a:prstGeom>
          <a:ln w="9525" cap="rnd">
            <a:solidFill>
              <a:srgbClr val="D2D5DC"/>
            </a:solidFill>
            <a:prstDash val="dash"/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ellipses">
            <a:extLst>
              <a:ext uri="{FF2B5EF4-FFF2-40B4-BE49-F238E27FC236}">
                <a16:creationId xmlns:a16="http://schemas.microsoft.com/office/drawing/2014/main" id="{9347D5E7-7D89-493D-8656-7659D3DE9B68}"/>
              </a:ext>
            </a:extLst>
          </p:cNvPr>
          <p:cNvGrpSpPr/>
          <p:nvPr/>
        </p:nvGrpSpPr>
        <p:grpSpPr>
          <a:xfrm>
            <a:off x="170760" y="1699152"/>
            <a:ext cx="3970151" cy="3970151"/>
            <a:chOff x="170760" y="1699152"/>
            <a:chExt cx="3970151" cy="3970151"/>
          </a:xfrm>
        </p:grpSpPr>
        <p:sp>
          <p:nvSpPr>
            <p:cNvPr id="6" name="arc">
              <a:extLst>
                <a:ext uri="{FF2B5EF4-FFF2-40B4-BE49-F238E27FC236}">
                  <a16:creationId xmlns:a16="http://schemas.microsoft.com/office/drawing/2014/main" id="{73663D9A-E2ED-483B-92D4-F52D81827096}"/>
                </a:ext>
              </a:extLst>
            </p:cNvPr>
            <p:cNvSpPr/>
            <p:nvPr/>
          </p:nvSpPr>
          <p:spPr>
            <a:xfrm>
              <a:off x="170760" y="1699152"/>
              <a:ext cx="3970151" cy="3970151"/>
            </a:xfrm>
            <a:prstGeom prst="arc">
              <a:avLst>
                <a:gd name="adj1" fmla="val 16200000"/>
                <a:gd name="adj2" fmla="val 5433205"/>
              </a:avLst>
            </a:prstGeom>
            <a:ln w="53975">
              <a:gradFill>
                <a:gsLst>
                  <a:gs pos="82000">
                    <a:srgbClr val="D9D9D9"/>
                  </a:gs>
                  <a:gs pos="0">
                    <a:schemeClr val="bg1">
                      <a:lumMod val="85000"/>
                      <a:alpha val="0"/>
                    </a:schemeClr>
                  </a:gs>
                  <a:gs pos="20000">
                    <a:schemeClr val="bg1">
                      <a:lumMod val="85000"/>
                    </a:schemeClr>
                  </a:gs>
                  <a:gs pos="100000">
                    <a:schemeClr val="bg1">
                      <a:lumMod val="85000"/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8" name="ellipse 3">
              <a:extLst>
                <a:ext uri="{FF2B5EF4-FFF2-40B4-BE49-F238E27FC236}">
                  <a16:creationId xmlns:a16="http://schemas.microsoft.com/office/drawing/2014/main" id="{3853C6DF-667A-4E6F-978A-15BADA21E1BB}"/>
                </a:ext>
              </a:extLst>
            </p:cNvPr>
            <p:cNvSpPr/>
            <p:nvPr/>
          </p:nvSpPr>
          <p:spPr>
            <a:xfrm>
              <a:off x="551142" y="2888363"/>
              <a:ext cx="2504715" cy="2504715"/>
            </a:xfrm>
            <a:prstGeom prst="ellipse">
              <a:avLst/>
            </a:prstGeom>
            <a:solidFill>
              <a:srgbClr val="C7E0F8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ellipse 2">
              <a:extLst>
                <a:ext uri="{FF2B5EF4-FFF2-40B4-BE49-F238E27FC236}">
                  <a16:creationId xmlns:a16="http://schemas.microsoft.com/office/drawing/2014/main" id="{390F41F4-E352-44D7-888E-E0E01D72234D}"/>
                </a:ext>
              </a:extLst>
            </p:cNvPr>
            <p:cNvSpPr/>
            <p:nvPr/>
          </p:nvSpPr>
          <p:spPr>
            <a:xfrm>
              <a:off x="852995" y="1844662"/>
              <a:ext cx="2504715" cy="2504715"/>
            </a:xfrm>
            <a:prstGeom prst="ellipse">
              <a:avLst/>
            </a:prstGeom>
            <a:solidFill>
              <a:srgbClr val="2784E1">
                <a:alpha val="1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ellipse 1">
              <a:extLst>
                <a:ext uri="{FF2B5EF4-FFF2-40B4-BE49-F238E27FC236}">
                  <a16:creationId xmlns:a16="http://schemas.microsoft.com/office/drawing/2014/main" id="{3E6BF43C-B90A-4575-B653-3ED8584DE6B3}"/>
                </a:ext>
              </a:extLst>
            </p:cNvPr>
            <p:cNvSpPr/>
            <p:nvPr/>
          </p:nvSpPr>
          <p:spPr>
            <a:xfrm>
              <a:off x="1463873" y="2230354"/>
              <a:ext cx="2504715" cy="2504715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 l="-11085" r="-1108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2002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Содержание</a:t>
            </a:r>
          </a:p>
        </p:txBody>
      </p:sp>
      <p:grpSp>
        <p:nvGrpSpPr>
          <p:cNvPr id="37" name="item">
            <a:extLst>
              <a:ext uri="{FF2B5EF4-FFF2-40B4-BE49-F238E27FC236}">
                <a16:creationId xmlns:a16="http://schemas.microsoft.com/office/drawing/2014/main" id="{221C4C0D-14F2-4C39-A014-24A729FD3A1D}"/>
              </a:ext>
            </a:extLst>
          </p:cNvPr>
          <p:cNvGrpSpPr/>
          <p:nvPr/>
        </p:nvGrpSpPr>
        <p:grpSpPr>
          <a:xfrm>
            <a:off x="2510260" y="1356632"/>
            <a:ext cx="9304737" cy="374571"/>
            <a:chOff x="2447925" y="1328372"/>
            <a:chExt cx="9304737" cy="374571"/>
          </a:xfrm>
        </p:grpSpPr>
        <p:cxnSp>
          <p:nvCxnSpPr>
            <p:cNvPr id="12" name="bullet">
              <a:extLst>
                <a:ext uri="{FF2B5EF4-FFF2-40B4-BE49-F238E27FC236}">
                  <a16:creationId xmlns:a16="http://schemas.microsoft.com/office/drawing/2014/main" id="{6582700A-341D-4AB7-A4FD-16B1CDF2DEB6}"/>
                </a:ext>
              </a:extLst>
            </p:cNvPr>
            <p:cNvCxnSpPr>
              <a:cxnSpLocks/>
            </p:cNvCxnSpPr>
            <p:nvPr/>
          </p:nvCxnSpPr>
          <p:spPr>
            <a:xfrm>
              <a:off x="2447925" y="1524000"/>
              <a:ext cx="571500" cy="0"/>
            </a:xfrm>
            <a:prstGeom prst="line">
              <a:avLst/>
            </a:prstGeom>
            <a:ln w="9525">
              <a:solidFill>
                <a:srgbClr val="A61500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">
              <a:extLst>
                <a:ext uri="{FF2B5EF4-FFF2-40B4-BE49-F238E27FC236}">
                  <a16:creationId xmlns:a16="http://schemas.microsoft.com/office/drawing/2014/main" id="{B5599E9C-EAB8-4072-B6F9-885AEA32892C}"/>
                </a:ext>
              </a:extLst>
            </p:cNvPr>
            <p:cNvSpPr txBox="1"/>
            <p:nvPr/>
          </p:nvSpPr>
          <p:spPr>
            <a:xfrm>
              <a:off x="3238912" y="1360598"/>
              <a:ext cx="31361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600" b="1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Структура курса, литература</a:t>
              </a:r>
            </a:p>
          </p:txBody>
        </p:sp>
        <p:sp>
          <p:nvSpPr>
            <p:cNvPr id="29" name="page number">
              <a:extLst>
                <a:ext uri="{FF2B5EF4-FFF2-40B4-BE49-F238E27FC236}">
                  <a16:creationId xmlns:a16="http://schemas.microsoft.com/office/drawing/2014/main" id="{5EE126A1-104A-4943-9B53-776C81A0A372}"/>
                </a:ext>
              </a:extLst>
            </p:cNvPr>
            <p:cNvSpPr txBox="1">
              <a:spLocks/>
            </p:cNvSpPr>
            <p:nvPr/>
          </p:nvSpPr>
          <p:spPr>
            <a:xfrm>
              <a:off x="11248662" y="1328372"/>
              <a:ext cx="504000" cy="374571"/>
            </a:xfrm>
            <a:prstGeom prst="roundRect">
              <a:avLst>
                <a:gd name="adj" fmla="val 16667"/>
              </a:avLst>
            </a:prstGeom>
            <a:solidFill>
              <a:srgbClr val="AB2003"/>
            </a:solidFill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38" name="item">
            <a:extLst>
              <a:ext uri="{FF2B5EF4-FFF2-40B4-BE49-F238E27FC236}">
                <a16:creationId xmlns:a16="http://schemas.microsoft.com/office/drawing/2014/main" id="{D4277843-AE51-4C20-BB0D-0A30D9DBE729}"/>
              </a:ext>
            </a:extLst>
          </p:cNvPr>
          <p:cNvGrpSpPr/>
          <p:nvPr/>
        </p:nvGrpSpPr>
        <p:grpSpPr>
          <a:xfrm>
            <a:off x="4141179" y="2557036"/>
            <a:ext cx="7673818" cy="374571"/>
            <a:chOff x="3357710" y="1927264"/>
            <a:chExt cx="8394952" cy="374571"/>
          </a:xfrm>
        </p:grpSpPr>
        <p:cxnSp>
          <p:nvCxnSpPr>
            <p:cNvPr id="14" name="bullet">
              <a:extLst>
                <a:ext uri="{FF2B5EF4-FFF2-40B4-BE49-F238E27FC236}">
                  <a16:creationId xmlns:a16="http://schemas.microsoft.com/office/drawing/2014/main" id="{7E4304D3-B9E7-4D1C-AC18-C7FF1EF29168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>
              <a:off x="3357710" y="2114550"/>
              <a:ext cx="616315" cy="0"/>
            </a:xfrm>
            <a:prstGeom prst="line">
              <a:avLst/>
            </a:prstGeom>
            <a:ln w="9525">
              <a:solidFill>
                <a:srgbClr val="86B9EE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">
              <a:extLst>
                <a:ext uri="{FF2B5EF4-FFF2-40B4-BE49-F238E27FC236}">
                  <a16:creationId xmlns:a16="http://schemas.microsoft.com/office/drawing/2014/main" id="{BBA0248A-DC19-4AB9-BB51-C07D5BCA6CFF}"/>
                </a:ext>
              </a:extLst>
            </p:cNvPr>
            <p:cNvSpPr txBox="1"/>
            <p:nvPr/>
          </p:nvSpPr>
          <p:spPr>
            <a:xfrm>
              <a:off x="3974025" y="1945273"/>
              <a:ext cx="184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ru-RU" sz="1600" dirty="0">
                <a:solidFill>
                  <a:srgbClr val="0B2D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page number">
              <a:extLst>
                <a:ext uri="{FF2B5EF4-FFF2-40B4-BE49-F238E27FC236}">
                  <a16:creationId xmlns:a16="http://schemas.microsoft.com/office/drawing/2014/main" id="{7F746E45-5393-440E-A4C4-7F3F839265D6}"/>
                </a:ext>
              </a:extLst>
            </p:cNvPr>
            <p:cNvSpPr txBox="1">
              <a:spLocks/>
            </p:cNvSpPr>
            <p:nvPr/>
          </p:nvSpPr>
          <p:spPr>
            <a:xfrm>
              <a:off x="11248662" y="1927264"/>
              <a:ext cx="504000" cy="374571"/>
            </a:xfrm>
            <a:prstGeom prst="roundRect">
              <a:avLst>
                <a:gd name="adj" fmla="val 16667"/>
              </a:avLst>
            </a:prstGeom>
            <a:solidFill>
              <a:srgbClr val="86BAEC"/>
            </a:solidFill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41" name="item">
            <a:extLst>
              <a:ext uri="{FF2B5EF4-FFF2-40B4-BE49-F238E27FC236}">
                <a16:creationId xmlns:a16="http://schemas.microsoft.com/office/drawing/2014/main" id="{BEFC191C-ACA0-4A3D-AD6A-C2607FA7BA7D}"/>
              </a:ext>
            </a:extLst>
          </p:cNvPr>
          <p:cNvGrpSpPr/>
          <p:nvPr/>
        </p:nvGrpSpPr>
        <p:grpSpPr>
          <a:xfrm>
            <a:off x="4203246" y="3779242"/>
            <a:ext cx="7611751" cy="864156"/>
            <a:chOff x="4140911" y="3412513"/>
            <a:chExt cx="7611751" cy="884828"/>
          </a:xfrm>
        </p:grpSpPr>
        <p:cxnSp>
          <p:nvCxnSpPr>
            <p:cNvPr id="17" name="bullet">
              <a:extLst>
                <a:ext uri="{FF2B5EF4-FFF2-40B4-BE49-F238E27FC236}">
                  <a16:creationId xmlns:a16="http://schemas.microsoft.com/office/drawing/2014/main" id="{50A487FB-46D1-441A-B9D4-73F3A764D96B}"/>
                </a:ext>
              </a:extLst>
            </p:cNvPr>
            <p:cNvCxnSpPr>
              <a:cxnSpLocks/>
            </p:cNvCxnSpPr>
            <p:nvPr/>
          </p:nvCxnSpPr>
          <p:spPr>
            <a:xfrm>
              <a:off x="4140911" y="3775370"/>
              <a:ext cx="571500" cy="0"/>
            </a:xfrm>
            <a:prstGeom prst="line">
              <a:avLst/>
            </a:prstGeom>
            <a:ln w="9525">
              <a:solidFill>
                <a:srgbClr val="2986E2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">
              <a:extLst>
                <a:ext uri="{FF2B5EF4-FFF2-40B4-BE49-F238E27FC236}">
                  <a16:creationId xmlns:a16="http://schemas.microsoft.com/office/drawing/2014/main" id="{B9FCA255-5FB9-49B2-8622-2A25CFD5C1DB}"/>
                </a:ext>
              </a:extLst>
            </p:cNvPr>
            <p:cNvSpPr txBox="1"/>
            <p:nvPr/>
          </p:nvSpPr>
          <p:spPr>
            <a:xfrm>
              <a:off x="4818984" y="3466344"/>
              <a:ext cx="520841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b="1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Организация ИТ-службы предприятия</a:t>
              </a:r>
              <a:br>
                <a:rPr lang="en-US" sz="1600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ru-RU" sz="1600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Функциональные и процессные модели службы ИС предприятия</a:t>
              </a:r>
            </a:p>
          </p:txBody>
        </p:sp>
        <p:sp>
          <p:nvSpPr>
            <p:cNvPr id="33" name="page number">
              <a:extLst>
                <a:ext uri="{FF2B5EF4-FFF2-40B4-BE49-F238E27FC236}">
                  <a16:creationId xmlns:a16="http://schemas.microsoft.com/office/drawing/2014/main" id="{0C4D9451-5D1C-4F82-B6C9-DA2DC275A42C}"/>
                </a:ext>
              </a:extLst>
            </p:cNvPr>
            <p:cNvSpPr txBox="1">
              <a:spLocks/>
            </p:cNvSpPr>
            <p:nvPr/>
          </p:nvSpPr>
          <p:spPr>
            <a:xfrm>
              <a:off x="11248662" y="3412513"/>
              <a:ext cx="504000" cy="374571"/>
            </a:xfrm>
            <a:prstGeom prst="roundRect">
              <a:avLst>
                <a:gd name="adj" fmla="val 16667"/>
              </a:avLst>
            </a:prstGeom>
            <a:solidFill>
              <a:srgbClr val="2986E2"/>
            </a:solidFill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4" name="item">
            <a:extLst>
              <a:ext uri="{FF2B5EF4-FFF2-40B4-BE49-F238E27FC236}">
                <a16:creationId xmlns:a16="http://schemas.microsoft.com/office/drawing/2014/main" id="{CE935143-B815-4278-B5D4-1CD322CAADBF}"/>
              </a:ext>
            </a:extLst>
          </p:cNvPr>
          <p:cNvGrpSpPr/>
          <p:nvPr/>
        </p:nvGrpSpPr>
        <p:grpSpPr>
          <a:xfrm>
            <a:off x="2489145" y="5512215"/>
            <a:ext cx="9325852" cy="584775"/>
            <a:chOff x="2447925" y="5512215"/>
            <a:chExt cx="9325852" cy="584775"/>
          </a:xfrm>
        </p:grpSpPr>
        <p:cxnSp>
          <p:nvCxnSpPr>
            <p:cNvPr id="20" name="bullet">
              <a:extLst>
                <a:ext uri="{FF2B5EF4-FFF2-40B4-BE49-F238E27FC236}">
                  <a16:creationId xmlns:a16="http://schemas.microsoft.com/office/drawing/2014/main" id="{5B9AB7B6-DDC8-49A9-9301-10DA13363AD0}"/>
                </a:ext>
              </a:extLst>
            </p:cNvPr>
            <p:cNvCxnSpPr>
              <a:cxnSpLocks/>
            </p:cNvCxnSpPr>
            <p:nvPr/>
          </p:nvCxnSpPr>
          <p:spPr>
            <a:xfrm>
              <a:off x="2447925" y="5829299"/>
              <a:ext cx="571500" cy="0"/>
            </a:xfrm>
            <a:prstGeom prst="line">
              <a:avLst/>
            </a:prstGeom>
            <a:ln w="9525">
              <a:solidFill>
                <a:srgbClr val="C59E59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">
              <a:extLst>
                <a:ext uri="{FF2B5EF4-FFF2-40B4-BE49-F238E27FC236}">
                  <a16:creationId xmlns:a16="http://schemas.microsoft.com/office/drawing/2014/main" id="{3F145565-7D7D-4390-A4BF-5295E88FDA42}"/>
                </a:ext>
              </a:extLst>
            </p:cNvPr>
            <p:cNvSpPr txBox="1"/>
            <p:nvPr/>
          </p:nvSpPr>
          <p:spPr>
            <a:xfrm>
              <a:off x="3213000" y="5512215"/>
              <a:ext cx="68721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600" b="1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Библиотека инфраструктуры информационных технологий (ITIL)</a:t>
              </a:r>
              <a:br>
                <a:rPr lang="ru-RU" sz="1600" b="1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ru-RU" sz="1600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Общие сведения о библиотеке ITIL. Построение стратегии.</a:t>
              </a:r>
            </a:p>
          </p:txBody>
        </p:sp>
        <p:sp>
          <p:nvSpPr>
            <p:cNvPr id="36" name="page number">
              <a:extLst>
                <a:ext uri="{FF2B5EF4-FFF2-40B4-BE49-F238E27FC236}">
                  <a16:creationId xmlns:a16="http://schemas.microsoft.com/office/drawing/2014/main" id="{881BBE25-2633-4925-8AE7-9CB98088263F}"/>
                </a:ext>
              </a:extLst>
            </p:cNvPr>
            <p:cNvSpPr txBox="1">
              <a:spLocks/>
            </p:cNvSpPr>
            <p:nvPr/>
          </p:nvSpPr>
          <p:spPr>
            <a:xfrm>
              <a:off x="11269777" y="5621463"/>
              <a:ext cx="504000" cy="374571"/>
            </a:xfrm>
            <a:prstGeom prst="roundRect">
              <a:avLst>
                <a:gd name="adj" fmla="val 16667"/>
              </a:avLst>
            </a:prstGeom>
            <a:solidFill>
              <a:srgbClr val="C59E59"/>
            </a:solidFill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51" name="Рисунок 50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860DBFE6-C0FB-431C-B908-1209EE4A05F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DB64C8CC-1B20-4F01-8997-1FA1F280D3D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sp>
        <p:nvSpPr>
          <p:cNvPr id="50" name="text">
            <a:extLst>
              <a:ext uri="{FF2B5EF4-FFF2-40B4-BE49-F238E27FC236}">
                <a16:creationId xmlns:a16="http://schemas.microsoft.com/office/drawing/2014/main" id="{696B3B12-5E49-42BA-9F9D-5CBFF4177F13}"/>
              </a:ext>
            </a:extLst>
          </p:cNvPr>
          <p:cNvSpPr txBox="1"/>
          <p:nvPr/>
        </p:nvSpPr>
        <p:spPr>
          <a:xfrm>
            <a:off x="4876607" y="2414378"/>
            <a:ext cx="39260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rgbClr val="0B2D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Основные понятия ИТ-менеджмента</a:t>
            </a:r>
            <a:br>
              <a:rPr lang="ru-RU" sz="1600" b="1" dirty="0">
                <a:solidFill>
                  <a:srgbClr val="0B2D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600" dirty="0">
                <a:solidFill>
                  <a:srgbClr val="0B2D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Понятие и характеристики ИТ-сервиса</a:t>
            </a:r>
            <a:br>
              <a:rPr lang="ru-RU" sz="1600" b="1" dirty="0">
                <a:solidFill>
                  <a:srgbClr val="0B2D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1600" b="1" dirty="0">
              <a:solidFill>
                <a:srgbClr val="0B2D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0" name="Рисунок 59"/>
          <p:cNvPicPr>
            <a:picLocks noChangeAspect="1"/>
          </p:cNvPicPr>
          <p:nvPr/>
        </p:nvPicPr>
        <p:blipFill>
          <a:blip r:embed="rId5" cstate="hq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197382" y="3650068"/>
            <a:ext cx="635226" cy="63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314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15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8293237" cy="4011996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Цель ИТ-службы компании: создание ИТ-сервисов, поддерживающих выполнение определенных бизнес-процессов</a:t>
            </a:r>
          </a:p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Функциональные направления ИТ-службы</a:t>
            </a:r>
            <a:endParaRPr lang="ru-RU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на этапе </a:t>
            </a:r>
            <a:r>
              <a:rPr lang="ru-RU" u="sng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планирования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контроль соответствия создаваемого ИТ-сервиса стандартам, проверка наличия необходимых средств в бюджете предприятия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на этапе </a:t>
            </a:r>
            <a:r>
              <a:rPr lang="ru-RU" u="sng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разработки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и внедрения: использование всех имеющихся средств для реализации (приобретения) ИТ-сервиса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на этапе эксплуатации: управление данными, оборудованием, системным ПО и </a:t>
            </a:r>
            <a:r>
              <a:rPr lang="ru-RU" u="sng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поддержка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пользователей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на этапе эксплуатации: контроль (</a:t>
            </a:r>
            <a:r>
              <a:rPr lang="ru-RU" u="sng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мониторинг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) соблюдения условий соглашения между заказчиком и службой ИТ</a:t>
            </a: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5819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Организация ИТ-службы предприятия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1A35755-B44A-40BC-9236-80E828417C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3356240"/>
            <a:ext cx="268247" cy="26215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F747687-A985-4E1F-89D5-BD801505D8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4301637"/>
            <a:ext cx="268247" cy="26215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6C26865-1647-4C90-B764-07D0F3DD9B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4958275"/>
            <a:ext cx="268247" cy="262151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EBB83A5-9AB0-42B1-BC65-4357090BFE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5605287"/>
            <a:ext cx="268247" cy="262151"/>
          </a:xfrm>
          <a:prstGeom prst="rect">
            <a:avLst/>
          </a:prstGeom>
        </p:spPr>
      </p:pic>
      <p:sp>
        <p:nvSpPr>
          <p:cNvPr id="2" name="Овал 1">
            <a:extLst>
              <a:ext uri="{FF2B5EF4-FFF2-40B4-BE49-F238E27FC236}">
                <a16:creationId xmlns:a16="http://schemas.microsoft.com/office/drawing/2014/main" id="{6E46A688-9841-4997-B1C1-DBAB49CEB3CD}"/>
              </a:ext>
            </a:extLst>
          </p:cNvPr>
          <p:cNvSpPr/>
          <p:nvPr/>
        </p:nvSpPr>
        <p:spPr>
          <a:xfrm>
            <a:off x="9212453" y="3245983"/>
            <a:ext cx="362783" cy="3627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D08091F3-ECAF-4A5D-B924-874A56886B80}"/>
              </a:ext>
            </a:extLst>
          </p:cNvPr>
          <p:cNvSpPr/>
          <p:nvPr/>
        </p:nvSpPr>
        <p:spPr>
          <a:xfrm>
            <a:off x="9212453" y="4251320"/>
            <a:ext cx="362783" cy="3627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8BC7E518-4BBB-4DA3-8C1D-6051D41C4E36}"/>
              </a:ext>
            </a:extLst>
          </p:cNvPr>
          <p:cNvSpPr/>
          <p:nvPr/>
        </p:nvSpPr>
        <p:spPr>
          <a:xfrm>
            <a:off x="9212453" y="4857643"/>
            <a:ext cx="362783" cy="3627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D5C0CEDF-5EC7-446C-A7F9-40DFEDDDF517}"/>
              </a:ext>
            </a:extLst>
          </p:cNvPr>
          <p:cNvSpPr/>
          <p:nvPr/>
        </p:nvSpPr>
        <p:spPr>
          <a:xfrm>
            <a:off x="9212453" y="5504655"/>
            <a:ext cx="362783" cy="3627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41917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16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8293237" cy="3619581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Определение параметров ИТ-сервиса</a:t>
            </a:r>
            <a:endParaRPr lang="ru-RU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u="sng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время обслуживания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, параметры доступности и производительности: определяются в ходе согласования требований и контролируются в процессе эксплуатации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u="sng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конфиденциальность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ИТ-сервиса: планируется исходя из политики безопасности, реализуется инфраструктура, обучаются пользователи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u="sng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масштаб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и </a:t>
            </a:r>
            <a:r>
              <a:rPr lang="ru-RU" u="sng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цена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сервиса: определяются на этапе планирования, контролируются на этапе разработки и внедрения</a:t>
            </a:r>
          </a:p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Отсутствует однозначное соответствие функций ИТ-службы и параметров ИТ-сервиса</a:t>
            </a: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5819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Организация ИТ-службы предприятия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1A35755-B44A-40BC-9236-80E828417C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2663220"/>
            <a:ext cx="268247" cy="26215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F747687-A985-4E1F-89D5-BD801505D8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3627867"/>
            <a:ext cx="268247" cy="26215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6C26865-1647-4C90-B764-07D0F3DD9B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4582888"/>
            <a:ext cx="268247" cy="262151"/>
          </a:xfrm>
          <a:prstGeom prst="rect">
            <a:avLst/>
          </a:prstGeom>
        </p:spPr>
      </p:pic>
      <p:sp>
        <p:nvSpPr>
          <p:cNvPr id="17" name="Овал 16">
            <a:extLst>
              <a:ext uri="{FF2B5EF4-FFF2-40B4-BE49-F238E27FC236}">
                <a16:creationId xmlns:a16="http://schemas.microsoft.com/office/drawing/2014/main" id="{4E1C9DA1-759C-47F5-8A40-0D0809691A4D}"/>
              </a:ext>
            </a:extLst>
          </p:cNvPr>
          <p:cNvSpPr/>
          <p:nvPr/>
        </p:nvSpPr>
        <p:spPr>
          <a:xfrm>
            <a:off x="9212451" y="2713753"/>
            <a:ext cx="362783" cy="3627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9C0D2376-5EAA-4820-8CF1-77BA2E87E461}"/>
              </a:ext>
            </a:extLst>
          </p:cNvPr>
          <p:cNvSpPr/>
          <p:nvPr/>
        </p:nvSpPr>
        <p:spPr>
          <a:xfrm>
            <a:off x="9696250" y="3594456"/>
            <a:ext cx="362783" cy="3627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DCB426B9-7FD6-4F95-B26C-F3095C68A26B}"/>
              </a:ext>
            </a:extLst>
          </p:cNvPr>
          <p:cNvSpPr/>
          <p:nvPr/>
        </p:nvSpPr>
        <p:spPr>
          <a:xfrm>
            <a:off x="9212450" y="3594456"/>
            <a:ext cx="362783" cy="3627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B2219485-0EE1-44DF-81C6-8E072D1C8516}"/>
              </a:ext>
            </a:extLst>
          </p:cNvPr>
          <p:cNvSpPr/>
          <p:nvPr/>
        </p:nvSpPr>
        <p:spPr>
          <a:xfrm>
            <a:off x="10180050" y="3594456"/>
            <a:ext cx="362783" cy="3627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DAF8ECE2-F52A-4509-8E60-9E886DC42C51}"/>
              </a:ext>
            </a:extLst>
          </p:cNvPr>
          <p:cNvSpPr/>
          <p:nvPr/>
        </p:nvSpPr>
        <p:spPr>
          <a:xfrm>
            <a:off x="9212449" y="4482256"/>
            <a:ext cx="362783" cy="3627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7A6524C4-5E19-48E4-A010-789A55ED58E8}"/>
              </a:ext>
            </a:extLst>
          </p:cNvPr>
          <p:cNvSpPr/>
          <p:nvPr/>
        </p:nvSpPr>
        <p:spPr>
          <a:xfrm>
            <a:off x="9705694" y="4482256"/>
            <a:ext cx="362783" cy="3627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E8EA58AA-8541-4BB1-8DDD-BD14C57AA8C3}"/>
              </a:ext>
            </a:extLst>
          </p:cNvPr>
          <p:cNvSpPr/>
          <p:nvPr/>
        </p:nvSpPr>
        <p:spPr>
          <a:xfrm>
            <a:off x="9705694" y="2713753"/>
            <a:ext cx="362783" cy="3627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F159DA0C-EE74-4765-8519-70F46DEED636}"/>
              </a:ext>
            </a:extLst>
          </p:cNvPr>
          <p:cNvSpPr/>
          <p:nvPr/>
        </p:nvSpPr>
        <p:spPr>
          <a:xfrm>
            <a:off x="10198938" y="4482256"/>
            <a:ext cx="362783" cy="3627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272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17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8293237" cy="3342582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Проблемы «функциональной» структуры организации службы ИТ</a:t>
            </a:r>
            <a:endParaRPr lang="ru-RU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контроль качества ИТ-сервиса требует координации нескольких функциональных служб → перегрузка руководителей высшего уровня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отсутствует конкретная служба, ответственная за качество данного сервиса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отсутствует единая точна контакта для проблем (необходимости развития) данного сервиса</a:t>
            </a:r>
          </a:p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Решение: «процессная» структура организации службы ИТ</a:t>
            </a: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5819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Организация ИТ-службы предприятия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1A35755-B44A-40BC-9236-80E828417C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2961604"/>
            <a:ext cx="268247" cy="26215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F747687-A985-4E1F-89D5-BD801505D8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3887751"/>
            <a:ext cx="268247" cy="26215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6C26865-1647-4C90-B764-07D0F3DD9B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4573263"/>
            <a:ext cx="268247" cy="26215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A86A42A-750A-4C6D-802A-5D1EB2BDF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8174" y="4704338"/>
            <a:ext cx="1014123" cy="1044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7982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18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5" y="2166456"/>
            <a:ext cx="7121706" cy="3457998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Процессная организации службы ИТ</a:t>
            </a:r>
            <a:endParaRPr lang="ru-RU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объектом управления становится услуга (ИТ-сервис)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выделяется набор процессов, для управления отдельными параметрами качества услуг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цель: предоставление заказчику требуемого качества услуг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на этапе планирования параметры качества услуг определяются и согласовываются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на последующих этапах обеспечивается соответствие фактических параметров услуг достигнутым соглашениям</a:t>
            </a: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5819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Организация ИТ-службы предприятия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F747687-A985-4E1F-89D5-BD801505D8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2694616"/>
            <a:ext cx="268247" cy="26215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6C26865-1647-4C90-B764-07D0F3DD9B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3088666"/>
            <a:ext cx="268247" cy="26215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038BFBA-42AC-438A-B99D-E56035D382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3742598"/>
            <a:ext cx="268247" cy="26215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7A04C70-7A8E-49F4-98CE-9CE16D88C5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4401025"/>
            <a:ext cx="268247" cy="26215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76C9BD0-FD23-4C11-B564-2602A70AAE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24" y="5081631"/>
            <a:ext cx="268247" cy="262151"/>
          </a:xfrm>
          <a:prstGeom prst="rect">
            <a:avLst/>
          </a:prstGeom>
        </p:spPr>
      </p:pic>
      <p:pic>
        <p:nvPicPr>
          <p:cNvPr id="19" name="Picture 2" descr="Процессы, функции, роли в процессной модели управления">
            <a:extLst>
              <a:ext uri="{FF2B5EF4-FFF2-40B4-BE49-F238E27FC236}">
                <a16:creationId xmlns:a16="http://schemas.microsoft.com/office/drawing/2014/main" id="{C65134D2-4B1E-4FCB-AEF6-F6B4726F8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11" y="2282790"/>
            <a:ext cx="363855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4207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19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8293237" cy="3180999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Функциональный подход: фокус на информационных технологиях</a:t>
            </a:r>
          </a:p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Сервисная модель: фокус на ИТ-услугах, предоставляемых пользователю информационными технологиям</a:t>
            </a:r>
          </a:p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Преимущества: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модель для анализа потребностей клиентов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наличие соглашения, определяющего параметры эффективности предоставляемых услуг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возможность измерения и улучшения качества услуг</a:t>
            </a: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5819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Организация ИТ-службы предприятия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1A35755-B44A-40BC-9236-80E828417C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4017606"/>
            <a:ext cx="268247" cy="26215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F747687-A985-4E1F-89D5-BD801505D8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3" y="4419264"/>
            <a:ext cx="268247" cy="262151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38E85067-602B-4106-8578-214D31C9AB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5069672"/>
            <a:ext cx="268247" cy="2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3273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20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5" y="2166456"/>
            <a:ext cx="7141456" cy="3850413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Переход к «процессной» организации</a:t>
            </a:r>
            <a:endParaRPr lang="ru-RU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определяется цель процесса и показатели её достижения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назначается </a:t>
            </a:r>
            <a:r>
              <a:rPr lang="ru-RU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менеджер процесса,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ответственный за конечный результат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создается регламент работ в составе процесса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разрабатываются или внедряются инструментальные средства для поддержки процесса</a:t>
            </a:r>
          </a:p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Изменяется только управление службы ИТ, изменение всей организационной структуры обычно не требуется</a:t>
            </a:r>
          </a:p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Менеджер процесса координирует деятельность не подчиненных ему напрямую сотрудников</a:t>
            </a:r>
            <a:endParaRPr lang="ru-RU" b="1" u="sng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5819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Организация ИТ-службы предприятия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F747687-A985-4E1F-89D5-BD801505D8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2684594"/>
            <a:ext cx="268247" cy="26215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6C26865-1647-4C90-B764-07D0F3DD9B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3080648"/>
            <a:ext cx="268247" cy="26215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038BFBA-42AC-438A-B99D-E56035D382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3740652"/>
            <a:ext cx="268247" cy="26215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0363A09-42F8-45E6-B3AB-B0D2376266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1" y="4136706"/>
            <a:ext cx="268247" cy="262151"/>
          </a:xfrm>
          <a:prstGeom prst="rect">
            <a:avLst/>
          </a:prstGeom>
        </p:spPr>
      </p:pic>
      <p:pic>
        <p:nvPicPr>
          <p:cNvPr id="18" name="Picture 2" descr="Процессы, функции, роли в процессной модели управления">
            <a:extLst>
              <a:ext uri="{FF2B5EF4-FFF2-40B4-BE49-F238E27FC236}">
                <a16:creationId xmlns:a16="http://schemas.microsoft.com/office/drawing/2014/main" id="{D9475F6A-896A-43C9-9E6B-B4B341041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11" y="2282790"/>
            <a:ext cx="363855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1790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21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8293237" cy="3804247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Варианты перехода к «процессной» организации</a:t>
            </a:r>
            <a:endParaRPr lang="ru-RU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формализации опыта данной организации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использование </a:t>
            </a:r>
            <a:r>
              <a:rPr lang="ru-RU" u="sng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типовых моделей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бизнес-процессов</a:t>
            </a:r>
          </a:p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Преимущества типовых моделей</a:t>
            </a:r>
            <a:endParaRPr lang="ru-RU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обобщенный опыт управления службой ИТ в тысячах компаний 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планирование конечной цели пошагового внедрения 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общий словарь терминологии упрощает координацию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доступность стороннего ПО поддерживающего управление инфраструктурой и службой ИТ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доступность инфраструктуры сертификации специалистов</a:t>
            </a: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5819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Организация ИТ-службы предприятия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64C4650-15FB-4BF8-9E24-726F62DB45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2684594"/>
            <a:ext cx="268247" cy="26215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FF0ECB4-DEE7-4DB5-BB95-77744148C5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3080648"/>
            <a:ext cx="268247" cy="26215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33EF6D8-EE5C-46A3-90D4-B036EE135C8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663908" y="2894110"/>
            <a:ext cx="635226" cy="635226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DB801B2D-C2AC-4954-A125-456EDDD784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1" y="3872371"/>
            <a:ext cx="268247" cy="262151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3A97394-82A2-4C40-9918-8C0A08B251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712" y="4255727"/>
            <a:ext cx="268247" cy="262151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4F73BAD-425A-4BB3-BD69-B883E24E82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68" y="4639083"/>
            <a:ext cx="268247" cy="262151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816A8FFE-1B91-4029-A78D-86571D4C40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656" y="5022440"/>
            <a:ext cx="268247" cy="262151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5A41031-5F45-4F51-9DC8-3899B7A875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68" y="5675787"/>
            <a:ext cx="268247" cy="2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46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22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8293237" cy="3804247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ITSM</a:t>
            </a: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модели управления качеством информационных услуг (Information Technology Service Management)</a:t>
            </a:r>
            <a:endParaRPr lang="ru-RU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глоссарий: содержат понятийный аппарат предметной области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основаны на понятиях сервиса и процесса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описывают типовые процессы ИТ-служб и лучшие практики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необходима настройка процессов для конкретного предприятия</a:t>
            </a:r>
          </a:p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Методики </a:t>
            </a:r>
            <a:r>
              <a:rPr lang="en-US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ITSM</a:t>
            </a:r>
            <a:endParaRPr lang="ru-RU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Information Technology Infrastructure Library (ITIL)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Microsoft Operations Framework (MOF)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ITSM HP Reference Model</a:t>
            </a:r>
            <a:endParaRPr lang="ru-RU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5819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Организация ИТ-службы предприятия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1A35755-B44A-40BC-9236-80E828417C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2971228"/>
            <a:ext cx="268247" cy="26215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F747687-A985-4E1F-89D5-BD801505D8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3" y="3354032"/>
            <a:ext cx="268247" cy="26215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6C26865-1647-4C90-B764-07D0F3DD9B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3" y="3736836"/>
            <a:ext cx="268247" cy="262151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EBB83A5-9AB0-42B1-BC65-4357090BFE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3" y="4119641"/>
            <a:ext cx="268247" cy="26215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7A3D6E21-BD2B-4F93-8F87-A062B43B0F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3" y="4885221"/>
            <a:ext cx="268247" cy="262151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5D88BE5-EE9D-4E9E-B4D6-9FA91B6D72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02" y="5277373"/>
            <a:ext cx="268247" cy="262151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2BF14CA-A584-4522-97E6-515E7E1B77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02" y="5669525"/>
            <a:ext cx="268247" cy="262151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90C783B0-452A-4500-985C-F793A64E757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088873" y="4723187"/>
            <a:ext cx="635226" cy="63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545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page number">
            <a:extLst>
              <a:ext uri="{FF2B5EF4-FFF2-40B4-BE49-F238E27FC236}">
                <a16:creationId xmlns:a16="http://schemas.microsoft.com/office/drawing/2014/main" id="{912DEE05-3897-4622-BECE-32CDEA3BA586}"/>
              </a:ext>
            </a:extLst>
          </p:cNvPr>
          <p:cNvGrpSpPr/>
          <p:nvPr/>
        </p:nvGrpSpPr>
        <p:grpSpPr>
          <a:xfrm>
            <a:off x="11354291" y="6242955"/>
            <a:ext cx="525720" cy="365125"/>
            <a:chOff x="11354291" y="6242955"/>
            <a:chExt cx="525720" cy="365125"/>
          </a:xfrm>
        </p:grpSpPr>
        <p:sp>
          <p:nvSpPr>
            <p:cNvPr id="54" name="page number">
              <a:extLst>
                <a:ext uri="{FF2B5EF4-FFF2-40B4-BE49-F238E27FC236}">
                  <a16:creationId xmlns:a16="http://schemas.microsoft.com/office/drawing/2014/main" id="{7E11964B-BF3C-4168-801A-9EA4210EDDC9}"/>
                </a:ext>
              </a:extLst>
            </p:cNvPr>
            <p:cNvSpPr txBox="1">
              <a:spLocks/>
            </p:cNvSpPr>
            <p:nvPr/>
          </p:nvSpPr>
          <p:spPr>
            <a:xfrm>
              <a:off x="11354291" y="6242955"/>
              <a:ext cx="46623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23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5" name="rectangles">
              <a:extLst>
                <a:ext uri="{FF2B5EF4-FFF2-40B4-BE49-F238E27FC236}">
                  <a16:creationId xmlns:a16="http://schemas.microsoft.com/office/drawing/2014/main" id="{AADED0D1-5832-45D6-A9E2-8F52D2554263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56" name="rectangle">
                <a:extLst>
                  <a:ext uri="{FF2B5EF4-FFF2-40B4-BE49-F238E27FC236}">
                    <a16:creationId xmlns:a16="http://schemas.microsoft.com/office/drawing/2014/main" id="{36B4B861-21D0-41BB-BB10-65954A072121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7" name="rectangle">
                <a:extLst>
                  <a:ext uri="{FF2B5EF4-FFF2-40B4-BE49-F238E27FC236}">
                    <a16:creationId xmlns:a16="http://schemas.microsoft.com/office/drawing/2014/main" id="{B96B9734-06F7-42EF-A63F-07DDFE80EC20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8" name="rectangle">
                <a:extLst>
                  <a:ext uri="{FF2B5EF4-FFF2-40B4-BE49-F238E27FC236}">
                    <a16:creationId xmlns:a16="http://schemas.microsoft.com/office/drawing/2014/main" id="{8D843A73-4A00-4EB5-BF10-46CBA15B0CB3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9" name="rectangle">
                <a:extLst>
                  <a:ext uri="{FF2B5EF4-FFF2-40B4-BE49-F238E27FC236}">
                    <a16:creationId xmlns:a16="http://schemas.microsoft.com/office/drawing/2014/main" id="{B530E3A9-4818-4541-BE35-5AD789D1390D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cxnSp>
        <p:nvCxnSpPr>
          <p:cNvPr id="5" name="line">
            <a:extLst>
              <a:ext uri="{FF2B5EF4-FFF2-40B4-BE49-F238E27FC236}">
                <a16:creationId xmlns:a16="http://schemas.microsoft.com/office/drawing/2014/main" id="{295BB422-C9FD-4684-A7D0-820E305493CB}"/>
              </a:ext>
            </a:extLst>
          </p:cNvPr>
          <p:cNvCxnSpPr/>
          <p:nvPr/>
        </p:nvCxnSpPr>
        <p:spPr>
          <a:xfrm>
            <a:off x="371475" y="200025"/>
            <a:ext cx="0" cy="6457950"/>
          </a:xfrm>
          <a:prstGeom prst="line">
            <a:avLst/>
          </a:prstGeom>
          <a:ln w="9525" cap="rnd">
            <a:solidFill>
              <a:srgbClr val="D2D5DC"/>
            </a:solidFill>
            <a:prstDash val="dash"/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ellipses">
            <a:extLst>
              <a:ext uri="{FF2B5EF4-FFF2-40B4-BE49-F238E27FC236}">
                <a16:creationId xmlns:a16="http://schemas.microsoft.com/office/drawing/2014/main" id="{9347D5E7-7D89-493D-8656-7659D3DE9B68}"/>
              </a:ext>
            </a:extLst>
          </p:cNvPr>
          <p:cNvGrpSpPr/>
          <p:nvPr/>
        </p:nvGrpSpPr>
        <p:grpSpPr>
          <a:xfrm>
            <a:off x="170760" y="1699152"/>
            <a:ext cx="3970151" cy="3970151"/>
            <a:chOff x="170760" y="1699152"/>
            <a:chExt cx="3970151" cy="3970151"/>
          </a:xfrm>
        </p:grpSpPr>
        <p:sp>
          <p:nvSpPr>
            <p:cNvPr id="6" name="arc">
              <a:extLst>
                <a:ext uri="{FF2B5EF4-FFF2-40B4-BE49-F238E27FC236}">
                  <a16:creationId xmlns:a16="http://schemas.microsoft.com/office/drawing/2014/main" id="{73663D9A-E2ED-483B-92D4-F52D81827096}"/>
                </a:ext>
              </a:extLst>
            </p:cNvPr>
            <p:cNvSpPr/>
            <p:nvPr/>
          </p:nvSpPr>
          <p:spPr>
            <a:xfrm>
              <a:off x="170760" y="1699152"/>
              <a:ext cx="3970151" cy="3970151"/>
            </a:xfrm>
            <a:prstGeom prst="arc">
              <a:avLst>
                <a:gd name="adj1" fmla="val 16200000"/>
                <a:gd name="adj2" fmla="val 5433205"/>
              </a:avLst>
            </a:prstGeom>
            <a:ln w="53975">
              <a:gradFill>
                <a:gsLst>
                  <a:gs pos="82000">
                    <a:srgbClr val="D9D9D9"/>
                  </a:gs>
                  <a:gs pos="0">
                    <a:schemeClr val="bg1">
                      <a:lumMod val="85000"/>
                      <a:alpha val="0"/>
                    </a:schemeClr>
                  </a:gs>
                  <a:gs pos="20000">
                    <a:schemeClr val="bg1">
                      <a:lumMod val="85000"/>
                    </a:schemeClr>
                  </a:gs>
                  <a:gs pos="100000">
                    <a:schemeClr val="bg1">
                      <a:lumMod val="85000"/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8" name="ellipse 3">
              <a:extLst>
                <a:ext uri="{FF2B5EF4-FFF2-40B4-BE49-F238E27FC236}">
                  <a16:creationId xmlns:a16="http://schemas.microsoft.com/office/drawing/2014/main" id="{3853C6DF-667A-4E6F-978A-15BADA21E1BB}"/>
                </a:ext>
              </a:extLst>
            </p:cNvPr>
            <p:cNvSpPr/>
            <p:nvPr/>
          </p:nvSpPr>
          <p:spPr>
            <a:xfrm>
              <a:off x="551142" y="2888363"/>
              <a:ext cx="2504715" cy="2504715"/>
            </a:xfrm>
            <a:prstGeom prst="ellipse">
              <a:avLst/>
            </a:prstGeom>
            <a:solidFill>
              <a:srgbClr val="C7E0F8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ellipse 2">
              <a:extLst>
                <a:ext uri="{FF2B5EF4-FFF2-40B4-BE49-F238E27FC236}">
                  <a16:creationId xmlns:a16="http://schemas.microsoft.com/office/drawing/2014/main" id="{390F41F4-E352-44D7-888E-E0E01D72234D}"/>
                </a:ext>
              </a:extLst>
            </p:cNvPr>
            <p:cNvSpPr/>
            <p:nvPr/>
          </p:nvSpPr>
          <p:spPr>
            <a:xfrm>
              <a:off x="852995" y="1844662"/>
              <a:ext cx="2504715" cy="2504715"/>
            </a:xfrm>
            <a:prstGeom prst="ellipse">
              <a:avLst/>
            </a:prstGeom>
            <a:solidFill>
              <a:srgbClr val="2784E1">
                <a:alpha val="1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ellipse 1">
              <a:extLst>
                <a:ext uri="{FF2B5EF4-FFF2-40B4-BE49-F238E27FC236}">
                  <a16:creationId xmlns:a16="http://schemas.microsoft.com/office/drawing/2014/main" id="{3E6BF43C-B90A-4575-B653-3ED8584DE6B3}"/>
                </a:ext>
              </a:extLst>
            </p:cNvPr>
            <p:cNvSpPr/>
            <p:nvPr/>
          </p:nvSpPr>
          <p:spPr>
            <a:xfrm>
              <a:off x="1463873" y="2230354"/>
              <a:ext cx="2504715" cy="2504715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 l="-11085" r="-1108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2002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Содержание</a:t>
            </a:r>
          </a:p>
        </p:txBody>
      </p:sp>
      <p:grpSp>
        <p:nvGrpSpPr>
          <p:cNvPr id="37" name="item">
            <a:extLst>
              <a:ext uri="{FF2B5EF4-FFF2-40B4-BE49-F238E27FC236}">
                <a16:creationId xmlns:a16="http://schemas.microsoft.com/office/drawing/2014/main" id="{221C4C0D-14F2-4C39-A014-24A729FD3A1D}"/>
              </a:ext>
            </a:extLst>
          </p:cNvPr>
          <p:cNvGrpSpPr/>
          <p:nvPr/>
        </p:nvGrpSpPr>
        <p:grpSpPr>
          <a:xfrm>
            <a:off x="2510260" y="1356632"/>
            <a:ext cx="9304737" cy="374571"/>
            <a:chOff x="2447925" y="1328372"/>
            <a:chExt cx="9304737" cy="374571"/>
          </a:xfrm>
        </p:grpSpPr>
        <p:cxnSp>
          <p:nvCxnSpPr>
            <p:cNvPr id="12" name="bullet">
              <a:extLst>
                <a:ext uri="{FF2B5EF4-FFF2-40B4-BE49-F238E27FC236}">
                  <a16:creationId xmlns:a16="http://schemas.microsoft.com/office/drawing/2014/main" id="{6582700A-341D-4AB7-A4FD-16B1CDF2DEB6}"/>
                </a:ext>
              </a:extLst>
            </p:cNvPr>
            <p:cNvCxnSpPr>
              <a:cxnSpLocks/>
            </p:cNvCxnSpPr>
            <p:nvPr/>
          </p:nvCxnSpPr>
          <p:spPr>
            <a:xfrm>
              <a:off x="2447925" y="1524000"/>
              <a:ext cx="571500" cy="0"/>
            </a:xfrm>
            <a:prstGeom prst="line">
              <a:avLst/>
            </a:prstGeom>
            <a:ln w="9525">
              <a:solidFill>
                <a:srgbClr val="A61500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">
              <a:extLst>
                <a:ext uri="{FF2B5EF4-FFF2-40B4-BE49-F238E27FC236}">
                  <a16:creationId xmlns:a16="http://schemas.microsoft.com/office/drawing/2014/main" id="{B5599E9C-EAB8-4072-B6F9-885AEA32892C}"/>
                </a:ext>
              </a:extLst>
            </p:cNvPr>
            <p:cNvSpPr txBox="1"/>
            <p:nvPr/>
          </p:nvSpPr>
          <p:spPr>
            <a:xfrm>
              <a:off x="3238912" y="1360598"/>
              <a:ext cx="31361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600" b="1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Структура курса, литература</a:t>
              </a:r>
            </a:p>
          </p:txBody>
        </p:sp>
        <p:sp>
          <p:nvSpPr>
            <p:cNvPr id="29" name="page number">
              <a:extLst>
                <a:ext uri="{FF2B5EF4-FFF2-40B4-BE49-F238E27FC236}">
                  <a16:creationId xmlns:a16="http://schemas.microsoft.com/office/drawing/2014/main" id="{5EE126A1-104A-4943-9B53-776C81A0A372}"/>
                </a:ext>
              </a:extLst>
            </p:cNvPr>
            <p:cNvSpPr txBox="1">
              <a:spLocks/>
            </p:cNvSpPr>
            <p:nvPr/>
          </p:nvSpPr>
          <p:spPr>
            <a:xfrm>
              <a:off x="11248662" y="1328372"/>
              <a:ext cx="504000" cy="374571"/>
            </a:xfrm>
            <a:prstGeom prst="roundRect">
              <a:avLst>
                <a:gd name="adj" fmla="val 16667"/>
              </a:avLst>
            </a:prstGeom>
            <a:solidFill>
              <a:srgbClr val="AB2003"/>
            </a:solidFill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38" name="item">
            <a:extLst>
              <a:ext uri="{FF2B5EF4-FFF2-40B4-BE49-F238E27FC236}">
                <a16:creationId xmlns:a16="http://schemas.microsoft.com/office/drawing/2014/main" id="{D4277843-AE51-4C20-BB0D-0A30D9DBE729}"/>
              </a:ext>
            </a:extLst>
          </p:cNvPr>
          <p:cNvGrpSpPr/>
          <p:nvPr/>
        </p:nvGrpSpPr>
        <p:grpSpPr>
          <a:xfrm>
            <a:off x="4141179" y="2557036"/>
            <a:ext cx="7673818" cy="374571"/>
            <a:chOff x="3357710" y="1927264"/>
            <a:chExt cx="8394952" cy="374571"/>
          </a:xfrm>
        </p:grpSpPr>
        <p:cxnSp>
          <p:nvCxnSpPr>
            <p:cNvPr id="14" name="bullet">
              <a:extLst>
                <a:ext uri="{FF2B5EF4-FFF2-40B4-BE49-F238E27FC236}">
                  <a16:creationId xmlns:a16="http://schemas.microsoft.com/office/drawing/2014/main" id="{7E4304D3-B9E7-4D1C-AC18-C7FF1EF29168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>
              <a:off x="3357710" y="2114550"/>
              <a:ext cx="616315" cy="0"/>
            </a:xfrm>
            <a:prstGeom prst="line">
              <a:avLst/>
            </a:prstGeom>
            <a:ln w="9525">
              <a:solidFill>
                <a:srgbClr val="86B9EE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">
              <a:extLst>
                <a:ext uri="{FF2B5EF4-FFF2-40B4-BE49-F238E27FC236}">
                  <a16:creationId xmlns:a16="http://schemas.microsoft.com/office/drawing/2014/main" id="{BBA0248A-DC19-4AB9-BB51-C07D5BCA6CFF}"/>
                </a:ext>
              </a:extLst>
            </p:cNvPr>
            <p:cNvSpPr txBox="1"/>
            <p:nvPr/>
          </p:nvSpPr>
          <p:spPr>
            <a:xfrm>
              <a:off x="3974025" y="1945273"/>
              <a:ext cx="184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ru-RU" sz="1600" dirty="0">
                <a:solidFill>
                  <a:srgbClr val="0B2D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page number">
              <a:extLst>
                <a:ext uri="{FF2B5EF4-FFF2-40B4-BE49-F238E27FC236}">
                  <a16:creationId xmlns:a16="http://schemas.microsoft.com/office/drawing/2014/main" id="{7F746E45-5393-440E-A4C4-7F3F839265D6}"/>
                </a:ext>
              </a:extLst>
            </p:cNvPr>
            <p:cNvSpPr txBox="1">
              <a:spLocks/>
            </p:cNvSpPr>
            <p:nvPr/>
          </p:nvSpPr>
          <p:spPr>
            <a:xfrm>
              <a:off x="11248662" y="1927264"/>
              <a:ext cx="504000" cy="374571"/>
            </a:xfrm>
            <a:prstGeom prst="roundRect">
              <a:avLst>
                <a:gd name="adj" fmla="val 16667"/>
              </a:avLst>
            </a:prstGeom>
            <a:solidFill>
              <a:srgbClr val="86BAEC"/>
            </a:solidFill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41" name="item">
            <a:extLst>
              <a:ext uri="{FF2B5EF4-FFF2-40B4-BE49-F238E27FC236}">
                <a16:creationId xmlns:a16="http://schemas.microsoft.com/office/drawing/2014/main" id="{BEFC191C-ACA0-4A3D-AD6A-C2607FA7BA7D}"/>
              </a:ext>
            </a:extLst>
          </p:cNvPr>
          <p:cNvGrpSpPr/>
          <p:nvPr/>
        </p:nvGrpSpPr>
        <p:grpSpPr>
          <a:xfrm>
            <a:off x="4203246" y="3779242"/>
            <a:ext cx="7611751" cy="864156"/>
            <a:chOff x="4140911" y="3412513"/>
            <a:chExt cx="7611751" cy="884828"/>
          </a:xfrm>
        </p:grpSpPr>
        <p:cxnSp>
          <p:nvCxnSpPr>
            <p:cNvPr id="17" name="bullet">
              <a:extLst>
                <a:ext uri="{FF2B5EF4-FFF2-40B4-BE49-F238E27FC236}">
                  <a16:creationId xmlns:a16="http://schemas.microsoft.com/office/drawing/2014/main" id="{50A487FB-46D1-441A-B9D4-73F3A764D96B}"/>
                </a:ext>
              </a:extLst>
            </p:cNvPr>
            <p:cNvCxnSpPr>
              <a:cxnSpLocks/>
            </p:cNvCxnSpPr>
            <p:nvPr/>
          </p:nvCxnSpPr>
          <p:spPr>
            <a:xfrm>
              <a:off x="4140911" y="3775370"/>
              <a:ext cx="571500" cy="0"/>
            </a:xfrm>
            <a:prstGeom prst="line">
              <a:avLst/>
            </a:prstGeom>
            <a:ln w="9525">
              <a:solidFill>
                <a:srgbClr val="2986E2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">
              <a:extLst>
                <a:ext uri="{FF2B5EF4-FFF2-40B4-BE49-F238E27FC236}">
                  <a16:creationId xmlns:a16="http://schemas.microsoft.com/office/drawing/2014/main" id="{B9FCA255-5FB9-49B2-8622-2A25CFD5C1DB}"/>
                </a:ext>
              </a:extLst>
            </p:cNvPr>
            <p:cNvSpPr txBox="1"/>
            <p:nvPr/>
          </p:nvSpPr>
          <p:spPr>
            <a:xfrm>
              <a:off x="4818984" y="3466344"/>
              <a:ext cx="520841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b="1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Организация ИТ-службы предприятия</a:t>
              </a:r>
              <a:br>
                <a:rPr lang="en-US" sz="1600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ru-RU" sz="1600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Функциональные и процессные модели службы ИС предприятия</a:t>
              </a:r>
            </a:p>
          </p:txBody>
        </p:sp>
        <p:sp>
          <p:nvSpPr>
            <p:cNvPr id="33" name="page number">
              <a:extLst>
                <a:ext uri="{FF2B5EF4-FFF2-40B4-BE49-F238E27FC236}">
                  <a16:creationId xmlns:a16="http://schemas.microsoft.com/office/drawing/2014/main" id="{0C4D9451-5D1C-4F82-B6C9-DA2DC275A42C}"/>
                </a:ext>
              </a:extLst>
            </p:cNvPr>
            <p:cNvSpPr txBox="1">
              <a:spLocks/>
            </p:cNvSpPr>
            <p:nvPr/>
          </p:nvSpPr>
          <p:spPr>
            <a:xfrm>
              <a:off x="11248662" y="3412513"/>
              <a:ext cx="504000" cy="374571"/>
            </a:xfrm>
            <a:prstGeom prst="roundRect">
              <a:avLst>
                <a:gd name="adj" fmla="val 16667"/>
              </a:avLst>
            </a:prstGeom>
            <a:solidFill>
              <a:srgbClr val="2986E2"/>
            </a:solidFill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4" name="item">
            <a:extLst>
              <a:ext uri="{FF2B5EF4-FFF2-40B4-BE49-F238E27FC236}">
                <a16:creationId xmlns:a16="http://schemas.microsoft.com/office/drawing/2014/main" id="{CE935143-B815-4278-B5D4-1CD322CAADBF}"/>
              </a:ext>
            </a:extLst>
          </p:cNvPr>
          <p:cNvGrpSpPr/>
          <p:nvPr/>
        </p:nvGrpSpPr>
        <p:grpSpPr>
          <a:xfrm>
            <a:off x="2489145" y="5512215"/>
            <a:ext cx="9325852" cy="584775"/>
            <a:chOff x="2447925" y="5512215"/>
            <a:chExt cx="9325852" cy="584775"/>
          </a:xfrm>
        </p:grpSpPr>
        <p:cxnSp>
          <p:nvCxnSpPr>
            <p:cNvPr id="20" name="bullet">
              <a:extLst>
                <a:ext uri="{FF2B5EF4-FFF2-40B4-BE49-F238E27FC236}">
                  <a16:creationId xmlns:a16="http://schemas.microsoft.com/office/drawing/2014/main" id="{5B9AB7B6-DDC8-49A9-9301-10DA13363AD0}"/>
                </a:ext>
              </a:extLst>
            </p:cNvPr>
            <p:cNvCxnSpPr>
              <a:cxnSpLocks/>
            </p:cNvCxnSpPr>
            <p:nvPr/>
          </p:nvCxnSpPr>
          <p:spPr>
            <a:xfrm>
              <a:off x="2447925" y="5829299"/>
              <a:ext cx="571500" cy="0"/>
            </a:xfrm>
            <a:prstGeom prst="line">
              <a:avLst/>
            </a:prstGeom>
            <a:ln w="9525">
              <a:solidFill>
                <a:srgbClr val="C59E59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">
              <a:extLst>
                <a:ext uri="{FF2B5EF4-FFF2-40B4-BE49-F238E27FC236}">
                  <a16:creationId xmlns:a16="http://schemas.microsoft.com/office/drawing/2014/main" id="{3F145565-7D7D-4390-A4BF-5295E88FDA42}"/>
                </a:ext>
              </a:extLst>
            </p:cNvPr>
            <p:cNvSpPr txBox="1"/>
            <p:nvPr/>
          </p:nvSpPr>
          <p:spPr>
            <a:xfrm>
              <a:off x="3213000" y="5512215"/>
              <a:ext cx="68721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600" b="1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Библиотека инфраструктуры информационных технологий (ITIL)</a:t>
              </a:r>
              <a:br>
                <a:rPr lang="ru-RU" sz="1600" b="1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ru-RU" sz="1600" dirty="0">
                  <a:solidFill>
                    <a:srgbClr val="0B2D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Общие сведения о библиотеке ITIL. Построение стратегии.</a:t>
              </a:r>
            </a:p>
          </p:txBody>
        </p:sp>
        <p:sp>
          <p:nvSpPr>
            <p:cNvPr id="36" name="page number">
              <a:extLst>
                <a:ext uri="{FF2B5EF4-FFF2-40B4-BE49-F238E27FC236}">
                  <a16:creationId xmlns:a16="http://schemas.microsoft.com/office/drawing/2014/main" id="{881BBE25-2633-4925-8AE7-9CB98088263F}"/>
                </a:ext>
              </a:extLst>
            </p:cNvPr>
            <p:cNvSpPr txBox="1">
              <a:spLocks/>
            </p:cNvSpPr>
            <p:nvPr/>
          </p:nvSpPr>
          <p:spPr>
            <a:xfrm>
              <a:off x="11269777" y="5621463"/>
              <a:ext cx="504000" cy="374571"/>
            </a:xfrm>
            <a:prstGeom prst="roundRect">
              <a:avLst>
                <a:gd name="adj" fmla="val 16667"/>
              </a:avLst>
            </a:prstGeom>
            <a:solidFill>
              <a:srgbClr val="C59E59"/>
            </a:solidFill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51" name="Рисунок 50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860DBFE6-C0FB-431C-B908-1209EE4A05F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DB64C8CC-1B20-4F01-8997-1FA1F280D3D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sp>
        <p:nvSpPr>
          <p:cNvPr id="50" name="text">
            <a:extLst>
              <a:ext uri="{FF2B5EF4-FFF2-40B4-BE49-F238E27FC236}">
                <a16:creationId xmlns:a16="http://schemas.microsoft.com/office/drawing/2014/main" id="{696B3B12-5E49-42BA-9F9D-5CBFF4177F13}"/>
              </a:ext>
            </a:extLst>
          </p:cNvPr>
          <p:cNvSpPr txBox="1"/>
          <p:nvPr/>
        </p:nvSpPr>
        <p:spPr>
          <a:xfrm>
            <a:off x="4876607" y="2414378"/>
            <a:ext cx="39260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rgbClr val="0B2D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Основные понятия ИТ-менеджмента</a:t>
            </a:r>
            <a:br>
              <a:rPr lang="ru-RU" sz="1600" b="1" dirty="0">
                <a:solidFill>
                  <a:srgbClr val="0B2D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600" dirty="0">
                <a:solidFill>
                  <a:srgbClr val="0B2D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Понятие и характеристики ИТ-сервиса</a:t>
            </a:r>
            <a:br>
              <a:rPr lang="ru-RU" sz="1600" b="1" dirty="0">
                <a:solidFill>
                  <a:srgbClr val="0B2D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1600" b="1" dirty="0">
              <a:solidFill>
                <a:srgbClr val="0B2D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0" name="Рисунок 59"/>
          <p:cNvPicPr>
            <a:picLocks noChangeAspect="1"/>
          </p:cNvPicPr>
          <p:nvPr/>
        </p:nvPicPr>
        <p:blipFill>
          <a:blip r:embed="rId5" cstate="hq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319933" y="5384597"/>
            <a:ext cx="635226" cy="63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068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24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8293237" cy="4589077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  <a:r>
              <a:rPr lang="en-US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989</a:t>
            </a: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</a:t>
            </a:r>
            <a:r>
              <a:rPr lang="en-US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ITIL</a:t>
            </a: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издается британским правительственным агентством «</a:t>
            </a:r>
            <a:r>
              <a:rPr lang="en-US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Office of Government Commerce</a:t>
            </a: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» (свободное использование)</a:t>
            </a:r>
            <a:endParaRPr lang="en-US" b="1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2001: ITIL v2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200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7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ITIL v3</a:t>
            </a:r>
            <a:endParaRPr lang="ru-RU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2011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ITIL 2011 (~v3.1)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2019: ITIL 4</a:t>
            </a:r>
          </a:p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Ядро </a:t>
            </a:r>
            <a:r>
              <a:rPr lang="en-US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ITIL (</a:t>
            </a: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«</a:t>
            </a:r>
            <a:r>
              <a:rPr lang="en-US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core publications</a:t>
            </a: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»</a:t>
            </a:r>
            <a:r>
              <a:rPr lang="en-US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)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Планирование услуг (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Service Strategies)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Проектирование услуг (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Service Design)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Внедрение услуг (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Service Transition)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Эксплуатация услуг (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Service Operation)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Непрерывное улучшение услуг (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Continuous Service Improvement)</a:t>
            </a: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2483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Введение в ITIL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1A35755-B44A-40BC-9236-80E828417C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2924095"/>
            <a:ext cx="268247" cy="26215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F747687-A985-4E1F-89D5-BD801505D8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3325045"/>
            <a:ext cx="268247" cy="262151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38E85067-602B-4106-8578-214D31C9AB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1" y="3725995"/>
            <a:ext cx="268247" cy="26215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12B4115-3F91-4EDF-88BC-60FB856F529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46053" y="3539457"/>
            <a:ext cx="635226" cy="635226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95AF8F0-A051-4674-A8BF-728D22CDD6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4886823"/>
            <a:ext cx="268247" cy="26215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08DBFDA6-FCF0-4522-A8AE-68D13A963C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3" y="5269627"/>
            <a:ext cx="268247" cy="262151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342BFB51-74E6-4D51-A851-D15BC7803F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0" y="5665509"/>
            <a:ext cx="268247" cy="262151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A4C45D35-EF14-4B28-9CE1-1295BAF69A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1" y="6043494"/>
            <a:ext cx="268247" cy="262151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D9E86C16-BC26-44D8-A271-39F6C7EC2D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" y="6453636"/>
            <a:ext cx="268247" cy="262151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1F0E157B-608B-4C68-8633-25D5D2CD00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0" y="4126944"/>
            <a:ext cx="268247" cy="2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193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25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8293237" cy="4404411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Процессы </a:t>
            </a:r>
            <a:r>
              <a:rPr lang="en-US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ITIL v3 </a:t>
            </a: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определяют взаимодействие «поставщика услуг» и «заказчика услуг»</a:t>
            </a:r>
            <a:endParaRPr lang="en-US" b="1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заказчик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(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customer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): субъект, заключающий соглашение на предоставление услуг и отвечающий за оплату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поставщик услуг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(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service provider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): организация, поставляющая услуги внешним и внутренним заказчикам</a:t>
            </a:r>
          </a:p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ИТ-услуга</a:t>
            </a: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(==сервис): способ принесения выгоды заказчикам через содействие в достижении желаемых результатов способом, который не вызывает определенные риски и затраты со стороны заказчиков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удовлетворяет потребности заказчика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способствует достижению бизнес-цели заказчика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воспринимается как готовый к использованию продукт</a:t>
            </a: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2483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Введение в ITIL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96B1B53-C93F-4FF2-8122-0555CEA085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5507043"/>
            <a:ext cx="268247" cy="26215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53166E8-3D43-40CB-9BD5-819C0EAD41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5895434"/>
            <a:ext cx="268247" cy="26215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222607E-F28B-49AC-9FF1-E0B711E5D4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6283825"/>
            <a:ext cx="268247" cy="26215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8DDE9F1-E1B9-4C56-ACCC-197E9014E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2972804"/>
            <a:ext cx="268247" cy="26215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E151709-AB45-4144-BE9E-CAF9ECDC8B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3634573"/>
            <a:ext cx="268247" cy="2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6433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26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8293237" cy="2950167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ИТ-услуга</a:t>
            </a: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(==сервис): способ принесения выгоды заказчикам через </a:t>
            </a:r>
            <a:r>
              <a:rPr lang="ru-RU" b="1" u="sng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содействие в достижении желаемых результатов …</a:t>
            </a:r>
          </a:p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Пример: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u="sng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желаемые результаты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сотрудники отдела продаж получают больше возможностей для личного взаимодействия с клиентами</a:t>
            </a:r>
            <a:endParaRPr lang="en-US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u="sng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сервис, оказывающий содействие в достижении желаемых результатов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сервис удаленного доступа, который предоставляет надежный и защищенный канал доступа к корпоративной системе управления продажами с ноутбуков сотрудников отдела продаж</a:t>
            </a: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2483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Введение в ITIL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8DDE9F1-E1B9-4C56-ACCC-197E9014E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3359302"/>
            <a:ext cx="268247" cy="26215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E151709-AB45-4144-BE9E-CAF9ECDC8B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4021071"/>
            <a:ext cx="268247" cy="2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1611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27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2483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Введение в ITIL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9F0C16D-6A34-41F6-BB07-A76D65FE268D}"/>
              </a:ext>
            </a:extLst>
          </p:cNvPr>
          <p:cNvSpPr/>
          <p:nvPr/>
        </p:nvSpPr>
        <p:spPr>
          <a:xfrm>
            <a:off x="4456295" y="3543153"/>
            <a:ext cx="1677971" cy="716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Услуга хранения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23BDF1D-0D55-43C9-BD18-34900C47504C}"/>
              </a:ext>
            </a:extLst>
          </p:cNvPr>
          <p:cNvSpPr/>
          <p:nvPr/>
        </p:nvSpPr>
        <p:spPr>
          <a:xfrm>
            <a:off x="6663145" y="3010400"/>
            <a:ext cx="1677971" cy="716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Хранить что?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A85F13D-0E87-444D-8030-681E71046F98}"/>
              </a:ext>
            </a:extLst>
          </p:cNvPr>
          <p:cNvSpPr/>
          <p:nvPr/>
        </p:nvSpPr>
        <p:spPr>
          <a:xfrm>
            <a:off x="6663144" y="4049411"/>
            <a:ext cx="1677971" cy="716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Хранить как?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2DC71FA3-3CCF-494B-B8B4-E2963FDA3415}"/>
              </a:ext>
            </a:extLst>
          </p:cNvPr>
          <p:cNvCxnSpPr>
            <a:stCxn id="6" idx="3"/>
            <a:endCxn id="21" idx="1"/>
          </p:cNvCxnSpPr>
          <p:nvPr/>
        </p:nvCxnSpPr>
        <p:spPr>
          <a:xfrm flipV="1">
            <a:off x="6134266" y="3368619"/>
            <a:ext cx="528879" cy="532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57D37824-6AA9-4D0F-823B-113185830737}"/>
              </a:ext>
            </a:extLst>
          </p:cNvPr>
          <p:cNvCxnSpPr>
            <a:stCxn id="6" idx="3"/>
            <a:endCxn id="22" idx="1"/>
          </p:cNvCxnSpPr>
          <p:nvPr/>
        </p:nvCxnSpPr>
        <p:spPr>
          <a:xfrm>
            <a:off x="6134266" y="3901372"/>
            <a:ext cx="528878" cy="5062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C10333D-C84C-4141-BF9E-075B56DEB315}"/>
              </a:ext>
            </a:extLst>
          </p:cNvPr>
          <p:cNvSpPr/>
          <p:nvPr/>
        </p:nvSpPr>
        <p:spPr>
          <a:xfrm>
            <a:off x="9396050" y="1302371"/>
            <a:ext cx="1677971" cy="716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Хранить информацию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E7AEC75-BDC1-40EC-88AE-CF43389D8CA2}"/>
              </a:ext>
            </a:extLst>
          </p:cNvPr>
          <p:cNvSpPr/>
          <p:nvPr/>
        </p:nvSpPr>
        <p:spPr>
          <a:xfrm>
            <a:off x="9396051" y="2156493"/>
            <a:ext cx="1677971" cy="716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Хранить файлы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DE6B996-8822-4D79-B8A3-31BAD9920F8C}"/>
              </a:ext>
            </a:extLst>
          </p:cNvPr>
          <p:cNvSpPr/>
          <p:nvPr/>
        </p:nvSpPr>
        <p:spPr>
          <a:xfrm>
            <a:off x="9396054" y="3010400"/>
            <a:ext cx="1677971" cy="716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Хранить оборудование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D62915F8-9114-41BF-9E7B-350F443199A6}"/>
              </a:ext>
            </a:extLst>
          </p:cNvPr>
          <p:cNvCxnSpPr>
            <a:stCxn id="21" idx="3"/>
            <a:endCxn id="27" idx="1"/>
          </p:cNvCxnSpPr>
          <p:nvPr/>
        </p:nvCxnSpPr>
        <p:spPr>
          <a:xfrm flipV="1">
            <a:off x="8341116" y="1660590"/>
            <a:ext cx="1054934" cy="17080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C40EC58B-CE84-47FF-9BDE-6693B9265CB3}"/>
              </a:ext>
            </a:extLst>
          </p:cNvPr>
          <p:cNvCxnSpPr>
            <a:stCxn id="21" idx="3"/>
            <a:endCxn id="28" idx="1"/>
          </p:cNvCxnSpPr>
          <p:nvPr/>
        </p:nvCxnSpPr>
        <p:spPr>
          <a:xfrm flipV="1">
            <a:off x="8341116" y="2514712"/>
            <a:ext cx="1054935" cy="8539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B4D93196-109D-41A1-A93C-14D5DB5BCC85}"/>
              </a:ext>
            </a:extLst>
          </p:cNvPr>
          <p:cNvCxnSpPr>
            <a:stCxn id="21" idx="3"/>
            <a:endCxn id="29" idx="1"/>
          </p:cNvCxnSpPr>
          <p:nvPr/>
        </p:nvCxnSpPr>
        <p:spPr>
          <a:xfrm>
            <a:off x="8341116" y="3368619"/>
            <a:ext cx="10549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09F73843-3866-4421-8ACE-FF1EF6E9CAA2}"/>
              </a:ext>
            </a:extLst>
          </p:cNvPr>
          <p:cNvSpPr/>
          <p:nvPr/>
        </p:nvSpPr>
        <p:spPr>
          <a:xfrm>
            <a:off x="9396052" y="4049411"/>
            <a:ext cx="1677971" cy="716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Онлайн База данных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EF3DE540-6B93-4A9F-AAC9-B60B5FD5BEFA}"/>
              </a:ext>
            </a:extLst>
          </p:cNvPr>
          <p:cNvSpPr/>
          <p:nvPr/>
        </p:nvSpPr>
        <p:spPr>
          <a:xfrm>
            <a:off x="9396052" y="4928588"/>
            <a:ext cx="1677971" cy="716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Съемные носители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2136BE20-ACE0-472A-8AFA-6C40182B6280}"/>
              </a:ext>
            </a:extLst>
          </p:cNvPr>
          <p:cNvSpPr/>
          <p:nvPr/>
        </p:nvSpPr>
        <p:spPr>
          <a:xfrm>
            <a:off x="9396052" y="5805075"/>
            <a:ext cx="1677971" cy="716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Выделенные помещения</a:t>
            </a:r>
          </a:p>
        </p:txBody>
      </p: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3C8D17DF-1ACE-400E-B42F-A8EBF5CDFB90}"/>
              </a:ext>
            </a:extLst>
          </p:cNvPr>
          <p:cNvCxnSpPr>
            <a:cxnSpLocks/>
          </p:cNvCxnSpPr>
          <p:nvPr/>
        </p:nvCxnSpPr>
        <p:spPr>
          <a:xfrm>
            <a:off x="8341115" y="4407630"/>
            <a:ext cx="10549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id="{FDBB9490-490A-4E79-84F8-B4C52374E8AA}"/>
              </a:ext>
            </a:extLst>
          </p:cNvPr>
          <p:cNvCxnSpPr>
            <a:stCxn id="22" idx="3"/>
            <a:endCxn id="38" idx="1"/>
          </p:cNvCxnSpPr>
          <p:nvPr/>
        </p:nvCxnSpPr>
        <p:spPr>
          <a:xfrm>
            <a:off x="8341115" y="4407630"/>
            <a:ext cx="1054937" cy="8791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>
            <a:extLst>
              <a:ext uri="{FF2B5EF4-FFF2-40B4-BE49-F238E27FC236}">
                <a16:creationId xmlns:a16="http://schemas.microsoft.com/office/drawing/2014/main" id="{CC3F0DC0-411A-45AC-B89C-F5EB41B5F5D0}"/>
              </a:ext>
            </a:extLst>
          </p:cNvPr>
          <p:cNvCxnSpPr>
            <a:stCxn id="22" idx="3"/>
            <a:endCxn id="39" idx="1"/>
          </p:cNvCxnSpPr>
          <p:nvPr/>
        </p:nvCxnSpPr>
        <p:spPr>
          <a:xfrm>
            <a:off x="8341115" y="4407630"/>
            <a:ext cx="1054937" cy="1755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bject 4">
            <a:extLst>
              <a:ext uri="{FF2B5EF4-FFF2-40B4-BE49-F238E27FC236}">
                <a16:creationId xmlns:a16="http://schemas.microsoft.com/office/drawing/2014/main" id="{FE0EE920-997C-452F-904B-ADD6629E34F5}"/>
              </a:ext>
            </a:extLst>
          </p:cNvPr>
          <p:cNvSpPr txBox="1"/>
          <p:nvPr/>
        </p:nvSpPr>
        <p:spPr>
          <a:xfrm>
            <a:off x="616804" y="2166456"/>
            <a:ext cx="4557361" cy="172675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Схема (модель) «услуги хранения»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управление сложностью услуг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описывает множество </a:t>
            </a:r>
            <a:b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</a:b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вариантов использования </a:t>
            </a:r>
            <a:b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</a:b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услуги</a:t>
            </a:r>
          </a:p>
        </p:txBody>
      </p:sp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5315989D-6675-4D18-9EA8-1906D805EF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2699629"/>
            <a:ext cx="268247" cy="262151"/>
          </a:xfrm>
          <a:prstGeom prst="rect">
            <a:avLst/>
          </a:prstGeom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57BCA190-3858-4228-85EE-AA28EC4BCF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3095317"/>
            <a:ext cx="268247" cy="2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731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28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8293237" cy="368883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Ценность услуги</a:t>
            </a: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= полезность + гарантия качества</a:t>
            </a:r>
          </a:p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Полезность услуги</a:t>
            </a: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(Service Utility)- функциональность, которую получает заказчик в результате использования услуги</a:t>
            </a:r>
            <a:endParaRPr lang="en-US" b="1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Гарантия качества услуги</a:t>
            </a: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(</a:t>
            </a:r>
            <a:r>
              <a:rPr lang="en-US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Service Warranty</a:t>
            </a: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) - гарантия того, что услуга будет соответствовать согласованным требованиям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доступность </a:t>
            </a:r>
            <a:endParaRPr lang="en-US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производительность</a:t>
            </a:r>
            <a:endParaRPr lang="en-US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непрерывность</a:t>
            </a:r>
            <a:endParaRPr lang="en-US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безопасность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2483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Введение в ITIL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96B1B53-C93F-4FF2-8122-0555CEA085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4801819"/>
            <a:ext cx="268247" cy="26215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53166E8-3D43-40CB-9BD5-819C0EAD41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5188425"/>
            <a:ext cx="268247" cy="26215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8DDE9F1-E1B9-4C56-ACCC-197E9014E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4028609"/>
            <a:ext cx="268247" cy="26215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E151709-AB45-4144-BE9E-CAF9ECDC8B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4415214"/>
            <a:ext cx="268247" cy="262151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B71860E-1FDD-4EE9-8783-D0D14493A2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28" y="5575031"/>
            <a:ext cx="268247" cy="2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3352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29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49359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Формирование ценности услуги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2C1BB26-333E-4953-AFEB-C58BB9E436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50" y="2551302"/>
            <a:ext cx="7086600" cy="27813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B14D558-8D86-414E-B8A7-D82A6F5BFEDE}"/>
              </a:ext>
            </a:extLst>
          </p:cNvPr>
          <p:cNvSpPr txBox="1"/>
          <p:nvPr/>
        </p:nvSpPr>
        <p:spPr>
          <a:xfrm>
            <a:off x="3401119" y="1895703"/>
            <a:ext cx="1535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Полезность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C65A2A-8034-4D95-88AD-9C1E20E9DD98}"/>
              </a:ext>
            </a:extLst>
          </p:cNvPr>
          <p:cNvSpPr txBox="1"/>
          <p:nvPr/>
        </p:nvSpPr>
        <p:spPr>
          <a:xfrm>
            <a:off x="3548211" y="5596567"/>
            <a:ext cx="1241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Гарантия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A1B96C-79F8-4215-8EB0-0550D48FA9EA}"/>
              </a:ext>
            </a:extLst>
          </p:cNvPr>
          <p:cNvSpPr txBox="1"/>
          <p:nvPr/>
        </p:nvSpPr>
        <p:spPr>
          <a:xfrm>
            <a:off x="735977" y="2551302"/>
            <a:ext cx="2207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/>
              <a:t>Обеспечение производительности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B16367-DCA8-4E64-B2A4-6440BB846A6C}"/>
              </a:ext>
            </a:extLst>
          </p:cNvPr>
          <p:cNvSpPr txBox="1"/>
          <p:nvPr/>
        </p:nvSpPr>
        <p:spPr>
          <a:xfrm>
            <a:off x="1483628" y="3129956"/>
            <a:ext cx="14602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/>
              <a:t>Устранение ограничений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3E28C5-2FBF-4C5C-9D1E-D8B66B5E51C5}"/>
              </a:ext>
            </a:extLst>
          </p:cNvPr>
          <p:cNvSpPr txBox="1"/>
          <p:nvPr/>
        </p:nvSpPr>
        <p:spPr>
          <a:xfrm>
            <a:off x="5700127" y="2971332"/>
            <a:ext cx="1667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Соответствие назначению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BF824D-CA94-45AB-ACF4-4492CF0441BE}"/>
              </a:ext>
            </a:extLst>
          </p:cNvPr>
          <p:cNvSpPr txBox="1"/>
          <p:nvPr/>
        </p:nvSpPr>
        <p:spPr>
          <a:xfrm>
            <a:off x="5700127" y="4229240"/>
            <a:ext cx="16671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Соответствие условиям использования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387D9F8-9530-46C4-87BE-266E9B468147}"/>
              </a:ext>
            </a:extLst>
          </p:cNvPr>
          <p:cNvSpPr txBox="1"/>
          <p:nvPr/>
        </p:nvSpPr>
        <p:spPr>
          <a:xfrm>
            <a:off x="9529540" y="3646710"/>
            <a:ext cx="1329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Создание ценности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40CC253-E17B-4CD3-8D77-110B0ADCC36B}"/>
              </a:ext>
            </a:extLst>
          </p:cNvPr>
          <p:cNvSpPr txBox="1"/>
          <p:nvPr/>
        </p:nvSpPr>
        <p:spPr>
          <a:xfrm>
            <a:off x="1483628" y="4145960"/>
            <a:ext cx="1460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/>
              <a:t>Доступность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687FBA-E31B-4E8C-86DE-A11B638B593F}"/>
              </a:ext>
            </a:extLst>
          </p:cNvPr>
          <p:cNvSpPr txBox="1"/>
          <p:nvPr/>
        </p:nvSpPr>
        <p:spPr>
          <a:xfrm>
            <a:off x="735977" y="4419435"/>
            <a:ext cx="22079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/>
              <a:t>Производительность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42AC9A-B9F7-4BB2-84C9-B0BDD8B9E7C5}"/>
              </a:ext>
            </a:extLst>
          </p:cNvPr>
          <p:cNvSpPr txBox="1"/>
          <p:nvPr/>
        </p:nvSpPr>
        <p:spPr>
          <a:xfrm>
            <a:off x="1086285" y="4692910"/>
            <a:ext cx="1857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/>
              <a:t>Непрерывность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45142A-6EA5-4719-8288-42CC8AD6F371}"/>
              </a:ext>
            </a:extLst>
          </p:cNvPr>
          <p:cNvSpPr txBox="1"/>
          <p:nvPr/>
        </p:nvSpPr>
        <p:spPr>
          <a:xfrm>
            <a:off x="1086285" y="4966384"/>
            <a:ext cx="1857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/>
              <a:t>Безопасность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F05A4B3-8527-4888-BA38-4C0AF68890CD}"/>
              </a:ext>
            </a:extLst>
          </p:cNvPr>
          <p:cNvSpPr txBox="1"/>
          <p:nvPr/>
        </p:nvSpPr>
        <p:spPr>
          <a:xfrm>
            <a:off x="4065212" y="452777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И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826937-6337-4449-B807-10FD5CE2CBA3}"/>
              </a:ext>
            </a:extLst>
          </p:cNvPr>
          <p:cNvSpPr txBox="1"/>
          <p:nvPr/>
        </p:nvSpPr>
        <p:spPr>
          <a:xfrm>
            <a:off x="3900904" y="2945290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ИЛИ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CD19F1-4380-40E7-9E6A-725BB0AC0CEC}"/>
              </a:ext>
            </a:extLst>
          </p:cNvPr>
          <p:cNvSpPr txBox="1"/>
          <p:nvPr/>
        </p:nvSpPr>
        <p:spPr>
          <a:xfrm>
            <a:off x="7797154" y="3737033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И</a:t>
            </a:r>
          </a:p>
        </p:txBody>
      </p:sp>
    </p:spTree>
    <p:extLst>
      <p:ext uri="{BB962C8B-B14F-4D97-AF65-F5344CB8AC3E}">
        <p14:creationId xmlns:p14="http://schemas.microsoft.com/office/powerpoint/2010/main" val="5250921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30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8293237" cy="4635243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Соглашение об уровне сервиса </a:t>
            </a:r>
            <a:r>
              <a:rPr lang="en-US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(Service Level Agreement – SLA)</a:t>
            </a: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определяет взаимные ответственности поставщика ИТ-сервиса (ИТ-службы) и его пользователей (бизнес подразделений)</a:t>
            </a:r>
          </a:p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Структура </a:t>
            </a:r>
            <a:r>
              <a:rPr lang="en-US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SLA</a:t>
            </a:r>
            <a:endParaRPr lang="ru-RU" b="1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определение предоставляемых сервисов, сторон соглашения, и сроков действия соглашения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описание параметров доступности ИТ-сервиса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число и размещение пользователей и/или оборудования, использующих данный ИТ-сервис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описание процедуры отчетов о проблемах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описание процедуры запросов на изменение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спецификация целевых уровней качества сервиса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описание платежей, связанных с сервисом</a:t>
            </a: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48317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Соглашение об уровне сервиса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1A35755-B44A-40BC-9236-80E828417C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3631103"/>
            <a:ext cx="268247" cy="26215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7A58E9E-AE3D-4E4B-BD69-A6936688E6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4292550"/>
            <a:ext cx="268247" cy="26215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73F66D0C-61AA-4709-9BDA-66FFD90879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01" y="4683974"/>
            <a:ext cx="268247" cy="262151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CFD0ADF-960F-4F93-99B2-18FEE8B9A5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01" y="5333584"/>
            <a:ext cx="268247" cy="26215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C8AF56A-1562-43C6-8ABB-671E257779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5721314"/>
            <a:ext cx="268247" cy="26215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8DB7910-F4B3-434A-A7A5-B92E3E90E0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75" y="6109044"/>
            <a:ext cx="268247" cy="26215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E504B6AC-156B-4010-BB6F-4F5E3645F7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01" y="6496773"/>
            <a:ext cx="268247" cy="2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4316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0D1E42-A554-4225-9953-FAF08AAF5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238" y="4410913"/>
            <a:ext cx="3217803" cy="2066334"/>
          </a:xfrm>
          <a:prstGeom prst="rect">
            <a:avLst/>
          </a:prstGeom>
        </p:spPr>
      </p:pic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31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8451782" cy="4473661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Организация: форма сотрудничества людей</a:t>
            </a:r>
            <a:r>
              <a:rPr lang="en-US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(</a:t>
            </a: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в </a:t>
            </a:r>
            <a:r>
              <a:rPr lang="en-US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ITIL)</a:t>
            </a:r>
            <a:endParaRPr lang="ru-RU" b="1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Цель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(vision)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в чем цель объединения в организацию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?</a:t>
            </a:r>
            <a:endParaRPr lang="ru-RU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Миссия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(mission): 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это короткое и четкое описание задач, стоящих перед организацией, и идеалов, в которые она верит</a:t>
            </a:r>
            <a:endParaRPr lang="en-US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Стратегические задачи (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objectives)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более подробное описание того, что хочет достичь организация в долгосрочной перспективе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(SMART)</a:t>
            </a:r>
            <a:endParaRPr lang="ru-RU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en-US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SMART</a:t>
            </a: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свойства цели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конкретная (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Specific)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измеримая (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Measurable)</a:t>
            </a:r>
            <a:endParaRPr lang="ru-RU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достижимая (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Achievable)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соответствующая ситуации (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Relevant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)</a:t>
            </a:r>
            <a:endParaRPr lang="en-US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имеющая четкие временные границы (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Timebound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2483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Введение в ITIL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96B1B53-C93F-4FF2-8122-0555CEA085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3753609"/>
            <a:ext cx="268247" cy="26215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53166E8-3D43-40CB-9BD5-819C0EAD41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4798136"/>
            <a:ext cx="268247" cy="26215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8DDE9F1-E1B9-4C56-ACCC-197E9014EA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2690467"/>
            <a:ext cx="268247" cy="26215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E151709-AB45-4144-BE9E-CAF9ECDC8B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3077072"/>
            <a:ext cx="268247" cy="262151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B71860E-1FDD-4EE9-8783-D0D14493A2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28" y="5184742"/>
            <a:ext cx="268247" cy="26215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F1D404E-83D3-42F7-BEE6-9F13A5E0A5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3" y="5571347"/>
            <a:ext cx="268247" cy="26215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27826E07-18A8-41C6-8D23-72C637FE7B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45" y="5952448"/>
            <a:ext cx="268247" cy="262151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107912B6-D945-4A40-8AA4-9A0113D043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45" y="6317573"/>
            <a:ext cx="268247" cy="2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175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32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37609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Жизненный цикл услуги</a:t>
            </a:r>
          </a:p>
        </p:txBody>
      </p:sp>
      <p:pic>
        <p:nvPicPr>
          <p:cNvPr id="3074" name="Picture 2" descr="Жизненный цикл услуги (сервиса)">
            <a:extLst>
              <a:ext uri="{FF2B5EF4-FFF2-40B4-BE49-F238E27FC236}">
                <a16:creationId xmlns:a16="http://schemas.microsoft.com/office/drawing/2014/main" id="{08741DF7-16CF-401F-BF63-510918D45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5278" y="1823208"/>
            <a:ext cx="4649525" cy="4657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object 4">
            <a:extLst>
              <a:ext uri="{FF2B5EF4-FFF2-40B4-BE49-F238E27FC236}">
                <a16:creationId xmlns:a16="http://schemas.microsoft.com/office/drawing/2014/main" id="{A72A825C-5A0C-492B-81DA-0D287FDF7480}"/>
              </a:ext>
            </a:extLst>
          </p:cNvPr>
          <p:cNvSpPr txBox="1"/>
          <p:nvPr/>
        </p:nvSpPr>
        <p:spPr>
          <a:xfrm>
            <a:off x="616804" y="2166456"/>
            <a:ext cx="5683503" cy="4173578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Планирование услуги 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(или Построение стратегии): постановка целей, анализ рынка сбыта, оценка рисков</a:t>
            </a:r>
          </a:p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Проектирование услуги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моделирование реализации для решения бизнес задач, изменение и улучшение</a:t>
            </a:r>
          </a:p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Внедрение услуги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развертывание услуг и управление специфическими рисками</a:t>
            </a:r>
          </a:p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Эксплуатация услуги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сопровождение услуги при использовании заказчиком</a:t>
            </a:r>
          </a:p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Непрерывное улучшение услуги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увеличение ценности услуги путем реализации улучшений на различных этапах жизненного цикла</a:t>
            </a:r>
          </a:p>
        </p:txBody>
      </p:sp>
    </p:spTree>
    <p:extLst>
      <p:ext uri="{BB962C8B-B14F-4D97-AF65-F5344CB8AC3E}">
        <p14:creationId xmlns:p14="http://schemas.microsoft.com/office/powerpoint/2010/main" val="19271142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33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17" name="object 4">
            <a:extLst>
              <a:ext uri="{FF2B5EF4-FFF2-40B4-BE49-F238E27FC236}">
                <a16:creationId xmlns:a16="http://schemas.microsoft.com/office/drawing/2014/main" id="{6FF3D65C-F9FF-4F2C-86FB-3F4FF0294265}"/>
              </a:ext>
            </a:extLst>
          </p:cNvPr>
          <p:cNvSpPr txBox="1"/>
          <p:nvPr/>
        </p:nvSpPr>
        <p:spPr>
          <a:xfrm>
            <a:off x="8845094" y="1148360"/>
            <a:ext cx="2841291" cy="3665747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SLPs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Пакет уровней услуг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(Service Level Package)</a:t>
            </a:r>
          </a:p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SDPs: 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Проектная документация услуги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(Service Design Package)</a:t>
            </a:r>
          </a:p>
          <a:p>
            <a:pPr marL="298450" indent="-28575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SKMS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Система управления знаниями по услугам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(Service Knowledge Management System)</a:t>
            </a:r>
            <a:endParaRPr lang="ru-RU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A6FC9D-AC55-4131-AA71-F3323F5299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01" y="420687"/>
            <a:ext cx="8558098" cy="640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147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34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8293237" cy="3457998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Стратегия: отличает данного поставщика услуг от других поставщиков</a:t>
            </a:r>
          </a:p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Заказчики покупают не продукты, а возможности удовлетворения своих потребностей</a:t>
            </a:r>
          </a:p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Стратегия основана на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понимании текущих (и оценке будущих) бизнес-целей заказчика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понимании роли предоставляемых (предлагаемых) услуг в бизнес процессах заказчика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оценке имеющейся конкуренции и понимании конкурентного преимущества компании поставщика</a:t>
            </a: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34563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Построение стратегии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1A91192-4149-4640-BA06-9FC1B3994C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4010226"/>
            <a:ext cx="268247" cy="26215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6A2B8E4-8E23-402F-B058-20ADA19CC4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4396831"/>
            <a:ext cx="268247" cy="26215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D66F411-ACE7-4F9C-A204-FF9C978D36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5067204"/>
            <a:ext cx="268247" cy="2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388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35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8293237" cy="4750659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Основные вопросы: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Какие услуги нужно предложить?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Кому следует предложить услуги?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Какую выгоду получат потребители и инвесторы?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Как должны развиваться внутренние и внешние рынки сбыта?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Как заказчики принимают решение о выборе поставщика из нескольких конкурирующих поставщиков услуг? 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Как будет измеряться качество услуг?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Как достичь прозрачности и реализовать управление процессом создания ценности с точки зрения финансов?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Как нужно распределить имеющиеся ресурсы для достижения максимальной эффективности портфеля услуг?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endParaRPr lang="ru-RU" spc="60" dirty="0">
              <a:solidFill>
                <a:srgbClr val="0B2D5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34563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Построение стратегии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1A91192-4149-4640-BA06-9FC1B3994C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2681040"/>
            <a:ext cx="268247" cy="26215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6A2B8E4-8E23-402F-B058-20ADA19CC4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3072500"/>
            <a:ext cx="268247" cy="26215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C0D3DB6-DBEF-4EFB-BF41-86EB22C413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3463960"/>
            <a:ext cx="268247" cy="26215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409913E-7DD4-4711-A56F-FA56847BEA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3855420"/>
            <a:ext cx="268247" cy="26215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20CB716-2D8D-4652-97F4-1274B5A00D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4246881"/>
            <a:ext cx="268247" cy="26215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CF069DF-076F-49C1-8D10-2966D72CA7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4878581"/>
            <a:ext cx="268247" cy="26215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0179E44-CCE0-48E2-9052-9F49E9E545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5300937"/>
            <a:ext cx="268247" cy="262151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6C03DD7-AF12-4F71-B49C-3C0692A0CF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5954382"/>
            <a:ext cx="268247" cy="2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5038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36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8293237" cy="3457998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Услуги могут использоваться для увеличения производительности существующих активов бизнеса</a:t>
            </a:r>
          </a:p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Ценность услуги: улучшение конечных результатов заказчика, вызванное увеличением производительности активов</a:t>
            </a:r>
          </a:p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Пример 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актив: процесс кредитования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желаемый результат: увеличить количество одновременно обрабатываемых заявок на кредит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услуга: система, реализующая поток обработки заявок на кредит с возможностью параллельной обработки заявок</a:t>
            </a: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34563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Построение стратегии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1A91192-4149-4640-BA06-9FC1B3994C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4010219"/>
            <a:ext cx="268247" cy="26215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6A2B8E4-8E23-402F-B058-20ADA19CC4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4401679"/>
            <a:ext cx="268247" cy="26215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C0D3DB6-DBEF-4EFB-BF41-86EB22C413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5066518"/>
            <a:ext cx="268247" cy="262151"/>
          </a:xfrm>
          <a:prstGeom prst="rect">
            <a:avLst/>
          </a:prstGeom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086AA96D-5F30-4710-A37C-2A8477FC4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8174" y="4704338"/>
            <a:ext cx="1014123" cy="1044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11462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37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8293237" cy="4011996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Необходимо контролировать отображение услуг и соответствующих бизнес процессов заказчика</a:t>
            </a:r>
          </a:p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Система управления конфигурацией</a:t>
            </a: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(Configuration Management System, CMS): набор инструментов и баз данных, которые используются поставщиком услуг для управления данными о конфигурациях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входит в состав процесса Управления конфигурациями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информация об инцидентах, проблемах, релизах 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(возможно): структура бизнес-подразделений, заказчики и пользователи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инструменты для управления информацией обо всех конфигурационных единицах и их взаимоотношениях</a:t>
            </a: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34563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Построение стратегии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1A91192-4149-4640-BA06-9FC1B3994C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4179904"/>
            <a:ext cx="268247" cy="26215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6A2B8E4-8E23-402F-B058-20ADA19CC4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4566651"/>
            <a:ext cx="268247" cy="26215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C0D3DB6-DBEF-4EFB-BF41-86EB22C413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4953398"/>
            <a:ext cx="268247" cy="26215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B98CBC5-B308-4F95-91CC-77D0E4E9D1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75" y="5612872"/>
            <a:ext cx="268247" cy="2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326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38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8293237" cy="3180999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Ключевые роли в рамках фазы Построения стратегии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Менеджеры деловых отношений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(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Business Relationship Managers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): установление прочных взаимоотношений с заказчиком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Менеджеры продуктов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(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Product Managers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): управление услугами на всех этапах жизненного цикла</a:t>
            </a:r>
          </a:p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97815" algn="l"/>
                <a:tab pos="298450" algn="l"/>
              </a:tabLst>
            </a:pPr>
            <a:r>
              <a:rPr lang="ru-RU" b="1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Профиль услуги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определяет как и в каком контексте (активов) услуга создает ценность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является аналогом бизнес-модели со стороны поставщика</a:t>
            </a: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34563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Построение стратегии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1A91192-4149-4640-BA06-9FC1B3994C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2671617"/>
            <a:ext cx="268247" cy="26215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6A2B8E4-8E23-402F-B058-20ADA19CC4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3360022"/>
            <a:ext cx="268247" cy="26215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C0D3DB6-DBEF-4EFB-BF41-86EB22C413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4406643"/>
            <a:ext cx="268247" cy="26215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B98CBC5-B308-4F95-91CC-77D0E4E9D1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75" y="5037838"/>
            <a:ext cx="268247" cy="2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6559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39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7879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Взаимосвязь услуг поставщика и активов заказчика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89E809-E97A-40CF-A0CB-86B336744394}"/>
              </a:ext>
            </a:extLst>
          </p:cNvPr>
          <p:cNvSpPr txBox="1"/>
          <p:nvPr/>
        </p:nvSpPr>
        <p:spPr>
          <a:xfrm>
            <a:off x="791627" y="1915379"/>
            <a:ext cx="1282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Линии услуг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C9BB754-9790-4368-8ADF-DBB9D60B7873}"/>
              </a:ext>
            </a:extLst>
          </p:cNvPr>
          <p:cNvSpPr txBox="1"/>
          <p:nvPr/>
        </p:nvSpPr>
        <p:spPr>
          <a:xfrm>
            <a:off x="3419002" y="1915378"/>
            <a:ext cx="15297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Образцы услуг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A518C9-D6F3-4C2F-8443-F997A209B0C4}"/>
              </a:ext>
            </a:extLst>
          </p:cNvPr>
          <p:cNvSpPr txBox="1"/>
          <p:nvPr/>
        </p:nvSpPr>
        <p:spPr>
          <a:xfrm>
            <a:off x="9097263" y="1917153"/>
            <a:ext cx="1782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Активы заказчика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A7D8BB8-0CE9-435B-BA1A-A3A567EF76BD}"/>
              </a:ext>
            </a:extLst>
          </p:cNvPr>
          <p:cNvSpPr/>
          <p:nvPr/>
        </p:nvSpPr>
        <p:spPr>
          <a:xfrm>
            <a:off x="3405550" y="2419814"/>
            <a:ext cx="2221780" cy="4121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</a:t>
            </a:r>
            <a:r>
              <a:rPr lang="ru-RU" sz="1050" dirty="0">
                <a:solidFill>
                  <a:schemeClr val="tx1"/>
                </a:solidFill>
              </a:rPr>
              <a:t>Аренда, лицензирование, предоставление</a:t>
            </a:r>
            <a:endParaRPr lang="ru-RU" sz="14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0EBB011-4DB3-45A8-B572-3B2F1854068E}"/>
              </a:ext>
            </a:extLst>
          </p:cNvPr>
          <p:cNvSpPr/>
          <p:nvPr/>
        </p:nvSpPr>
        <p:spPr>
          <a:xfrm>
            <a:off x="2693239" y="2419814"/>
            <a:ext cx="719037" cy="4121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U1</a:t>
            </a:r>
            <a:endParaRPr lang="ru-RU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9224AEE-2D1E-41F2-9995-8A11B53472DE}"/>
              </a:ext>
            </a:extLst>
          </p:cNvPr>
          <p:cNvSpPr txBox="1"/>
          <p:nvPr/>
        </p:nvSpPr>
        <p:spPr>
          <a:xfrm>
            <a:off x="758865" y="2395059"/>
            <a:ext cx="1354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Услуги </a:t>
            </a:r>
            <a:br>
              <a:rPr lang="ru-RU" sz="1200" dirty="0"/>
            </a:br>
            <a:r>
              <a:rPr lang="ru-RU" sz="1200" dirty="0"/>
              <a:t>доступа/Аренды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49286CB0-A967-4537-98F2-4FA03B17A28E}"/>
              </a:ext>
            </a:extLst>
          </p:cNvPr>
          <p:cNvSpPr/>
          <p:nvPr/>
        </p:nvSpPr>
        <p:spPr>
          <a:xfrm>
            <a:off x="9450056" y="2352235"/>
            <a:ext cx="2152740" cy="4121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</a:t>
            </a:r>
            <a:r>
              <a:rPr lang="ru-RU" sz="1200" dirty="0">
                <a:solidFill>
                  <a:schemeClr val="tx1"/>
                </a:solidFill>
              </a:rPr>
              <a:t>Управление</a:t>
            </a:r>
            <a:endParaRPr lang="ru-RU" sz="1400" dirty="0"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8147EAFB-F8E1-42B0-B7FC-610E362DC128}"/>
              </a:ext>
            </a:extLst>
          </p:cNvPr>
          <p:cNvSpPr/>
          <p:nvPr/>
        </p:nvSpPr>
        <p:spPr>
          <a:xfrm>
            <a:off x="8733482" y="2352235"/>
            <a:ext cx="719037" cy="4121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A1</a:t>
            </a:r>
            <a:endParaRPr lang="ru-RU" sz="14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B496A19-0771-4722-96DD-59CA4AF7CD9A}"/>
              </a:ext>
            </a:extLst>
          </p:cNvPr>
          <p:cNvSpPr/>
          <p:nvPr/>
        </p:nvSpPr>
        <p:spPr>
          <a:xfrm>
            <a:off x="6478861" y="3490332"/>
            <a:ext cx="1393902" cy="127123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Каталог услуг</a:t>
            </a:r>
          </a:p>
        </p:txBody>
      </p:sp>
      <p:cxnSp>
        <p:nvCxnSpPr>
          <p:cNvPr id="9" name="Соединитель: уступ 8">
            <a:extLst>
              <a:ext uri="{FF2B5EF4-FFF2-40B4-BE49-F238E27FC236}">
                <a16:creationId xmlns:a16="http://schemas.microsoft.com/office/drawing/2014/main" id="{4405A0E3-9CBE-4284-AC7E-A8DFD3FF842E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5627330" y="2625892"/>
            <a:ext cx="851531" cy="1500060"/>
          </a:xfrm>
          <a:prstGeom prst="bentConnector3">
            <a:avLst>
              <a:gd name="adj1" fmla="val 6964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оединитель: уступ 12">
            <a:extLst>
              <a:ext uri="{FF2B5EF4-FFF2-40B4-BE49-F238E27FC236}">
                <a16:creationId xmlns:a16="http://schemas.microsoft.com/office/drawing/2014/main" id="{671EBCE3-17DF-47D8-9AFA-D698F9D02478}"/>
              </a:ext>
            </a:extLst>
          </p:cNvPr>
          <p:cNvCxnSpPr>
            <a:stCxn id="5" idx="3"/>
            <a:endCxn id="44" idx="1"/>
          </p:cNvCxnSpPr>
          <p:nvPr/>
        </p:nvCxnSpPr>
        <p:spPr>
          <a:xfrm flipV="1">
            <a:off x="7872763" y="2558313"/>
            <a:ext cx="860719" cy="1567639"/>
          </a:xfrm>
          <a:prstGeom prst="bentConnector3">
            <a:avLst>
              <a:gd name="adj1" fmla="val 2408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46019ECB-73F5-4EC1-83C8-25A094FE058E}"/>
              </a:ext>
            </a:extLst>
          </p:cNvPr>
          <p:cNvSpPr/>
          <p:nvPr/>
        </p:nvSpPr>
        <p:spPr>
          <a:xfrm>
            <a:off x="3405550" y="3175618"/>
            <a:ext cx="2221780" cy="4121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</a:t>
            </a:r>
            <a:r>
              <a:rPr lang="ru-RU" sz="1050" dirty="0">
                <a:solidFill>
                  <a:schemeClr val="tx1"/>
                </a:solidFill>
              </a:rPr>
              <a:t>Управление, функционирование, поддержка</a:t>
            </a:r>
            <a:endParaRPr lang="ru-RU" sz="1200" dirty="0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2A56FBEA-0720-4510-AE72-DF5E63D822FE}"/>
              </a:ext>
            </a:extLst>
          </p:cNvPr>
          <p:cNvSpPr/>
          <p:nvPr/>
        </p:nvSpPr>
        <p:spPr>
          <a:xfrm>
            <a:off x="2693239" y="3175618"/>
            <a:ext cx="719037" cy="4121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</a:t>
            </a:r>
            <a:r>
              <a:rPr lang="ru-RU" sz="14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77F87E-D203-46A6-A0A9-92000D37F8B3}"/>
              </a:ext>
            </a:extLst>
          </p:cNvPr>
          <p:cNvSpPr txBox="1"/>
          <p:nvPr/>
        </p:nvSpPr>
        <p:spPr>
          <a:xfrm>
            <a:off x="925000" y="3151550"/>
            <a:ext cx="1022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Услуги </a:t>
            </a:r>
            <a:br>
              <a:rPr lang="ru-RU" sz="1200" dirty="0"/>
            </a:br>
            <a:r>
              <a:rPr lang="ru-RU" sz="1200" dirty="0"/>
              <a:t>управления</a:t>
            </a: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171942B3-1042-4E1D-9345-E1999A8FDFB4}"/>
              </a:ext>
            </a:extLst>
          </p:cNvPr>
          <p:cNvSpPr/>
          <p:nvPr/>
        </p:nvSpPr>
        <p:spPr>
          <a:xfrm>
            <a:off x="3405549" y="3913803"/>
            <a:ext cx="2221781" cy="4121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</a:t>
            </a:r>
            <a:r>
              <a:rPr lang="ru-RU" sz="1050" dirty="0">
                <a:solidFill>
                  <a:schemeClr val="tx1"/>
                </a:solidFill>
              </a:rPr>
              <a:t>Восстановление, разрешение проблем, исправление</a:t>
            </a:r>
            <a:endParaRPr lang="ru-RU" sz="1400" dirty="0"/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94C699F1-BCC6-4EFB-9558-92DE85E808C3}"/>
              </a:ext>
            </a:extLst>
          </p:cNvPr>
          <p:cNvSpPr/>
          <p:nvPr/>
        </p:nvSpPr>
        <p:spPr>
          <a:xfrm>
            <a:off x="2693239" y="3913803"/>
            <a:ext cx="719037" cy="4121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</a:t>
            </a:r>
            <a:r>
              <a:rPr lang="ru-RU" sz="1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22273BF-7D66-4B29-886A-B21AF86F1C1E}"/>
              </a:ext>
            </a:extLst>
          </p:cNvPr>
          <p:cNvSpPr txBox="1"/>
          <p:nvPr/>
        </p:nvSpPr>
        <p:spPr>
          <a:xfrm>
            <a:off x="1044328" y="3892083"/>
            <a:ext cx="7840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Услуги </a:t>
            </a:r>
            <a:br>
              <a:rPr lang="ru-RU" sz="1200" dirty="0"/>
            </a:br>
            <a:r>
              <a:rPr lang="ru-RU" sz="1200" dirty="0"/>
              <a:t>ремонта</a:t>
            </a: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1C373CE8-9D27-457C-9CA2-3E4D2E45F479}"/>
              </a:ext>
            </a:extLst>
          </p:cNvPr>
          <p:cNvSpPr/>
          <p:nvPr/>
        </p:nvSpPr>
        <p:spPr>
          <a:xfrm>
            <a:off x="3405550" y="4659812"/>
            <a:ext cx="2221780" cy="4121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</a:t>
            </a:r>
            <a:r>
              <a:rPr lang="ru-RU" sz="1050" dirty="0">
                <a:solidFill>
                  <a:schemeClr val="tx1"/>
                </a:solidFill>
              </a:rPr>
              <a:t>Хранение, защита, мониторинг</a:t>
            </a:r>
            <a:endParaRPr lang="ru-RU" sz="1400" dirty="0"/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800C833E-92E3-4BF6-89B1-4F01F03741F7}"/>
              </a:ext>
            </a:extLst>
          </p:cNvPr>
          <p:cNvSpPr/>
          <p:nvPr/>
        </p:nvSpPr>
        <p:spPr>
          <a:xfrm>
            <a:off x="2693239" y="4659812"/>
            <a:ext cx="719037" cy="4121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</a:t>
            </a:r>
            <a:r>
              <a:rPr lang="ru-RU" sz="14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181D9B4-C2E5-44A1-9745-6CFD5F659A5F}"/>
              </a:ext>
            </a:extLst>
          </p:cNvPr>
          <p:cNvSpPr txBox="1"/>
          <p:nvPr/>
        </p:nvSpPr>
        <p:spPr>
          <a:xfrm>
            <a:off x="796664" y="4600274"/>
            <a:ext cx="12793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Услуги </a:t>
            </a:r>
            <a:br>
              <a:rPr lang="ru-RU" sz="1200" dirty="0"/>
            </a:br>
            <a:r>
              <a:rPr lang="ru-RU" sz="1200" dirty="0" err="1"/>
              <a:t>кастодиальные</a:t>
            </a:r>
            <a:endParaRPr lang="ru-RU" sz="1200" dirty="0"/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D236DD3A-BEB5-42EC-A159-8E77EED668C9}"/>
              </a:ext>
            </a:extLst>
          </p:cNvPr>
          <p:cNvSpPr/>
          <p:nvPr/>
        </p:nvSpPr>
        <p:spPr>
          <a:xfrm>
            <a:off x="3412276" y="5405821"/>
            <a:ext cx="2215054" cy="4121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</a:t>
            </a:r>
            <a:r>
              <a:rPr lang="ru-RU" sz="1050" dirty="0">
                <a:solidFill>
                  <a:schemeClr val="tx1"/>
                </a:solidFill>
              </a:rPr>
              <a:t>Обработка, исполнение, хранение</a:t>
            </a:r>
            <a:endParaRPr lang="ru-RU" sz="1400" dirty="0"/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A6561AA3-9D0B-415F-9A39-AEEF450B6CE4}"/>
              </a:ext>
            </a:extLst>
          </p:cNvPr>
          <p:cNvSpPr/>
          <p:nvPr/>
        </p:nvSpPr>
        <p:spPr>
          <a:xfrm>
            <a:off x="2699965" y="5405821"/>
            <a:ext cx="719037" cy="4121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</a:t>
            </a:r>
            <a:r>
              <a:rPr lang="ru-RU" sz="14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25023B0-DD6F-449B-A5E4-1B2154EEECFE}"/>
              </a:ext>
            </a:extLst>
          </p:cNvPr>
          <p:cNvSpPr txBox="1"/>
          <p:nvPr/>
        </p:nvSpPr>
        <p:spPr>
          <a:xfrm>
            <a:off x="620333" y="5405745"/>
            <a:ext cx="1632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Услуги </a:t>
            </a:r>
            <a:br>
              <a:rPr lang="ru-RU" sz="1200" dirty="0"/>
            </a:br>
            <a:r>
              <a:rPr lang="ru-RU" sz="1200" dirty="0"/>
              <a:t>администрирования</a:t>
            </a:r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1A501CD5-057A-40DF-9ADF-5AC199ABB18F}"/>
              </a:ext>
            </a:extLst>
          </p:cNvPr>
          <p:cNvSpPr/>
          <p:nvPr/>
        </p:nvSpPr>
        <p:spPr>
          <a:xfrm>
            <a:off x="9450056" y="3113585"/>
            <a:ext cx="2152740" cy="4121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</a:t>
            </a:r>
            <a:r>
              <a:rPr lang="ru-RU" sz="1200" dirty="0">
                <a:solidFill>
                  <a:schemeClr val="tx1"/>
                </a:solidFill>
              </a:rPr>
              <a:t>Организация</a:t>
            </a:r>
            <a:endParaRPr lang="ru-RU" sz="1400" dirty="0"/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FCB7BFDD-D5AD-4514-9FC5-49B5E6296C66}"/>
              </a:ext>
            </a:extLst>
          </p:cNvPr>
          <p:cNvSpPr/>
          <p:nvPr/>
        </p:nvSpPr>
        <p:spPr>
          <a:xfrm>
            <a:off x="8737745" y="3113585"/>
            <a:ext cx="719037" cy="4121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</a:t>
            </a:r>
            <a:r>
              <a:rPr lang="ru-RU" sz="1400" dirty="0"/>
              <a:t>2</a:t>
            </a:r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BD567405-266B-4F63-8ACE-B360C0DA8A6B}"/>
              </a:ext>
            </a:extLst>
          </p:cNvPr>
          <p:cNvSpPr/>
          <p:nvPr/>
        </p:nvSpPr>
        <p:spPr>
          <a:xfrm>
            <a:off x="9436604" y="3908286"/>
            <a:ext cx="2152740" cy="4121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</a:t>
            </a:r>
            <a:r>
              <a:rPr lang="ru-RU" sz="1200" dirty="0">
                <a:solidFill>
                  <a:schemeClr val="tx1"/>
                </a:solidFill>
              </a:rPr>
              <a:t>Процессы</a:t>
            </a:r>
            <a:endParaRPr lang="ru-RU" sz="1400" dirty="0"/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6507B66D-EE78-4DF0-B86F-FAD599F370FD}"/>
              </a:ext>
            </a:extLst>
          </p:cNvPr>
          <p:cNvSpPr/>
          <p:nvPr/>
        </p:nvSpPr>
        <p:spPr>
          <a:xfrm>
            <a:off x="8724293" y="3908286"/>
            <a:ext cx="719037" cy="4121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</a:t>
            </a:r>
            <a:r>
              <a:rPr lang="ru-RU" sz="1400" dirty="0"/>
              <a:t>3</a:t>
            </a: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AE00E0D0-04C2-46D5-9D18-86A86013BC49}"/>
              </a:ext>
            </a:extLst>
          </p:cNvPr>
          <p:cNvSpPr/>
          <p:nvPr/>
        </p:nvSpPr>
        <p:spPr>
          <a:xfrm>
            <a:off x="9436604" y="4651454"/>
            <a:ext cx="2152740" cy="4121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</a:t>
            </a:r>
            <a:r>
              <a:rPr lang="ru-RU" sz="1200" dirty="0">
                <a:solidFill>
                  <a:schemeClr val="tx1"/>
                </a:solidFill>
              </a:rPr>
              <a:t>Знания</a:t>
            </a:r>
            <a:endParaRPr lang="ru-RU" sz="1400" dirty="0"/>
          </a:p>
        </p:txBody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30E7EB85-95C7-4C37-9193-0CC234222BBF}"/>
              </a:ext>
            </a:extLst>
          </p:cNvPr>
          <p:cNvSpPr/>
          <p:nvPr/>
        </p:nvSpPr>
        <p:spPr>
          <a:xfrm>
            <a:off x="8724293" y="4651454"/>
            <a:ext cx="719037" cy="4121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</a:t>
            </a:r>
            <a:r>
              <a:rPr lang="ru-RU" sz="1400" dirty="0"/>
              <a:t>4</a:t>
            </a:r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DB13EC82-2517-4A1A-A071-DA096B9F54AD}"/>
              </a:ext>
            </a:extLst>
          </p:cNvPr>
          <p:cNvSpPr/>
          <p:nvPr/>
        </p:nvSpPr>
        <p:spPr>
          <a:xfrm>
            <a:off x="9443330" y="5405745"/>
            <a:ext cx="2152740" cy="4121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</a:t>
            </a:r>
            <a:r>
              <a:rPr lang="ru-RU" sz="1200" dirty="0">
                <a:solidFill>
                  <a:schemeClr val="tx1"/>
                </a:solidFill>
              </a:rPr>
              <a:t>Люди</a:t>
            </a:r>
            <a:endParaRPr lang="ru-RU" sz="1400" dirty="0"/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14D2B04D-5626-4DCB-9F7B-4B10F1F9BCD5}"/>
              </a:ext>
            </a:extLst>
          </p:cNvPr>
          <p:cNvSpPr/>
          <p:nvPr/>
        </p:nvSpPr>
        <p:spPr>
          <a:xfrm>
            <a:off x="8731019" y="5405745"/>
            <a:ext cx="719037" cy="4121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</a:t>
            </a:r>
            <a:r>
              <a:rPr lang="ru-RU" sz="1400" dirty="0"/>
              <a:t>5</a:t>
            </a:r>
          </a:p>
        </p:txBody>
      </p:sp>
      <p:cxnSp>
        <p:nvCxnSpPr>
          <p:cNvPr id="20" name="Соединитель: уступ 19">
            <a:extLst>
              <a:ext uri="{FF2B5EF4-FFF2-40B4-BE49-F238E27FC236}">
                <a16:creationId xmlns:a16="http://schemas.microsoft.com/office/drawing/2014/main" id="{48C27917-17FE-467D-8A7C-2FCBE14598AC}"/>
              </a:ext>
            </a:extLst>
          </p:cNvPr>
          <p:cNvCxnSpPr>
            <a:cxnSpLocks/>
            <a:stCxn id="50" idx="3"/>
            <a:endCxn id="5" idx="1"/>
          </p:cNvCxnSpPr>
          <p:nvPr/>
        </p:nvCxnSpPr>
        <p:spPr>
          <a:xfrm>
            <a:off x="5627330" y="3381696"/>
            <a:ext cx="851531" cy="74425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Соединитель: уступ 25">
            <a:extLst>
              <a:ext uri="{FF2B5EF4-FFF2-40B4-BE49-F238E27FC236}">
                <a16:creationId xmlns:a16="http://schemas.microsoft.com/office/drawing/2014/main" id="{02FD5017-7BEA-4E36-B1A2-2B2A5ED8D4B7}"/>
              </a:ext>
            </a:extLst>
          </p:cNvPr>
          <p:cNvCxnSpPr>
            <a:cxnSpLocks/>
            <a:stCxn id="58" idx="3"/>
            <a:endCxn id="5" idx="1"/>
          </p:cNvCxnSpPr>
          <p:nvPr/>
        </p:nvCxnSpPr>
        <p:spPr>
          <a:xfrm flipV="1">
            <a:off x="5627330" y="4125952"/>
            <a:ext cx="851531" cy="73993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Соединитель: уступ 46">
            <a:extLst>
              <a:ext uri="{FF2B5EF4-FFF2-40B4-BE49-F238E27FC236}">
                <a16:creationId xmlns:a16="http://schemas.microsoft.com/office/drawing/2014/main" id="{FF5624A6-6050-41A7-B1FF-3FCC29361C93}"/>
              </a:ext>
            </a:extLst>
          </p:cNvPr>
          <p:cNvCxnSpPr>
            <a:cxnSpLocks/>
            <a:stCxn id="64" idx="3"/>
            <a:endCxn id="5" idx="1"/>
          </p:cNvCxnSpPr>
          <p:nvPr/>
        </p:nvCxnSpPr>
        <p:spPr>
          <a:xfrm flipV="1">
            <a:off x="5627330" y="4125952"/>
            <a:ext cx="851531" cy="1485947"/>
          </a:xfrm>
          <a:prstGeom prst="bentConnector3">
            <a:avLst>
              <a:gd name="adj1" fmla="val 6964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Соединитель: уступ 78">
            <a:extLst>
              <a:ext uri="{FF2B5EF4-FFF2-40B4-BE49-F238E27FC236}">
                <a16:creationId xmlns:a16="http://schemas.microsoft.com/office/drawing/2014/main" id="{6F05D1C3-1AF1-4A70-8B3C-93BB79824E0F}"/>
              </a:ext>
            </a:extLst>
          </p:cNvPr>
          <p:cNvCxnSpPr>
            <a:endCxn id="71" idx="1"/>
          </p:cNvCxnSpPr>
          <p:nvPr/>
        </p:nvCxnSpPr>
        <p:spPr>
          <a:xfrm flipV="1">
            <a:off x="7892941" y="3319663"/>
            <a:ext cx="844804" cy="811420"/>
          </a:xfrm>
          <a:prstGeom prst="bentConnector3">
            <a:avLst>
              <a:gd name="adj1" fmla="val 4076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id="{B83270D4-2EE6-4963-ADB7-9CEBB3AAA058}"/>
              </a:ext>
            </a:extLst>
          </p:cNvPr>
          <p:cNvCxnSpPr>
            <a:stCxn id="5" idx="3"/>
            <a:endCxn id="73" idx="1"/>
          </p:cNvCxnSpPr>
          <p:nvPr/>
        </p:nvCxnSpPr>
        <p:spPr>
          <a:xfrm flipV="1">
            <a:off x="7872763" y="4114364"/>
            <a:ext cx="851530" cy="1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Прямая соединительная линия 91">
            <a:extLst>
              <a:ext uri="{FF2B5EF4-FFF2-40B4-BE49-F238E27FC236}">
                <a16:creationId xmlns:a16="http://schemas.microsoft.com/office/drawing/2014/main" id="{014526C3-E257-4D11-AAA1-7A40141CEAC8}"/>
              </a:ext>
            </a:extLst>
          </p:cNvPr>
          <p:cNvCxnSpPr>
            <a:cxnSpLocks/>
            <a:stCxn id="55" idx="3"/>
            <a:endCxn id="5" idx="1"/>
          </p:cNvCxnSpPr>
          <p:nvPr/>
        </p:nvCxnSpPr>
        <p:spPr>
          <a:xfrm>
            <a:off x="5627330" y="4119881"/>
            <a:ext cx="851531" cy="60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Соединитель: уступ 100">
            <a:extLst>
              <a:ext uri="{FF2B5EF4-FFF2-40B4-BE49-F238E27FC236}">
                <a16:creationId xmlns:a16="http://schemas.microsoft.com/office/drawing/2014/main" id="{F4901A6A-42A8-46A5-8C33-02CF161A98E4}"/>
              </a:ext>
            </a:extLst>
          </p:cNvPr>
          <p:cNvCxnSpPr>
            <a:stCxn id="75" idx="1"/>
            <a:endCxn id="5" idx="3"/>
          </p:cNvCxnSpPr>
          <p:nvPr/>
        </p:nvCxnSpPr>
        <p:spPr>
          <a:xfrm rot="10800000">
            <a:off x="7872763" y="4125952"/>
            <a:ext cx="851530" cy="731580"/>
          </a:xfrm>
          <a:prstGeom prst="bentConnector3">
            <a:avLst>
              <a:gd name="adj1" fmla="val 5654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Соединитель: уступ 103">
            <a:extLst>
              <a:ext uri="{FF2B5EF4-FFF2-40B4-BE49-F238E27FC236}">
                <a16:creationId xmlns:a16="http://schemas.microsoft.com/office/drawing/2014/main" id="{AD3FA5D2-C8F7-4AD2-867A-F7C2DB87B19A}"/>
              </a:ext>
            </a:extLst>
          </p:cNvPr>
          <p:cNvCxnSpPr>
            <a:stCxn id="77" idx="1"/>
            <a:endCxn id="5" idx="3"/>
          </p:cNvCxnSpPr>
          <p:nvPr/>
        </p:nvCxnSpPr>
        <p:spPr>
          <a:xfrm rot="10800000">
            <a:off x="7872763" y="4125953"/>
            <a:ext cx="858256" cy="1485871"/>
          </a:xfrm>
          <a:prstGeom prst="bentConnector3">
            <a:avLst>
              <a:gd name="adj1" fmla="val 7598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2487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40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7879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Взаимосвязь услуг поставщика и активов заказчика</a:t>
            </a:r>
          </a:p>
        </p:txBody>
      </p:sp>
      <p:sp>
        <p:nvSpPr>
          <p:cNvPr id="59" name="object 4">
            <a:extLst>
              <a:ext uri="{FF2B5EF4-FFF2-40B4-BE49-F238E27FC236}">
                <a16:creationId xmlns:a16="http://schemas.microsoft.com/office/drawing/2014/main" id="{FE0EE920-997C-452F-904B-ADD6629E34F5}"/>
              </a:ext>
            </a:extLst>
          </p:cNvPr>
          <p:cNvSpPr txBox="1"/>
          <p:nvPr/>
        </p:nvSpPr>
        <p:spPr>
          <a:xfrm>
            <a:off x="616805" y="2166456"/>
            <a:ext cx="8128000" cy="2396169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Позиционирование услуг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комбинация профиля услуги и актива заказчика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несколько профилей услуг могут соответствовать одному активу заказчика (стратегия основана на активах)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профиль одной услуги может быть использован для поддержания нескольких типов пользовательских активов (стратегия основана на полезности)</a:t>
            </a:r>
          </a:p>
        </p:txBody>
      </p:sp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5315989D-6675-4D18-9EA8-1906D805EF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2679576"/>
            <a:ext cx="268247" cy="262151"/>
          </a:xfrm>
          <a:prstGeom prst="rect">
            <a:avLst/>
          </a:prstGeom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57BCA190-3858-4228-85EE-AA28EC4BCF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3101420"/>
            <a:ext cx="268247" cy="262151"/>
          </a:xfrm>
          <a:prstGeom prst="rect">
            <a:avLst/>
          </a:prstGeom>
        </p:spPr>
      </p:pic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F23C2D6-8A73-4F45-95CB-50016F797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740449"/>
              </p:ext>
            </p:extLst>
          </p:nvPr>
        </p:nvGraphicFramePr>
        <p:xfrm>
          <a:off x="616805" y="4872700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12680445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820863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9157119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094411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88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852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394413"/>
                  </a:ext>
                </a:extLst>
              </a:tr>
            </a:tbl>
          </a:graphicData>
        </a:graphic>
      </p:graphicFrame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3E5EA3B-FD9B-472F-8ADA-DB5794CA57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3" y="3753965"/>
            <a:ext cx="268247" cy="262151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DD83BC2F-D247-427D-BC7F-5EEE6A9B65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7" r="-4877"/>
          <a:stretch/>
        </p:blipFill>
        <p:spPr bwMode="auto">
          <a:xfrm>
            <a:off x="8977095" y="3262500"/>
            <a:ext cx="2952750" cy="275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3AAB7154-4B05-4B0B-B92D-583578DC4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6054" y="4331169"/>
            <a:ext cx="353587" cy="353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62BF9773-875F-45FC-8B58-6E690A0A3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4005" y="3363571"/>
            <a:ext cx="346787" cy="353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80350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41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8293237" cy="3457998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Портфель услуг </a:t>
            </a: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</a:t>
            </a:r>
            <a:r>
              <a:rPr lang="en-US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Service Portfolio</a:t>
            </a: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): полный набор услуг, которые управляются поставщиком услуг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формируется на этапе планирования, для оценки затрат и рисков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включает все ИТ-услуги на протяжении всего их жизненного цикла, от планирования до вывода из эксплуатации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используется для управления полным жизненным циклом всех услуг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u="sng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включает услуги третьих сторон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, которые являются неотъемлемой частью предложения заказчику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контролируется в рамках процесса Управление портфелем услуг (</a:t>
            </a:r>
            <a:r>
              <a:rPr lang="en-US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Service Portfolio Management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или SPM)</a:t>
            </a: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25747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Портфель услуг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FD883F7-97B5-4AE7-83F7-8B7288B62E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75" y="2969131"/>
            <a:ext cx="268247" cy="26215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FA4536D-4F23-4F07-873C-033F95D65F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3339392"/>
            <a:ext cx="268247" cy="26215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C0987FD3-DDBA-4AF0-890F-2D7A4D184D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75" y="4024530"/>
            <a:ext cx="268247" cy="262151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38D0878-9F21-4811-AE3A-76E7979B08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4394791"/>
            <a:ext cx="268247" cy="26215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D57059E6-6FCE-4FC1-ACFC-377ABB2341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75" y="5061075"/>
            <a:ext cx="268247" cy="2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7587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Овал 27">
            <a:extLst>
              <a:ext uri="{FF2B5EF4-FFF2-40B4-BE49-F238E27FC236}">
                <a16:creationId xmlns:a16="http://schemas.microsoft.com/office/drawing/2014/main" id="{E235619C-C040-47E6-BD3F-174B4A9EBD6B}"/>
              </a:ext>
            </a:extLst>
          </p:cNvPr>
          <p:cNvSpPr/>
          <p:nvPr/>
        </p:nvSpPr>
        <p:spPr>
          <a:xfrm>
            <a:off x="10199278" y="3580278"/>
            <a:ext cx="1230106" cy="1230106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3E8FF589-A47E-48B0-B165-70E79B31CD88}"/>
              </a:ext>
            </a:extLst>
          </p:cNvPr>
          <p:cNvSpPr/>
          <p:nvPr/>
        </p:nvSpPr>
        <p:spPr>
          <a:xfrm>
            <a:off x="7169498" y="3602074"/>
            <a:ext cx="1405784" cy="1405784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42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5" y="2166456"/>
            <a:ext cx="5113668" cy="211917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Структура портфеля услуг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каталог услуг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отображает услуги, находящиеся в эксплуатации (готовые для эксплуатации)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i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воронка услуг</a:t>
            </a: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услуги в разработке</a:t>
            </a:r>
          </a:p>
          <a:p>
            <a:pPr marL="469900" lvl="1">
              <a:spcBef>
                <a:spcPts val="865"/>
              </a:spcBef>
              <a:buClr>
                <a:schemeClr val="tx1"/>
              </a:buClr>
              <a:tabLst>
                <a:tab pos="297815" algn="l"/>
                <a:tab pos="298450" algn="l"/>
              </a:tabLst>
            </a:pPr>
            <a:r>
              <a:rPr lang="ru-RU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услуги, выведенные из эксплуатации</a:t>
            </a: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25747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Портфель услуг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6FF37B5-AFAD-4419-B3AA-25A5DA21A2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2697852"/>
            <a:ext cx="268247" cy="26215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93D9E8B-7EBB-4E2A-AC08-B5D69AC15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3630466"/>
            <a:ext cx="268247" cy="262151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D1CEC9F4-2B5D-4DE7-80E0-EEB3E60F2D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4" y="4022336"/>
            <a:ext cx="268247" cy="262151"/>
          </a:xfrm>
          <a:prstGeom prst="rect">
            <a:avLst/>
          </a:prstGeom>
        </p:spPr>
      </p:pic>
      <p:sp>
        <p:nvSpPr>
          <p:cNvPr id="4" name="Левая фигурная скобка 3">
            <a:extLst>
              <a:ext uri="{FF2B5EF4-FFF2-40B4-BE49-F238E27FC236}">
                <a16:creationId xmlns:a16="http://schemas.microsoft.com/office/drawing/2014/main" id="{FE21DD17-B0FF-44DC-9E55-86D58B4928F8}"/>
              </a:ext>
            </a:extLst>
          </p:cNvPr>
          <p:cNvSpPr/>
          <p:nvPr/>
        </p:nvSpPr>
        <p:spPr>
          <a:xfrm rot="5400000">
            <a:off x="8425501" y="-900843"/>
            <a:ext cx="350713" cy="4858447"/>
          </a:xfrm>
          <a:prstGeom prst="leftBrace">
            <a:avLst>
              <a:gd name="adj1" fmla="val 79929"/>
              <a:gd name="adj2" fmla="val 5020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496069-8E13-4D78-A6EC-269CD65CB567}"/>
              </a:ext>
            </a:extLst>
          </p:cNvPr>
          <p:cNvSpPr txBox="1"/>
          <p:nvPr/>
        </p:nvSpPr>
        <p:spPr>
          <a:xfrm>
            <a:off x="7914547" y="1060749"/>
            <a:ext cx="13269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Портфель услуг</a:t>
            </a:r>
          </a:p>
        </p:txBody>
      </p:sp>
      <p:sp>
        <p:nvSpPr>
          <p:cNvPr id="24" name="Левая фигурная скобка 23">
            <a:extLst>
              <a:ext uri="{FF2B5EF4-FFF2-40B4-BE49-F238E27FC236}">
                <a16:creationId xmlns:a16="http://schemas.microsoft.com/office/drawing/2014/main" id="{C8B8864B-D841-4DB5-A806-1619233E0FD9}"/>
              </a:ext>
            </a:extLst>
          </p:cNvPr>
          <p:cNvSpPr/>
          <p:nvPr/>
        </p:nvSpPr>
        <p:spPr>
          <a:xfrm rot="5400000">
            <a:off x="9366036" y="624974"/>
            <a:ext cx="350713" cy="2977377"/>
          </a:xfrm>
          <a:prstGeom prst="leftBrace">
            <a:avLst>
              <a:gd name="adj1" fmla="val 79929"/>
              <a:gd name="adj2" fmla="val 5020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AEB652-950C-4D95-BB51-9B1CBA76D42B}"/>
              </a:ext>
            </a:extLst>
          </p:cNvPr>
          <p:cNvSpPr txBox="1"/>
          <p:nvPr/>
        </p:nvSpPr>
        <p:spPr>
          <a:xfrm>
            <a:off x="8961105" y="1635447"/>
            <a:ext cx="1160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Каталог услуг</a:t>
            </a:r>
          </a:p>
        </p:txBody>
      </p:sp>
      <p:sp>
        <p:nvSpPr>
          <p:cNvPr id="26" name="Левая фигурная скобка 25">
            <a:extLst>
              <a:ext uri="{FF2B5EF4-FFF2-40B4-BE49-F238E27FC236}">
                <a16:creationId xmlns:a16="http://schemas.microsoft.com/office/drawing/2014/main" id="{B342D7DC-4C9A-462A-96BD-73A09EB8B0B5}"/>
              </a:ext>
            </a:extLst>
          </p:cNvPr>
          <p:cNvSpPr/>
          <p:nvPr/>
        </p:nvSpPr>
        <p:spPr>
          <a:xfrm rot="5400000">
            <a:off x="7194510" y="1596683"/>
            <a:ext cx="350713" cy="2416327"/>
          </a:xfrm>
          <a:prstGeom prst="leftBrace">
            <a:avLst>
              <a:gd name="adj1" fmla="val 79929"/>
              <a:gd name="adj2" fmla="val 5020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1F34B4-F8A2-41F2-BF4E-2248E274A677}"/>
              </a:ext>
            </a:extLst>
          </p:cNvPr>
          <p:cNvSpPr txBox="1"/>
          <p:nvPr/>
        </p:nvSpPr>
        <p:spPr>
          <a:xfrm>
            <a:off x="6450139" y="2352491"/>
            <a:ext cx="16296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Услуги в разработке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F88F3F5C-2343-42E8-BA4F-0E833D6B0B06}"/>
              </a:ext>
            </a:extLst>
          </p:cNvPr>
          <p:cNvSpPr/>
          <p:nvPr/>
        </p:nvSpPr>
        <p:spPr>
          <a:xfrm>
            <a:off x="8052704" y="3059898"/>
            <a:ext cx="2416326" cy="23154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6F84CA-D553-4528-BA13-9895B66757FD}"/>
              </a:ext>
            </a:extLst>
          </p:cNvPr>
          <p:cNvSpPr txBox="1"/>
          <p:nvPr/>
        </p:nvSpPr>
        <p:spPr>
          <a:xfrm>
            <a:off x="8698415" y="4237209"/>
            <a:ext cx="1226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Эксплуатация </a:t>
            </a:r>
            <a:br>
              <a:rPr lang="ru-RU" sz="1200" dirty="0"/>
            </a:br>
            <a:r>
              <a:rPr lang="ru-RU" sz="1200" dirty="0"/>
              <a:t>услуг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ED03CC6-81E6-4A76-AAD1-575E614B5B5B}"/>
              </a:ext>
            </a:extLst>
          </p:cNvPr>
          <p:cNvCxnSpPr>
            <a:cxnSpLocks/>
          </p:cNvCxnSpPr>
          <p:nvPr/>
        </p:nvCxnSpPr>
        <p:spPr>
          <a:xfrm>
            <a:off x="8052704" y="2302023"/>
            <a:ext cx="0" cy="178454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56D3830-ABD6-46F5-B558-08B30C572484}"/>
              </a:ext>
            </a:extLst>
          </p:cNvPr>
          <p:cNvCxnSpPr>
            <a:cxnSpLocks/>
            <a:endCxn id="13" idx="6"/>
          </p:cNvCxnSpPr>
          <p:nvPr/>
        </p:nvCxnSpPr>
        <p:spPr>
          <a:xfrm flipH="1">
            <a:off x="8575282" y="3001060"/>
            <a:ext cx="554" cy="130390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FCB19ECA-9C27-4736-9E97-A2E33F0E9706}"/>
              </a:ext>
            </a:extLst>
          </p:cNvPr>
          <p:cNvSpPr/>
          <p:nvPr/>
        </p:nvSpPr>
        <p:spPr>
          <a:xfrm>
            <a:off x="7595085" y="3108893"/>
            <a:ext cx="969462" cy="9694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06F4A3-6292-456E-A4BC-3C99F96567F1}"/>
              </a:ext>
            </a:extLst>
          </p:cNvPr>
          <p:cNvSpPr txBox="1"/>
          <p:nvPr/>
        </p:nvSpPr>
        <p:spPr>
          <a:xfrm>
            <a:off x="10183248" y="4032977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900" dirty="0"/>
              <a:t>Услуги, выведенные </a:t>
            </a:r>
            <a:br>
              <a:rPr lang="ru-RU" sz="900" dirty="0"/>
            </a:br>
            <a:r>
              <a:rPr lang="ru-RU" sz="900" dirty="0"/>
              <a:t>из эксплуатации</a:t>
            </a:r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9150B4CB-A5FD-456E-809B-08E4B6EA93BE}"/>
              </a:ext>
            </a:extLst>
          </p:cNvPr>
          <p:cNvSpPr/>
          <p:nvPr/>
        </p:nvSpPr>
        <p:spPr>
          <a:xfrm>
            <a:off x="6400404" y="3549446"/>
            <a:ext cx="969462" cy="9694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>
            <a:extLst>
              <a:ext uri="{FF2B5EF4-FFF2-40B4-BE49-F238E27FC236}">
                <a16:creationId xmlns:a16="http://schemas.microsoft.com/office/drawing/2014/main" id="{A94B72D9-F4E2-471A-95AC-375FCAD15B51}"/>
              </a:ext>
            </a:extLst>
          </p:cNvPr>
          <p:cNvSpPr/>
          <p:nvPr/>
        </p:nvSpPr>
        <p:spPr>
          <a:xfrm>
            <a:off x="6474788" y="4038396"/>
            <a:ext cx="969462" cy="9694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23D93381-5745-4D08-BA7B-27314620F3DA}"/>
              </a:ext>
            </a:extLst>
          </p:cNvPr>
          <p:cNvSpPr/>
          <p:nvPr/>
        </p:nvSpPr>
        <p:spPr>
          <a:xfrm>
            <a:off x="9104179" y="3108893"/>
            <a:ext cx="909901" cy="909901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CB3857-5993-4020-9F11-69454713BAB6}"/>
              </a:ext>
            </a:extLst>
          </p:cNvPr>
          <p:cNvSpPr txBox="1"/>
          <p:nvPr/>
        </p:nvSpPr>
        <p:spPr>
          <a:xfrm>
            <a:off x="9055619" y="3346128"/>
            <a:ext cx="1018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900" dirty="0"/>
              <a:t>Каталог</a:t>
            </a:r>
            <a:br>
              <a:rPr lang="ru-RU" sz="900" dirty="0"/>
            </a:br>
            <a:r>
              <a:rPr lang="ru-RU" sz="900" dirty="0"/>
              <a:t>Третьих сторон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F20190-D51F-42C0-9B61-209D3A913DA0}"/>
              </a:ext>
            </a:extLst>
          </p:cNvPr>
          <p:cNvSpPr txBox="1"/>
          <p:nvPr/>
        </p:nvSpPr>
        <p:spPr>
          <a:xfrm>
            <a:off x="6441335" y="3265139"/>
            <a:ext cx="8803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900" dirty="0"/>
              <a:t>Рынки сбыта</a:t>
            </a:r>
          </a:p>
        </p:txBody>
      </p: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A9B97F7C-B0A3-4309-844B-7FCA829B552F}"/>
              </a:ext>
            </a:extLst>
          </p:cNvPr>
          <p:cNvCxnSpPr>
            <a:cxnSpLocks/>
          </p:cNvCxnSpPr>
          <p:nvPr/>
        </p:nvCxnSpPr>
        <p:spPr>
          <a:xfrm>
            <a:off x="6161703" y="2980203"/>
            <a:ext cx="0" cy="132476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D87BF9B-F063-4629-A1C0-BBF3CB7E2DD2}"/>
              </a:ext>
            </a:extLst>
          </p:cNvPr>
          <p:cNvSpPr txBox="1"/>
          <p:nvPr/>
        </p:nvSpPr>
        <p:spPr>
          <a:xfrm>
            <a:off x="5760102" y="4348719"/>
            <a:ext cx="798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900" dirty="0"/>
              <a:t>Концепции </a:t>
            </a:r>
            <a:br>
              <a:rPr lang="ru-RU" sz="900" dirty="0"/>
            </a:br>
            <a:r>
              <a:rPr lang="ru-RU" sz="900" dirty="0"/>
              <a:t>услуг</a:t>
            </a: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3BA37825-AC05-4467-9721-AB3AAA5A5C99}"/>
              </a:ext>
            </a:extLst>
          </p:cNvPr>
          <p:cNvSpPr/>
          <p:nvPr/>
        </p:nvSpPr>
        <p:spPr>
          <a:xfrm>
            <a:off x="6125498" y="5941559"/>
            <a:ext cx="5265753" cy="80492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0C1C44E-7313-45B2-A15A-B6857E0C1D2E}"/>
              </a:ext>
            </a:extLst>
          </p:cNvPr>
          <p:cNvSpPr txBox="1"/>
          <p:nvPr/>
        </p:nvSpPr>
        <p:spPr>
          <a:xfrm>
            <a:off x="7778201" y="6220729"/>
            <a:ext cx="18181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Общий фонд ресурсов</a:t>
            </a:r>
          </a:p>
        </p:txBody>
      </p: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E1E52E45-3D37-4DC1-BAD8-92BDA3E8CB07}"/>
              </a:ext>
            </a:extLst>
          </p:cNvPr>
          <p:cNvCxnSpPr>
            <a:cxnSpLocks/>
          </p:cNvCxnSpPr>
          <p:nvPr/>
        </p:nvCxnSpPr>
        <p:spPr>
          <a:xfrm>
            <a:off x="7107370" y="3844658"/>
            <a:ext cx="458086" cy="0"/>
          </a:xfrm>
          <a:prstGeom prst="straightConnector1">
            <a:avLst/>
          </a:prstGeom>
          <a:ln w="38100">
            <a:solidFill>
              <a:srgbClr val="7275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5927AD0-DE0A-4B36-8822-358167A8D34C}"/>
              </a:ext>
            </a:extLst>
          </p:cNvPr>
          <p:cNvSpPr txBox="1"/>
          <p:nvPr/>
        </p:nvSpPr>
        <p:spPr>
          <a:xfrm>
            <a:off x="7155384" y="3920229"/>
            <a:ext cx="10086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800" dirty="0"/>
              <a:t>Проектирование </a:t>
            </a:r>
            <a:br>
              <a:rPr lang="ru-RU" sz="800" dirty="0"/>
            </a:br>
            <a:r>
              <a:rPr lang="ru-RU" sz="800" dirty="0"/>
              <a:t>услуг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62051E9-9819-494D-8D02-39E82E0DB1B9}"/>
              </a:ext>
            </a:extLst>
          </p:cNvPr>
          <p:cNvSpPr txBox="1"/>
          <p:nvPr/>
        </p:nvSpPr>
        <p:spPr>
          <a:xfrm>
            <a:off x="7966475" y="4172479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800" dirty="0"/>
              <a:t>Внедрение </a:t>
            </a:r>
            <a:br>
              <a:rPr lang="ru-RU" sz="800" dirty="0"/>
            </a:br>
            <a:r>
              <a:rPr lang="ru-RU" sz="800" dirty="0"/>
              <a:t>услуг</a:t>
            </a:r>
          </a:p>
        </p:txBody>
      </p: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4DB256E6-C528-4A06-B93B-42819E18FDC3}"/>
              </a:ext>
            </a:extLst>
          </p:cNvPr>
          <p:cNvCxnSpPr>
            <a:cxnSpLocks/>
          </p:cNvCxnSpPr>
          <p:nvPr/>
        </p:nvCxnSpPr>
        <p:spPr>
          <a:xfrm>
            <a:off x="8352590" y="4164325"/>
            <a:ext cx="458086" cy="0"/>
          </a:xfrm>
          <a:prstGeom prst="straightConnector1">
            <a:avLst/>
          </a:prstGeom>
          <a:ln w="38100">
            <a:solidFill>
              <a:srgbClr val="7275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 стрелкой 58">
            <a:extLst>
              <a:ext uri="{FF2B5EF4-FFF2-40B4-BE49-F238E27FC236}">
                <a16:creationId xmlns:a16="http://schemas.microsoft.com/office/drawing/2014/main" id="{FA262B9F-1D29-4B12-AE62-60E078E4C147}"/>
              </a:ext>
            </a:extLst>
          </p:cNvPr>
          <p:cNvCxnSpPr>
            <a:cxnSpLocks/>
          </p:cNvCxnSpPr>
          <p:nvPr/>
        </p:nvCxnSpPr>
        <p:spPr>
          <a:xfrm>
            <a:off x="7992036" y="4562051"/>
            <a:ext cx="458086" cy="0"/>
          </a:xfrm>
          <a:prstGeom prst="straightConnector1">
            <a:avLst/>
          </a:prstGeom>
          <a:ln w="38100">
            <a:solidFill>
              <a:srgbClr val="7275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93290AA2-724B-4A75-8364-469483BFDEDF}"/>
              </a:ext>
            </a:extLst>
          </p:cNvPr>
          <p:cNvCxnSpPr>
            <a:cxnSpLocks/>
          </p:cNvCxnSpPr>
          <p:nvPr/>
        </p:nvCxnSpPr>
        <p:spPr>
          <a:xfrm>
            <a:off x="9954649" y="4394782"/>
            <a:ext cx="458086" cy="0"/>
          </a:xfrm>
          <a:prstGeom prst="straightConnector1">
            <a:avLst/>
          </a:prstGeom>
          <a:ln w="38100">
            <a:solidFill>
              <a:srgbClr val="7275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3D71D85F-CC16-4951-8EAF-D76CF3C35A2F}"/>
              </a:ext>
            </a:extLst>
          </p:cNvPr>
          <p:cNvCxnSpPr>
            <a:cxnSpLocks/>
          </p:cNvCxnSpPr>
          <p:nvPr/>
        </p:nvCxnSpPr>
        <p:spPr>
          <a:xfrm>
            <a:off x="10393863" y="4644588"/>
            <a:ext cx="75167" cy="363270"/>
          </a:xfrm>
          <a:prstGeom prst="straightConnector1">
            <a:avLst/>
          </a:prstGeom>
          <a:ln w="38100">
            <a:solidFill>
              <a:srgbClr val="7275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id="{D7E81AEA-2621-427C-8255-6248D94F0D6C}"/>
              </a:ext>
            </a:extLst>
          </p:cNvPr>
          <p:cNvCxnSpPr>
            <a:cxnSpLocks/>
          </p:cNvCxnSpPr>
          <p:nvPr/>
        </p:nvCxnSpPr>
        <p:spPr>
          <a:xfrm>
            <a:off x="10834711" y="5597913"/>
            <a:ext cx="0" cy="512956"/>
          </a:xfrm>
          <a:prstGeom prst="straightConnector1">
            <a:avLst/>
          </a:prstGeom>
          <a:ln w="38100">
            <a:solidFill>
              <a:srgbClr val="7275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 стрелкой 66">
            <a:extLst>
              <a:ext uri="{FF2B5EF4-FFF2-40B4-BE49-F238E27FC236}">
                <a16:creationId xmlns:a16="http://schemas.microsoft.com/office/drawing/2014/main" id="{A24826E4-03B9-422D-837B-9D0E1912619C}"/>
              </a:ext>
            </a:extLst>
          </p:cNvPr>
          <p:cNvCxnSpPr>
            <a:cxnSpLocks/>
          </p:cNvCxnSpPr>
          <p:nvPr/>
        </p:nvCxnSpPr>
        <p:spPr>
          <a:xfrm>
            <a:off x="6816552" y="5597913"/>
            <a:ext cx="0" cy="512956"/>
          </a:xfrm>
          <a:prstGeom prst="straightConnector1">
            <a:avLst/>
          </a:prstGeom>
          <a:ln w="38100">
            <a:solidFill>
              <a:srgbClr val="7275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 стрелкой 67">
            <a:extLst>
              <a:ext uri="{FF2B5EF4-FFF2-40B4-BE49-F238E27FC236}">
                <a16:creationId xmlns:a16="http://schemas.microsoft.com/office/drawing/2014/main" id="{B38FA66F-8ABB-4545-86EB-B7FD95803FFA}"/>
              </a:ext>
            </a:extLst>
          </p:cNvPr>
          <p:cNvCxnSpPr>
            <a:cxnSpLocks/>
          </p:cNvCxnSpPr>
          <p:nvPr/>
        </p:nvCxnSpPr>
        <p:spPr>
          <a:xfrm flipV="1">
            <a:off x="6400404" y="5597913"/>
            <a:ext cx="0" cy="475786"/>
          </a:xfrm>
          <a:prstGeom prst="straightConnector1">
            <a:avLst/>
          </a:prstGeom>
          <a:ln w="38100">
            <a:solidFill>
              <a:srgbClr val="7275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>
            <a:extLst>
              <a:ext uri="{FF2B5EF4-FFF2-40B4-BE49-F238E27FC236}">
                <a16:creationId xmlns:a16="http://schemas.microsoft.com/office/drawing/2014/main" id="{670C0C04-34E2-4D3C-8BB9-0C581F55A331}"/>
              </a:ext>
            </a:extLst>
          </p:cNvPr>
          <p:cNvCxnSpPr>
            <a:cxnSpLocks/>
          </p:cNvCxnSpPr>
          <p:nvPr/>
        </p:nvCxnSpPr>
        <p:spPr>
          <a:xfrm>
            <a:off x="7144233" y="4751380"/>
            <a:ext cx="0" cy="512956"/>
          </a:xfrm>
          <a:prstGeom prst="straightConnector1">
            <a:avLst/>
          </a:prstGeom>
          <a:ln w="38100">
            <a:solidFill>
              <a:srgbClr val="7275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 стрелкой 70">
            <a:extLst>
              <a:ext uri="{FF2B5EF4-FFF2-40B4-BE49-F238E27FC236}">
                <a16:creationId xmlns:a16="http://schemas.microsoft.com/office/drawing/2014/main" id="{979CE627-9B81-409F-95CD-376AA575C2CC}"/>
              </a:ext>
            </a:extLst>
          </p:cNvPr>
          <p:cNvCxnSpPr>
            <a:cxnSpLocks/>
          </p:cNvCxnSpPr>
          <p:nvPr/>
        </p:nvCxnSpPr>
        <p:spPr>
          <a:xfrm flipV="1">
            <a:off x="6728085" y="4751380"/>
            <a:ext cx="0" cy="475786"/>
          </a:xfrm>
          <a:prstGeom prst="straightConnector1">
            <a:avLst/>
          </a:prstGeom>
          <a:ln w="38100">
            <a:solidFill>
              <a:srgbClr val="7275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 стрелкой 71">
            <a:extLst>
              <a:ext uri="{FF2B5EF4-FFF2-40B4-BE49-F238E27FC236}">
                <a16:creationId xmlns:a16="http://schemas.microsoft.com/office/drawing/2014/main" id="{396F3396-18E1-48C3-A6EA-2FBCD0E41271}"/>
              </a:ext>
            </a:extLst>
          </p:cNvPr>
          <p:cNvCxnSpPr>
            <a:cxnSpLocks/>
          </p:cNvCxnSpPr>
          <p:nvPr/>
        </p:nvCxnSpPr>
        <p:spPr>
          <a:xfrm>
            <a:off x="9433372" y="4826223"/>
            <a:ext cx="0" cy="1284646"/>
          </a:xfrm>
          <a:prstGeom prst="straightConnector1">
            <a:avLst/>
          </a:prstGeom>
          <a:ln w="38100">
            <a:solidFill>
              <a:srgbClr val="7275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>
            <a:extLst>
              <a:ext uri="{FF2B5EF4-FFF2-40B4-BE49-F238E27FC236}">
                <a16:creationId xmlns:a16="http://schemas.microsoft.com/office/drawing/2014/main" id="{678470A5-50B1-4F29-A67D-915BC3C46E7B}"/>
              </a:ext>
            </a:extLst>
          </p:cNvPr>
          <p:cNvCxnSpPr>
            <a:cxnSpLocks/>
          </p:cNvCxnSpPr>
          <p:nvPr/>
        </p:nvCxnSpPr>
        <p:spPr>
          <a:xfrm flipH="1" flipV="1">
            <a:off x="8806562" y="4826223"/>
            <a:ext cx="4114" cy="1247476"/>
          </a:xfrm>
          <a:prstGeom prst="straightConnector1">
            <a:avLst/>
          </a:prstGeom>
          <a:ln w="38100">
            <a:solidFill>
              <a:srgbClr val="7275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5679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page number">
            <a:extLst>
              <a:ext uri="{FF2B5EF4-FFF2-40B4-BE49-F238E27FC236}">
                <a16:creationId xmlns:a16="http://schemas.microsoft.com/office/drawing/2014/main" id="{BE1DEFB6-B20E-466F-8C30-9ABC834B3A15}"/>
              </a:ext>
            </a:extLst>
          </p:cNvPr>
          <p:cNvGrpSpPr/>
          <p:nvPr/>
        </p:nvGrpSpPr>
        <p:grpSpPr>
          <a:xfrm>
            <a:off x="11377061" y="6242955"/>
            <a:ext cx="502950" cy="365125"/>
            <a:chOff x="11377061" y="6242955"/>
            <a:chExt cx="502950" cy="365125"/>
          </a:xfrm>
        </p:grpSpPr>
        <p:sp>
          <p:nvSpPr>
            <p:cNvPr id="31" name="page number">
              <a:extLst>
                <a:ext uri="{FF2B5EF4-FFF2-40B4-BE49-F238E27FC236}">
                  <a16:creationId xmlns:a16="http://schemas.microsoft.com/office/drawing/2014/main" id="{CCB0F7F8-505C-4D10-B527-19444AAC8A08}"/>
                </a:ext>
              </a:extLst>
            </p:cNvPr>
            <p:cNvSpPr txBox="1">
              <a:spLocks/>
            </p:cNvSpPr>
            <p:nvPr/>
          </p:nvSpPr>
          <p:spPr>
            <a:xfrm>
              <a:off x="11377061" y="6242955"/>
              <a:ext cx="443463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43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rectangles">
              <a:extLst>
                <a:ext uri="{FF2B5EF4-FFF2-40B4-BE49-F238E27FC236}">
                  <a16:creationId xmlns:a16="http://schemas.microsoft.com/office/drawing/2014/main" id="{597F75CA-DD93-4384-A982-204399532152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33" name="rectangle">
                <a:extLst>
                  <a:ext uri="{FF2B5EF4-FFF2-40B4-BE49-F238E27FC236}">
                    <a16:creationId xmlns:a16="http://schemas.microsoft.com/office/drawing/2014/main" id="{1DF090C8-1F9F-4CEF-B32E-F54CAAD642B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rectangle">
                <a:extLst>
                  <a:ext uri="{FF2B5EF4-FFF2-40B4-BE49-F238E27FC236}">
                    <a16:creationId xmlns:a16="http://schemas.microsoft.com/office/drawing/2014/main" id="{69F41568-5F1C-494E-AF30-78AA4B0E0C76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E1D9D806-FF6E-4FEF-9686-05C030492861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rectangle">
                <a:extLst>
                  <a:ext uri="{FF2B5EF4-FFF2-40B4-BE49-F238E27FC236}">
                    <a16:creationId xmlns:a16="http://schemas.microsoft.com/office/drawing/2014/main" id="{DDF61737-310A-401B-A9AA-710EBEE78874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9CDDC3-CD62-48FA-BD7F-D0C166C16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877" y="420687"/>
            <a:ext cx="1329480" cy="262659"/>
          </a:xfrm>
          <a:prstGeom prst="rect">
            <a:avLst/>
          </a:prstGeom>
        </p:spPr>
      </p:pic>
      <p:pic>
        <p:nvPicPr>
          <p:cNvPr id="49" name="Рисунок 48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B8075A74-DF26-4D36-8889-E865A16EF17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041" y="192282"/>
            <a:ext cx="1330391" cy="748529"/>
          </a:xfrm>
          <a:prstGeom prst="rect">
            <a:avLst/>
          </a:prstGeom>
        </p:spPr>
      </p:pic>
      <p:sp>
        <p:nvSpPr>
          <p:cNvPr id="50" name="object 4">
            <a:extLst>
              <a:ext uri="{FF2B5EF4-FFF2-40B4-BE49-F238E27FC236}">
                <a16:creationId xmlns:a16="http://schemas.microsoft.com/office/drawing/2014/main" id="{E10EFD89-8C91-44B4-BF0A-FE4C78D56557}"/>
              </a:ext>
            </a:extLst>
          </p:cNvPr>
          <p:cNvSpPr txBox="1"/>
          <p:nvPr/>
        </p:nvSpPr>
        <p:spPr>
          <a:xfrm>
            <a:off x="616804" y="2166456"/>
            <a:ext cx="8293237" cy="387927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8450" indent="-285750">
              <a:spcBef>
                <a:spcPts val="865"/>
              </a:spcBef>
              <a:buClr>
                <a:schemeClr val="tx1"/>
              </a:buClr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lang="ru-RU" b="1" spc="60" dirty="0">
                <a:solidFill>
                  <a:srgbClr val="0B2D5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Продолжение в следующей лекции…</a:t>
            </a:r>
          </a:p>
        </p:txBody>
      </p:sp>
      <p:sp>
        <p:nvSpPr>
          <p:cNvPr id="14" name="main title">
            <a:extLst>
              <a:ext uri="{FF2B5EF4-FFF2-40B4-BE49-F238E27FC236}">
                <a16:creationId xmlns:a16="http://schemas.microsoft.com/office/drawing/2014/main" id="{CA6DCC80-F3BA-43C5-A46B-D1F3F52921A0}"/>
              </a:ext>
            </a:extLst>
          </p:cNvPr>
          <p:cNvSpPr txBox="1"/>
          <p:nvPr/>
        </p:nvSpPr>
        <p:spPr>
          <a:xfrm>
            <a:off x="668604" y="566547"/>
            <a:ext cx="34563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Построение стратегии</a:t>
            </a:r>
          </a:p>
        </p:txBody>
      </p:sp>
    </p:spTree>
    <p:extLst>
      <p:ext uri="{BB962C8B-B14F-4D97-AF65-F5344CB8AC3E}">
        <p14:creationId xmlns:p14="http://schemas.microsoft.com/office/powerpoint/2010/main" val="41333580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E2079FF-AB4C-4443-859C-EB2D8389B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56" y="5714726"/>
            <a:ext cx="1056455" cy="1056455"/>
          </a:xfrm>
          <a:prstGeom prst="rect">
            <a:avLst/>
          </a:prstGeom>
        </p:spPr>
      </p:pic>
      <p:grpSp>
        <p:nvGrpSpPr>
          <p:cNvPr id="6" name="rectangles">
            <a:extLst>
              <a:ext uri="{FF2B5EF4-FFF2-40B4-BE49-F238E27FC236}">
                <a16:creationId xmlns:a16="http://schemas.microsoft.com/office/drawing/2014/main" id="{1D3C2D23-841F-4EF9-9B7C-3DBFE0203329}"/>
              </a:ext>
            </a:extLst>
          </p:cNvPr>
          <p:cNvGrpSpPr/>
          <p:nvPr/>
        </p:nvGrpSpPr>
        <p:grpSpPr>
          <a:xfrm>
            <a:off x="0" y="5374434"/>
            <a:ext cx="12192000" cy="189470"/>
            <a:chOff x="0" y="2512541"/>
            <a:chExt cx="12192000" cy="189470"/>
          </a:xfrm>
        </p:grpSpPr>
        <p:sp>
          <p:nvSpPr>
            <p:cNvPr id="7" name="Rectangle 1">
              <a:extLst>
                <a:ext uri="{FF2B5EF4-FFF2-40B4-BE49-F238E27FC236}">
                  <a16:creationId xmlns:a16="http://schemas.microsoft.com/office/drawing/2014/main" id="{7608F51B-46F0-4C77-93AF-513543D4814D}"/>
                </a:ext>
              </a:extLst>
            </p:cNvPr>
            <p:cNvSpPr/>
            <p:nvPr/>
          </p:nvSpPr>
          <p:spPr>
            <a:xfrm>
              <a:off x="0" y="2512541"/>
              <a:ext cx="3048000" cy="189470"/>
            </a:xfrm>
            <a:prstGeom prst="rect">
              <a:avLst/>
            </a:prstGeom>
            <a:solidFill>
              <a:srgbClr val="ABC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Rectangle 2">
              <a:extLst>
                <a:ext uri="{FF2B5EF4-FFF2-40B4-BE49-F238E27FC236}">
                  <a16:creationId xmlns:a16="http://schemas.microsoft.com/office/drawing/2014/main" id="{35A7F428-4552-495D-A7C8-4BA941ACBA26}"/>
                </a:ext>
              </a:extLst>
            </p:cNvPr>
            <p:cNvSpPr/>
            <p:nvPr/>
          </p:nvSpPr>
          <p:spPr>
            <a:xfrm>
              <a:off x="3048000" y="2512541"/>
              <a:ext cx="3048000" cy="189470"/>
            </a:xfrm>
            <a:prstGeom prst="rect">
              <a:avLst/>
            </a:prstGeom>
            <a:solidFill>
              <a:srgbClr val="4F9B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7FB906F2-1BD0-4E7C-867B-D7BD45BE9038}"/>
                </a:ext>
              </a:extLst>
            </p:cNvPr>
            <p:cNvSpPr/>
            <p:nvPr/>
          </p:nvSpPr>
          <p:spPr>
            <a:xfrm>
              <a:off x="6096000" y="2512541"/>
              <a:ext cx="3048000" cy="189470"/>
            </a:xfrm>
            <a:prstGeom prst="rect">
              <a:avLst/>
            </a:prstGeom>
            <a:solidFill>
              <a:srgbClr val="124D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7884C471-BC70-4F0A-97DE-139CC61B5FF7}"/>
                </a:ext>
              </a:extLst>
            </p:cNvPr>
            <p:cNvSpPr/>
            <p:nvPr/>
          </p:nvSpPr>
          <p:spPr>
            <a:xfrm>
              <a:off x="9144000" y="2512541"/>
              <a:ext cx="3048000" cy="189470"/>
            </a:xfrm>
            <a:prstGeom prst="rect">
              <a:avLst/>
            </a:prstGeom>
            <a:solidFill>
              <a:srgbClr val="0B2D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2" name="main title">
            <a:extLst>
              <a:ext uri="{FF2B5EF4-FFF2-40B4-BE49-F238E27FC236}">
                <a16:creationId xmlns:a16="http://schemas.microsoft.com/office/drawing/2014/main" id="{8A1E8062-5803-4264-83E2-CBFD1FAFAD4D}"/>
              </a:ext>
            </a:extLst>
          </p:cNvPr>
          <p:cNvSpPr txBox="1"/>
          <p:nvPr/>
        </p:nvSpPr>
        <p:spPr>
          <a:xfrm>
            <a:off x="4129757" y="5809285"/>
            <a:ext cx="3932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Спасибо за внимание!</a:t>
            </a:r>
          </a:p>
        </p:txBody>
      </p:sp>
      <p:grpSp>
        <p:nvGrpSpPr>
          <p:cNvPr id="13" name="page number">
            <a:extLst>
              <a:ext uri="{FF2B5EF4-FFF2-40B4-BE49-F238E27FC236}">
                <a16:creationId xmlns:a16="http://schemas.microsoft.com/office/drawing/2014/main" id="{1EDF4B45-6154-4F2B-8437-69BB7CFA105A}"/>
              </a:ext>
            </a:extLst>
          </p:cNvPr>
          <p:cNvGrpSpPr/>
          <p:nvPr/>
        </p:nvGrpSpPr>
        <p:grpSpPr>
          <a:xfrm>
            <a:off x="11348815" y="6242955"/>
            <a:ext cx="531196" cy="365125"/>
            <a:chOff x="11422855" y="6242955"/>
            <a:chExt cx="457156" cy="365125"/>
          </a:xfrm>
        </p:grpSpPr>
        <p:sp>
          <p:nvSpPr>
            <p:cNvPr id="14" name="page number">
              <a:extLst>
                <a:ext uri="{FF2B5EF4-FFF2-40B4-BE49-F238E27FC236}">
                  <a16:creationId xmlns:a16="http://schemas.microsoft.com/office/drawing/2014/main" id="{30B463D4-820E-41EF-BF3C-976EFADAF976}"/>
                </a:ext>
              </a:extLst>
            </p:cNvPr>
            <p:cNvSpPr txBox="1">
              <a:spLocks/>
            </p:cNvSpPr>
            <p:nvPr/>
          </p:nvSpPr>
          <p:spPr>
            <a:xfrm>
              <a:off x="11422855" y="6242955"/>
              <a:ext cx="397669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44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5" name="rectangles">
              <a:extLst>
                <a:ext uri="{FF2B5EF4-FFF2-40B4-BE49-F238E27FC236}">
                  <a16:creationId xmlns:a16="http://schemas.microsoft.com/office/drawing/2014/main" id="{CAC44492-119C-41B4-AA7C-EC0D23746605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16" name="rectangle">
                <a:extLst>
                  <a:ext uri="{FF2B5EF4-FFF2-40B4-BE49-F238E27FC236}">
                    <a16:creationId xmlns:a16="http://schemas.microsoft.com/office/drawing/2014/main" id="{DA7939C7-5B3A-4DCD-927C-44A3B4AF1D76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rectangle">
                <a:extLst>
                  <a:ext uri="{FF2B5EF4-FFF2-40B4-BE49-F238E27FC236}">
                    <a16:creationId xmlns:a16="http://schemas.microsoft.com/office/drawing/2014/main" id="{CDBCABD0-266F-4415-856E-4EC9AD5E93B8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" name="rectangle">
                <a:extLst>
                  <a:ext uri="{FF2B5EF4-FFF2-40B4-BE49-F238E27FC236}">
                    <a16:creationId xmlns:a16="http://schemas.microsoft.com/office/drawing/2014/main" id="{7FC3A1E2-F2DB-45DE-8010-8D1B818102C3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rectangle">
                <a:extLst>
                  <a:ext uri="{FF2B5EF4-FFF2-40B4-BE49-F238E27FC236}">
                    <a16:creationId xmlns:a16="http://schemas.microsoft.com/office/drawing/2014/main" id="{B7D6BF6D-EDA6-4E0D-BC64-8F42699E4DCC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3" name="Рисунок 2" descr="Изображение выглядит как на открытом воздухе, небо, дерево, строительство&#10;&#10;Автоматически созданное описание">
            <a:extLst>
              <a:ext uri="{FF2B5EF4-FFF2-40B4-BE49-F238E27FC236}">
                <a16:creationId xmlns:a16="http://schemas.microsoft.com/office/drawing/2014/main" id="{DACC04C5-144B-47C9-D097-0E04A102D7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87"/>
          <a:stretch/>
        </p:blipFill>
        <p:spPr>
          <a:xfrm>
            <a:off x="0" y="0"/>
            <a:ext cx="12192000" cy="535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7513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рэу">
      <a:dk1>
        <a:srgbClr val="0B2D50"/>
      </a:dk1>
      <a:lt1>
        <a:sysClr val="window" lastClr="FFFFFF"/>
      </a:lt1>
      <a:dk2>
        <a:srgbClr val="0B2D50"/>
      </a:dk2>
      <a:lt2>
        <a:srgbClr val="FFFFFF"/>
      </a:lt2>
      <a:accent1>
        <a:srgbClr val="0B2D50"/>
      </a:accent1>
      <a:accent2>
        <a:srgbClr val="AB1F03"/>
      </a:accent2>
      <a:accent3>
        <a:srgbClr val="C69F5A"/>
      </a:accent3>
      <a:accent4>
        <a:srgbClr val="1864B0"/>
      </a:accent4>
      <a:accent5>
        <a:srgbClr val="86BAEE"/>
      </a:accent5>
      <a:accent6>
        <a:srgbClr val="2A86E2"/>
      </a:accent6>
      <a:hlink>
        <a:srgbClr val="0563C1"/>
      </a:hlink>
      <a:folHlink>
        <a:srgbClr val="954F72"/>
      </a:folHlink>
    </a:clrScheme>
    <a:fontScheme name="рэу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8308</TotalTime>
  <Words>2668</Words>
  <Application>Microsoft Office PowerPoint</Application>
  <PresentationFormat>Широкоэкранный</PresentationFormat>
  <Paragraphs>463</Paragraphs>
  <Slides>44</Slides>
  <Notes>36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52" baseType="lpstr">
      <vt:lpstr>Arial</vt:lpstr>
      <vt:lpstr>Arial Black</vt:lpstr>
      <vt:lpstr>Arial MT</vt:lpstr>
      <vt:lpstr>Arial Narrow</vt:lpstr>
      <vt:lpstr>Calibri</vt:lpstr>
      <vt:lpstr>Lora</vt:lpstr>
      <vt:lpstr>Open Sans Regular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Игорь Межуев</dc:creator>
  <cp:lastModifiedBy>Игорь Межуев</cp:lastModifiedBy>
  <cp:revision>583</cp:revision>
  <dcterms:created xsi:type="dcterms:W3CDTF">2022-12-06T06:31:10Z</dcterms:created>
  <dcterms:modified xsi:type="dcterms:W3CDTF">2025-03-04T08:13:58Z</dcterms:modified>
</cp:coreProperties>
</file>