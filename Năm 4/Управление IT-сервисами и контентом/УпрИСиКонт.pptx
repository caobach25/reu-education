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363" r:id="rId2"/>
    <p:sldId id="369" r:id="rId3"/>
    <p:sldId id="420" r:id="rId4"/>
    <p:sldId id="388" r:id="rId5"/>
    <p:sldId id="389" r:id="rId6"/>
    <p:sldId id="380" r:id="rId7"/>
    <p:sldId id="387" r:id="rId8"/>
    <p:sldId id="393" r:id="rId9"/>
    <p:sldId id="382" r:id="rId10"/>
    <p:sldId id="383" r:id="rId11"/>
    <p:sldId id="390" r:id="rId12"/>
    <p:sldId id="384" r:id="rId13"/>
    <p:sldId id="386" r:id="rId14"/>
    <p:sldId id="381" r:id="rId15"/>
    <p:sldId id="392" r:id="rId16"/>
    <p:sldId id="394" r:id="rId17"/>
    <p:sldId id="406" r:id="rId18"/>
    <p:sldId id="408" r:id="rId19"/>
    <p:sldId id="397" r:id="rId20"/>
    <p:sldId id="421" r:id="rId21"/>
    <p:sldId id="391" r:id="rId22"/>
    <p:sldId id="399" r:id="rId23"/>
    <p:sldId id="400" r:id="rId24"/>
    <p:sldId id="401" r:id="rId25"/>
    <p:sldId id="402" r:id="rId26"/>
    <p:sldId id="403" r:id="rId27"/>
    <p:sldId id="411" r:id="rId28"/>
    <p:sldId id="409" r:id="rId29"/>
    <p:sldId id="398" r:id="rId30"/>
    <p:sldId id="413" r:id="rId31"/>
    <p:sldId id="412" r:id="rId32"/>
    <p:sldId id="414" r:id="rId33"/>
    <p:sldId id="415" r:id="rId34"/>
    <p:sldId id="385" r:id="rId35"/>
    <p:sldId id="416" r:id="rId36"/>
    <p:sldId id="379" r:id="rId37"/>
    <p:sldId id="417" r:id="rId38"/>
    <p:sldId id="418" r:id="rId39"/>
    <p:sldId id="419" r:id="rId40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0F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1" autoAdjust="0"/>
    <p:restoredTop sz="88910" autoAdjust="0"/>
  </p:normalViewPr>
  <p:slideViewPr>
    <p:cSldViewPr snapToGrid="0">
      <p:cViewPr varScale="1">
        <p:scale>
          <a:sx n="98" d="100"/>
          <a:sy n="98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4721E-AF81-4C0B-BB0D-E5F67F949EF0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AE685-3EC1-4882-A903-13C8A7CBA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819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D257C-B571-439F-A8E2-3534588A480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726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377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08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/>
              <a:t>A means of delivering value to customers by facilitating outcomes customers </a:t>
            </a:r>
          </a:p>
          <a:p>
            <a:r>
              <a:rPr lang="en-US" sz="1050" dirty="0"/>
              <a:t>want to achieve, but without the ownership of specific costs and risks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030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656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78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321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163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990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524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332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454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D257C-B571-439F-A8E2-3534588A480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135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897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475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417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118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10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608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834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812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990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6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332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40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D257C-B571-439F-A8E2-3534588A4804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1534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627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3783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933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6707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7929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1070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D257C-B571-439F-A8E2-3534588A480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2530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5970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3394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6128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9076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AE685-3EC1-4882-A903-13C8A7CBAF2B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80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Oval 5"/>
          <p:cNvSpPr/>
          <p:nvPr/>
        </p:nvSpPr>
        <p:spPr>
          <a:xfrm>
            <a:off x="0" y="0"/>
            <a:ext cx="12192000" cy="457200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7"/>
          <p:cNvCxnSpPr/>
          <p:nvPr/>
        </p:nvCxnSpPr>
        <p:spPr>
          <a:xfrm flipV="1">
            <a:off x="8386763" y="526415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/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9CA5087-C386-4787-8437-3F67C9256BD2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043AB-ADAC-459E-AA6F-FF3B04B266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BC2A4-0E23-486C-A908-B9994EC5498E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B183-9F77-4749-92E9-4E75E74D36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Oval 5"/>
          <p:cNvSpPr/>
          <p:nvPr/>
        </p:nvSpPr>
        <p:spPr>
          <a:xfrm>
            <a:off x="0" y="0"/>
            <a:ext cx="12192000" cy="4572000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7"/>
          <p:cNvCxnSpPr/>
          <p:nvPr/>
        </p:nvCxnSpPr>
        <p:spPr>
          <a:xfrm flipV="1">
            <a:off x="8386763" y="526415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/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C783-4C6A-41E8-88C6-A2957C91A295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24052-AB80-4A54-8349-878491FA441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6C023-D353-4609-BE1F-248A1A830DAE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D0D32-7B51-41A8-9978-20E666667E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88CDF-8259-4020-AD10-50DF5192CA61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80298-805B-49AA-A7D0-6BB385CD1F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CEA19-A959-49D9-99DC-DBAF990A1316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2C4ED-B24F-45E7-AB4E-039AAA42813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5E422-603A-4CE2-A842-4683DECE4245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F53BA-F695-4573-BBAA-F9F6EFBABB3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861C5-0DB8-4FC5-ACB5-9F36F1FB3B28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25501-0AE5-4FF4-AFD7-6B96B57366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/>
          <p:cNvCxnSpPr/>
          <p:nvPr/>
        </p:nvCxnSpPr>
        <p:spPr>
          <a:xfrm flipV="1">
            <a:off x="8386763" y="5264150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/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22F95-13F2-4EBD-8159-D6AB5A3EE6B6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CDFD7-BCE9-4A0E-A2C4-BCFA676D39E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2A690-990D-4DBD-95A2-49D3C2E8B185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837F8-5206-46DD-83EF-A24F6A75A3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 rot="5400000" flipV="1">
            <a:off x="10058400" y="58738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974DE-2FD6-4FA9-AC67-42F9671F9925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3DA5A-151F-4DCD-959F-00AEE1119E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3938" y="585788"/>
            <a:ext cx="9720262" cy="1498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3938" y="2286000"/>
            <a:ext cx="9720262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938" y="6470650"/>
            <a:ext cx="2154237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AC59318-C908-4948-AE4D-052CAEFCC6DC}" type="datetimeFigureOut">
              <a:rPr lang="ru-RU"/>
              <a:pPr>
                <a:defRPr/>
              </a:pPr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3463" y="6470650"/>
            <a:ext cx="5900737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863" y="6470650"/>
            <a:ext cx="973137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BD559E6-D8C8-4345-AFBC-B8D5736DA22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7088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73" r:id="rId3"/>
    <p:sldLayoutId id="2147483667" r:id="rId4"/>
    <p:sldLayoutId id="2147483668" r:id="rId5"/>
    <p:sldLayoutId id="2147483669" r:id="rId6"/>
    <p:sldLayoutId id="2147483674" r:id="rId7"/>
    <p:sldLayoutId id="2147483670" r:id="rId8"/>
    <p:sldLayoutId id="2147483675" r:id="rId9"/>
    <p:sldLayoutId id="2147483671" r:id="rId10"/>
    <p:sldLayoutId id="2147483676" r:id="rId11"/>
  </p:sldLayoutIdLst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000" kern="1200" cap="all" spc="10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5000">
          <a:solidFill>
            <a:srgbClr val="0D0D0D"/>
          </a:solidFill>
          <a:latin typeface="Calibri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13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447675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3725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6288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585215"/>
            <a:ext cx="8971928" cy="1684259"/>
          </a:xfrm>
        </p:spPr>
        <p:txBody>
          <a:bodyPr>
            <a:noAutofit/>
          </a:bodyPr>
          <a:lstStyle/>
          <a:p>
            <a:r>
              <a:rPr lang="ru-RU" dirty="0"/>
              <a:t>Управление Информационными сервисами и контентом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3887" y="2628901"/>
            <a:ext cx="6442274" cy="39922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Поставщик ИТ-сервисов: предложение заказчику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Разработка SLA. Разработка</a:t>
            </a:r>
            <a:r>
              <a:rPr lang="en-US" sz="3200" dirty="0"/>
              <a:t> </a:t>
            </a:r>
            <a:r>
              <a:rPr lang="ru-RU" sz="3200" dirty="0"/>
              <a:t>политики информационной безопасности.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Моделирование управления изменениями. Имитация управления инцидентами.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87641" y="2614153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99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noProof="1"/>
              <a:t>Литература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557137" y="1885798"/>
            <a:ext cx="3613783" cy="448569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dirty="0"/>
              <a:t> </a:t>
            </a:r>
            <a:r>
              <a:rPr lang="en-GB" dirty="0">
                <a:latin typeface="Calibri" panose="020F0502020204030204" pitchFamily="34" charset="0"/>
              </a:rPr>
              <a:t>ITIL. IT Service Management </a:t>
            </a:r>
            <a:r>
              <a:rPr lang="ru-RU" dirty="0"/>
              <a:t>по стандартам </a:t>
            </a:r>
            <a:r>
              <a:rPr lang="en-GB" dirty="0">
                <a:latin typeface="Calibri" panose="020F0502020204030204" pitchFamily="34" charset="0"/>
              </a:rPr>
              <a:t>V.3.1 </a:t>
            </a:r>
            <a:r>
              <a:rPr lang="en-US" dirty="0"/>
              <a:t>/</a:t>
            </a:r>
            <a:r>
              <a:rPr lang="ru-RU" dirty="0"/>
              <a:t> Д. А. </a:t>
            </a:r>
            <a:r>
              <a:rPr lang="ru-RU" noProof="1"/>
              <a:t>Скрипник</a:t>
            </a:r>
            <a:r>
              <a:rPr lang="ru-RU" dirty="0"/>
              <a:t>, ИНТУИТ. М.: 2016. </a:t>
            </a:r>
          </a:p>
          <a:p>
            <a:pPr>
              <a:buFont typeface="Wingdings" pitchFamily="2" charset="2"/>
              <a:buChar char="q"/>
            </a:pPr>
            <a:r>
              <a:rPr lang="ru-RU" dirty="0"/>
              <a:t> </a:t>
            </a:r>
            <a:r>
              <a:rPr lang="en-GB" dirty="0">
                <a:latin typeface="Calibri" panose="020F0502020204030204" pitchFamily="34" charset="0"/>
              </a:rPr>
              <a:t>ITIL. IT Service Management </a:t>
            </a:r>
            <a:r>
              <a:rPr lang="ru-RU" dirty="0"/>
              <a:t>по стандартам </a:t>
            </a:r>
            <a:r>
              <a:rPr lang="en-GB" dirty="0">
                <a:latin typeface="Calibri" panose="020F0502020204030204" pitchFamily="34" charset="0"/>
              </a:rPr>
              <a:t>V.3.1</a:t>
            </a:r>
            <a:r>
              <a:rPr lang="ru-RU" dirty="0"/>
              <a:t>: </a:t>
            </a:r>
            <a:br>
              <a:rPr lang="ru-RU" dirty="0"/>
            </a:br>
            <a:r>
              <a:rPr lang="ru-RU" dirty="0"/>
              <a:t>онлайн курс ИНТУИТ </a:t>
            </a:r>
            <a:r>
              <a:rPr lang="en-GB" dirty="0">
                <a:latin typeface="Calibri" panose="020F0502020204030204" pitchFamily="34" charset="0"/>
              </a:rPr>
              <a:t>https://www.intuit.ru/studies/courses/2323/623/info</a:t>
            </a:r>
            <a:endParaRPr lang="ru-RU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08" y="1871050"/>
            <a:ext cx="4161597" cy="262085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224" y="1803663"/>
            <a:ext cx="3064468" cy="466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1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</a:rPr>
              <a:t>Творческий рейтинг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Подготовить презентацию «</a:t>
            </a:r>
            <a:r>
              <a:rPr lang="ru-RU" sz="3200" b="1" dirty="0"/>
              <a:t>Управление поставщиками»</a:t>
            </a:r>
            <a:r>
              <a:rPr lang="ru-RU" sz="3200" dirty="0"/>
              <a:t> в формате </a:t>
            </a:r>
            <a:r>
              <a:rPr lang="en-US" sz="3200" dirty="0"/>
              <a:t>PowerPoint</a:t>
            </a:r>
            <a:r>
              <a:rPr lang="ru-RU" sz="3200" dirty="0"/>
              <a:t>: обосновать выбор компании-контрагента, поставляющей продукцию для деятельности вашей IT компании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Раздел курса/книги ITIL: 6.3 Управление поставщиками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Срок сдачи презентации: </a:t>
            </a:r>
            <a:r>
              <a:rPr lang="ru-RU" sz="3200"/>
              <a:t>до 25.12.202*</a:t>
            </a:r>
            <a:endParaRPr lang="ru-RU" sz="3200" dirty="0"/>
          </a:p>
          <a:p>
            <a:pPr>
              <a:buFont typeface="Wingdings" pitchFamily="2" charset="2"/>
              <a:buChar char="q"/>
            </a:pPr>
            <a:endParaRPr 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53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</a:rPr>
              <a:t>ITIL </a:t>
            </a:r>
            <a:r>
              <a:rPr lang="ru-RU" dirty="0"/>
              <a:t>и</a:t>
            </a:r>
            <a:r>
              <a:rPr lang="ru-RU" dirty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ITSM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i="1" dirty="0"/>
              <a:t> </a:t>
            </a:r>
            <a:r>
              <a:rPr lang="en-US" sz="3200" dirty="0">
                <a:latin typeface="Calibri" panose="020F0502020204030204" pitchFamily="34" charset="0"/>
              </a:rPr>
              <a:t>Information Technology Infrastructure Library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dirty="0"/>
              <a:t> </a:t>
            </a:r>
            <a:r>
              <a:rPr lang="ru-RU" sz="2800" u="sng" dirty="0"/>
              <a:t>библиотека</a:t>
            </a:r>
            <a:r>
              <a:rPr lang="ru-RU" sz="2800" dirty="0"/>
              <a:t> инфраструктуры информационных технологий</a:t>
            </a:r>
            <a:endParaRPr lang="en-US" sz="2800" dirty="0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sz="2800" i="1" noProof="1"/>
              <a:t> </a:t>
            </a:r>
            <a:r>
              <a:rPr lang="ru-RU" sz="2800" noProof="1"/>
              <a:t>лучшие практики</a:t>
            </a:r>
            <a:endParaRPr lang="en-US" sz="2800" noProof="1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sz="2800" noProof="1"/>
              <a:t> </a:t>
            </a:r>
            <a:r>
              <a:rPr lang="ru-RU" sz="2800" noProof="1"/>
              <a:t>процессы: управление иницидентами, …</a:t>
            </a:r>
            <a:endParaRPr lang="en-GB" sz="2800" noProof="1"/>
          </a:p>
          <a:p>
            <a:pPr>
              <a:buFont typeface="Wingdings" pitchFamily="2" charset="2"/>
              <a:buChar char="q"/>
            </a:pPr>
            <a:r>
              <a:rPr lang="ru-RU" sz="3200" i="1" dirty="0"/>
              <a:t> </a:t>
            </a:r>
            <a:r>
              <a:rPr lang="en-US" sz="3200" dirty="0">
                <a:latin typeface="Calibri" panose="020F0502020204030204" pitchFamily="34" charset="0"/>
              </a:rPr>
              <a:t>Information Technology Service Management</a:t>
            </a:r>
            <a:r>
              <a:rPr lang="ru-RU" sz="3200" dirty="0">
                <a:latin typeface="Calibri" panose="020F0502020204030204" pitchFamily="34" charset="0"/>
              </a:rPr>
              <a:t> (</a:t>
            </a:r>
            <a:r>
              <a:rPr lang="en-US" sz="3200" dirty="0">
                <a:latin typeface="Calibri" panose="020F0502020204030204" pitchFamily="34" charset="0"/>
              </a:rPr>
              <a:t>ITSM</a:t>
            </a:r>
            <a:r>
              <a:rPr lang="ru-RU" sz="3200" dirty="0">
                <a:latin typeface="Calibri" panose="020F0502020204030204" pitchFamily="34" charset="0"/>
              </a:rPr>
              <a:t>)</a:t>
            </a:r>
            <a:endParaRPr lang="en-US" sz="2800" dirty="0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</a:t>
            </a:r>
            <a:r>
              <a:rPr lang="ru-RU" sz="2800" u="sng" noProof="1"/>
              <a:t>подход</a:t>
            </a:r>
            <a:r>
              <a:rPr lang="ru-RU" sz="2800" noProof="1"/>
              <a:t> к управлению </a:t>
            </a:r>
            <a:r>
              <a:rPr lang="en-US" sz="2800" noProof="1"/>
              <a:t>IT</a:t>
            </a:r>
            <a:endParaRPr lang="ru-RU" sz="2800" noProof="1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управление</a:t>
            </a:r>
            <a:r>
              <a:rPr lang="ru-RU" sz="2800" i="1" noProof="1"/>
              <a:t> </a:t>
            </a:r>
            <a:r>
              <a:rPr lang="ru-RU" sz="2800" noProof="1"/>
              <a:t>набором услуг</a:t>
            </a:r>
            <a:r>
              <a:rPr lang="en-US" sz="2800" noProof="1"/>
              <a:t> </a:t>
            </a:r>
            <a:r>
              <a:rPr lang="ru-RU" sz="2800" noProof="1"/>
              <a:t>(</a:t>
            </a:r>
            <a:r>
              <a:rPr lang="en-US" sz="2800" noProof="1">
                <a:latin typeface="Calibri" panose="020F0502020204030204" pitchFamily="34" charset="0"/>
              </a:rPr>
              <a:t>vs</a:t>
            </a:r>
            <a:r>
              <a:rPr lang="en-US" sz="2800" noProof="1"/>
              <a:t> </a:t>
            </a:r>
            <a:r>
              <a:rPr lang="ru-RU" sz="2800" noProof="1"/>
              <a:t>функциональный подход): </a:t>
            </a:r>
            <a:br>
              <a:rPr lang="ru-RU" sz="2800" noProof="1"/>
            </a:br>
            <a:r>
              <a:rPr lang="ru-RU" sz="2800" noProof="1"/>
              <a:t>в фокусе услуги, а не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368644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dirty="0">
                <a:latin typeface="Calibri" panose="020F0502020204030204" pitchFamily="34" charset="0"/>
              </a:rPr>
              <a:t>ITIL </a:t>
            </a:r>
            <a:r>
              <a:rPr lang="ru-RU" dirty="0"/>
              <a:t>и</a:t>
            </a:r>
            <a:r>
              <a:rPr lang="ru-RU" dirty="0"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ITSM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i="1" dirty="0"/>
              <a:t> </a:t>
            </a:r>
            <a:r>
              <a:rPr lang="ru-RU" sz="3200" dirty="0"/>
              <a:t>Услуга (</a:t>
            </a:r>
            <a:r>
              <a:rPr lang="en-GB" sz="3200" dirty="0">
                <a:latin typeface="Calibri" panose="020F0502020204030204" pitchFamily="34" charset="0"/>
              </a:rPr>
              <a:t>service</a:t>
            </a:r>
            <a:r>
              <a:rPr lang="en-GB" sz="3200" dirty="0"/>
              <a:t>)</a:t>
            </a:r>
            <a:endParaRPr lang="en-US" sz="3200" dirty="0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dirty="0"/>
              <a:t> способ принесения выгоды заказчикам через </a:t>
            </a:r>
            <a:r>
              <a:rPr lang="ru-RU" sz="2800" u="sng" dirty="0"/>
              <a:t>содействие в достижении желаемых результатов</a:t>
            </a:r>
            <a:r>
              <a:rPr lang="ru-RU" sz="2800" dirty="0"/>
              <a:t> способом, который не вызывает определенные риски и затраты со стороны заказчиков</a:t>
            </a:r>
            <a:endParaRPr lang="en-GB" sz="2800" noProof="1"/>
          </a:p>
          <a:p>
            <a:pPr>
              <a:buFont typeface="Wingdings" pitchFamily="2" charset="2"/>
              <a:buChar char="q"/>
            </a:pPr>
            <a:r>
              <a:rPr lang="ru-RU" sz="3200" i="1" dirty="0"/>
              <a:t> </a:t>
            </a:r>
            <a:r>
              <a:rPr lang="ru-RU" sz="3200" dirty="0">
                <a:latin typeface="Calibri" panose="020F0502020204030204" pitchFamily="34" charset="0"/>
              </a:rPr>
              <a:t>Услуга</a:t>
            </a:r>
            <a:endParaRPr lang="en-US" sz="2800" dirty="0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удовлетворяет потребности заказчика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способствует достижению бизнес-цели заказчика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воспринимается как готовый к использованию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29445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Оформление задания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i="1" dirty="0"/>
              <a:t> </a:t>
            </a:r>
            <a:r>
              <a:rPr lang="ru-RU" sz="3200" dirty="0"/>
              <a:t>Формат имени файла: УИСК</a:t>
            </a:r>
            <a:r>
              <a:rPr lang="ru-RU" sz="3200" noProof="1">
                <a:latin typeface="Calibri" panose="020F0502020204030204" pitchFamily="34" charset="0"/>
              </a:rPr>
              <a:t>Задание1</a:t>
            </a:r>
            <a:r>
              <a:rPr lang="en-US" sz="3200" noProof="1">
                <a:latin typeface="Calibri" panose="020F0502020204030204" pitchFamily="34" charset="0"/>
              </a:rPr>
              <a:t>_Фамили</a:t>
            </a:r>
            <a:r>
              <a:rPr lang="ru-RU" sz="3200" noProof="1">
                <a:latin typeface="Calibri" panose="020F0502020204030204" pitchFamily="34" charset="0"/>
              </a:rPr>
              <a:t>иГруппа</a:t>
            </a:r>
            <a:r>
              <a:rPr lang="en-US" sz="3200" noProof="1">
                <a:latin typeface="Calibri" panose="020F0502020204030204" pitchFamily="34" charset="0"/>
              </a:rPr>
              <a:t>.docx</a:t>
            </a:r>
            <a:endParaRPr lang="ru-RU" sz="3200" noProof="1">
              <a:latin typeface="Calibri" panose="020F0502020204030204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ru-RU" sz="3200" noProof="1">
                <a:latin typeface="Calibri" panose="020F0502020204030204" pitchFamily="34" charset="0"/>
              </a:rPr>
              <a:t> Титульный лист</a:t>
            </a:r>
            <a:endParaRPr lang="en-GB" sz="2800" noProof="1"/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Раздел с подробным описанием для каждого шага задания</a:t>
            </a:r>
          </a:p>
          <a:p>
            <a:pPr>
              <a:buFont typeface="Wingdings" pitchFamily="2" charset="2"/>
              <a:buChar char="q"/>
            </a:pPr>
            <a:r>
              <a:rPr lang="ru-RU" sz="3200"/>
              <a:t> Отправить </a:t>
            </a:r>
            <a:r>
              <a:rPr lang="ru-RU" sz="3200" dirty="0"/>
              <a:t>на почту: </a:t>
            </a:r>
            <a:r>
              <a:rPr lang="en-GB" sz="3200" dirty="0" err="1">
                <a:latin typeface="Calibri" panose="020F0502020204030204" pitchFamily="34" charset="0"/>
              </a:rPr>
              <a:t>mezhuev.i</a:t>
            </a:r>
            <a:r>
              <a:rPr lang="en-US" sz="3200" dirty="0">
                <a:latin typeface="Calibri" panose="020F0502020204030204" pitchFamily="34" charset="0"/>
              </a:rPr>
              <a:t>y</a:t>
            </a:r>
            <a:r>
              <a:rPr lang="en-GB" sz="3200" dirty="0">
                <a:latin typeface="Calibri" panose="020F0502020204030204" pitchFamily="34" charset="0"/>
              </a:rPr>
              <a:t>@rea.ru</a:t>
            </a:r>
            <a:endParaRPr lang="ru-RU" sz="3200" dirty="0">
              <a:latin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06AFCB-4F52-4CD7-BB3D-96E1D341F4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883" y="4944434"/>
            <a:ext cx="1607735" cy="160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50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1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r>
              <a:rPr lang="ru-RU" sz="2400" dirty="0"/>
              <a:t>1. Поставщик ИТ-сервисов (цель, миссия, стратегические задачи)</a:t>
            </a:r>
          </a:p>
          <a:p>
            <a:r>
              <a:rPr lang="ru-RU" sz="2400" dirty="0"/>
              <a:t>2. ИТ-услуги, требуемые заказчику</a:t>
            </a:r>
          </a:p>
          <a:p>
            <a:r>
              <a:rPr lang="ru-RU" sz="2400" dirty="0"/>
              <a:t>3. ИТ-услуги, предлагаемые заказчику</a:t>
            </a:r>
          </a:p>
          <a:p>
            <a:r>
              <a:rPr lang="ru-RU" sz="2400" dirty="0"/>
              <a:t>4. Схема каждой услуги </a:t>
            </a:r>
          </a:p>
          <a:p>
            <a:r>
              <a:rPr lang="ru-RU" sz="2400" dirty="0"/>
              <a:t>5. Формирование ценности ИТ-услуг </a:t>
            </a:r>
          </a:p>
          <a:p>
            <a:r>
              <a:rPr lang="ru-RU" sz="2400" dirty="0"/>
              <a:t>6. Взаимосвязь услуг поставщика и активов заказчика </a:t>
            </a:r>
          </a:p>
          <a:p>
            <a:r>
              <a:rPr lang="ru-RU" sz="2400" dirty="0"/>
              <a:t>7. Позиционирование сервисов </a:t>
            </a:r>
          </a:p>
          <a:p>
            <a:r>
              <a:rPr lang="ru-RU" sz="2400" dirty="0"/>
              <a:t>8. Портфель услуг поставщика </a:t>
            </a:r>
          </a:p>
          <a:p>
            <a:r>
              <a:rPr lang="ru-RU" sz="2400" dirty="0"/>
              <a:t>9. Предполагаемая совокупная стоимость использования ИТ-услуг</a:t>
            </a:r>
          </a:p>
        </p:txBody>
      </p:sp>
    </p:spTree>
    <p:extLst>
      <p:ext uri="{BB962C8B-B14F-4D97-AF65-F5344CB8AC3E}">
        <p14:creationId xmlns:p14="http://schemas.microsoft.com/office/powerpoint/2010/main" val="137554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Задание 1: </a:t>
            </a:r>
            <a:r>
              <a:rPr lang="ru-RU" sz="5400" dirty="0">
                <a:latin typeface="Calibri" panose="020F0502020204030204" pitchFamily="34" charset="0"/>
                <a:cs typeface="Calibri" panose="020F0502020204030204" pitchFamily="34" charset="0"/>
              </a:rPr>
              <a:t>материалы 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ITIL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2 Построение стратегии как этап жизненного цикла услуг</a:t>
            </a:r>
          </a:p>
          <a:p>
            <a:pPr>
              <a:buFont typeface="Wingdings" pitchFamily="2" charset="2"/>
              <a:buChar char="q"/>
            </a:pPr>
            <a:r>
              <a:rPr lang="ru-RU" sz="3200" noProof="1"/>
              <a:t> 3 Процессы в рамках построения стратегии. Портфель услуг и Каталог услуг</a:t>
            </a:r>
          </a:p>
        </p:txBody>
      </p:sp>
    </p:spTree>
    <p:extLst>
      <p:ext uri="{BB962C8B-B14F-4D97-AF65-F5344CB8AC3E}">
        <p14:creationId xmlns:p14="http://schemas.microsoft.com/office/powerpoint/2010/main" val="251627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1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Поставщик ИТ-сервисов (ООО …)</a:t>
            </a:r>
            <a:endParaRPr lang="en-US" sz="3200" noProof="1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миссия: идея, ключевые фразы</a:t>
            </a:r>
            <a:endParaRPr lang="ru-RU" sz="2800" dirty="0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dirty="0"/>
              <a:t> цель: конкретизация</a:t>
            </a:r>
            <a:endParaRPr lang="ru-RU" sz="2800" noProof="1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i="1" noProof="1"/>
              <a:t> </a:t>
            </a:r>
            <a:r>
              <a:rPr lang="ru-RU" sz="2800" dirty="0"/>
              <a:t>стратегические задачи: план (</a:t>
            </a:r>
            <a:r>
              <a:rPr lang="en-US" sz="2800" dirty="0">
                <a:latin typeface="Calibri" panose="020F0502020204030204" pitchFamily="34" charset="0"/>
              </a:rPr>
              <a:t>SMART</a:t>
            </a:r>
            <a:r>
              <a:rPr lang="ru-RU" sz="2800" dirty="0">
                <a:latin typeface="Calibri" panose="020F0502020204030204" pitchFamily="34" charset="0"/>
              </a:rPr>
              <a:t>)</a:t>
            </a:r>
            <a:endParaRPr lang="en-GB" sz="2800" i="1" noProof="1"/>
          </a:p>
        </p:txBody>
      </p:sp>
    </p:spTree>
    <p:extLst>
      <p:ext uri="{BB962C8B-B14F-4D97-AF65-F5344CB8AC3E}">
        <p14:creationId xmlns:p14="http://schemas.microsoft.com/office/powerpoint/2010/main" val="2315336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1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ИТ-услуги, требуемые заказчику</a:t>
            </a:r>
            <a:endParaRPr lang="en-US" sz="3200" noProof="1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общие описания потребностей</a:t>
            </a:r>
            <a:endParaRPr lang="ru-RU" sz="2800" dirty="0"/>
          </a:p>
          <a:p>
            <a:pPr>
              <a:buFont typeface="Wingdings" pitchFamily="2" charset="2"/>
              <a:buChar char="q"/>
            </a:pPr>
            <a:r>
              <a:rPr lang="ru-RU" sz="3200" noProof="1"/>
              <a:t> </a:t>
            </a:r>
            <a:r>
              <a:rPr lang="ru-RU" sz="3200" dirty="0"/>
              <a:t>ИТ-услуги, предлагаемые заказчику</a:t>
            </a:r>
            <a:endParaRPr lang="en-US" sz="3200" noProof="1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конкретные решения</a:t>
            </a:r>
            <a:endParaRPr lang="ru-RU" sz="2800" dirty="0"/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Схема каждой услуги 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86589" y="4505633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Услуга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137422" y="3856704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137422" y="5095567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/>
          <p:cNvCxnSpPr>
            <a:stCxn id="3" idx="3"/>
            <a:endCxn id="5" idx="1"/>
          </p:cNvCxnSpPr>
          <p:nvPr/>
        </p:nvCxnSpPr>
        <p:spPr>
          <a:xfrm flipV="1">
            <a:off x="7458189" y="4181169"/>
            <a:ext cx="679233" cy="64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3" idx="3"/>
            <a:endCxn id="6" idx="1"/>
          </p:cNvCxnSpPr>
          <p:nvPr/>
        </p:nvCxnSpPr>
        <p:spPr>
          <a:xfrm>
            <a:off x="7458189" y="4830098"/>
            <a:ext cx="679233" cy="589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3"/>
          </p:cNvCxnSpPr>
          <p:nvPr/>
        </p:nvCxnSpPr>
        <p:spPr>
          <a:xfrm flipV="1">
            <a:off x="9509022" y="4181168"/>
            <a:ext cx="4756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6" idx="3"/>
          </p:cNvCxnSpPr>
          <p:nvPr/>
        </p:nvCxnSpPr>
        <p:spPr>
          <a:xfrm flipV="1">
            <a:off x="9509022" y="5420031"/>
            <a:ext cx="4756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Скругленный прямоугольник 16"/>
          <p:cNvSpPr/>
          <p:nvPr/>
        </p:nvSpPr>
        <p:spPr>
          <a:xfrm>
            <a:off x="10188255" y="3628103"/>
            <a:ext cx="1090843" cy="4719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10188255" y="4232785"/>
            <a:ext cx="1090843" cy="4719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10188255" y="4859592"/>
            <a:ext cx="1090843" cy="4719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10188255" y="5464274"/>
            <a:ext cx="1090843" cy="4719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55039" y="3266770"/>
            <a:ext cx="66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8555039" y="5965411"/>
            <a:ext cx="648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19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B175EC1-FF5E-46A9-A680-E5232DD0F12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9" t="19835" r="28021" b="25985"/>
          <a:stretch/>
        </p:blipFill>
        <p:spPr>
          <a:xfrm>
            <a:off x="2768806" y="861695"/>
            <a:ext cx="5064125" cy="513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1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1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i="1" dirty="0"/>
              <a:t> </a:t>
            </a:r>
            <a:r>
              <a:rPr lang="ru-RU" sz="3200" dirty="0"/>
              <a:t>Формирование ценности </a:t>
            </a:r>
            <a:r>
              <a:rPr lang="en-US" sz="3200" dirty="0"/>
              <a:t>IT </a:t>
            </a:r>
            <a:r>
              <a:rPr lang="ru-RU" sz="3200" dirty="0"/>
              <a:t>услуг (таблица)</a:t>
            </a:r>
            <a:endParaRPr lang="en-US" sz="3200" noProof="1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строка: полезность (функциональная, что?)</a:t>
            </a:r>
            <a:endParaRPr lang="ru-RU" sz="2800" dirty="0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dirty="0"/>
              <a:t> строка: гарантия качества (не-функциональная, как?)</a:t>
            </a:r>
            <a:endParaRPr lang="ru-RU" sz="2800" noProof="1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i="1" noProof="1"/>
              <a:t> </a:t>
            </a:r>
            <a:r>
              <a:rPr lang="ru-RU" sz="2800" noProof="1"/>
              <a:t>колонки: требуемые заказчику услуги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Взаимосвязь услуг поставщика и активов заказчика</a:t>
            </a:r>
            <a:endParaRPr lang="en-US" sz="3200" noProof="1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иерархическая схема: линии услуг </a:t>
            </a:r>
            <a:r>
              <a:rPr lang="ru-RU" sz="2800" noProof="1">
                <a:sym typeface="Wingdings" panose="05000000000000000000" pitchFamily="2" charset="2"/>
              </a:rPr>
              <a:t></a:t>
            </a:r>
            <a:r>
              <a:rPr lang="ru-RU" sz="2800" noProof="1"/>
              <a:t> 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noProof="1"/>
              <a:t> образцы услуг  (</a:t>
            </a:r>
            <a:r>
              <a:rPr lang="en-US" sz="2800" noProof="1"/>
              <a:t>U1</a:t>
            </a:r>
            <a:r>
              <a:rPr lang="ru-RU" sz="2800" noProof="1"/>
              <a:t>, </a:t>
            </a:r>
            <a:r>
              <a:rPr lang="en-US" sz="2800" noProof="1"/>
              <a:t>U2</a:t>
            </a:r>
            <a:r>
              <a:rPr lang="ru-RU" sz="2800" noProof="1"/>
              <a:t>, …) </a:t>
            </a:r>
            <a:r>
              <a:rPr lang="ru-RU" sz="2800" noProof="1">
                <a:sym typeface="Wingdings" panose="05000000000000000000" pitchFamily="2" charset="2"/>
              </a:rPr>
              <a:t></a:t>
            </a:r>
            <a:endParaRPr lang="ru-RU" sz="2800" noProof="1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i="1" noProof="1"/>
              <a:t> </a:t>
            </a:r>
            <a:r>
              <a:rPr lang="ru-RU" sz="2800" noProof="1"/>
              <a:t>каталог услуг  </a:t>
            </a:r>
            <a:r>
              <a:rPr lang="ru-RU" sz="2800" noProof="1">
                <a:sym typeface="Wingdings" panose="05000000000000000000" pitchFamily="2" charset="2"/>
              </a:rPr>
              <a:t> </a:t>
            </a:r>
            <a:r>
              <a:rPr lang="ru-RU" sz="2800" noProof="1"/>
              <a:t>активы заказчика (</a:t>
            </a:r>
            <a:r>
              <a:rPr lang="en-US" sz="2800" noProof="1"/>
              <a:t>A1</a:t>
            </a:r>
            <a:r>
              <a:rPr lang="ru-RU" sz="2800" noProof="1"/>
              <a:t>, </a:t>
            </a:r>
            <a:r>
              <a:rPr lang="en-US" sz="2800" noProof="1"/>
              <a:t>A2</a:t>
            </a:r>
            <a:r>
              <a:rPr lang="ru-RU" sz="2800" noProof="1"/>
              <a:t>, …)</a:t>
            </a:r>
            <a:r>
              <a:rPr lang="en-US" sz="2800" noProof="1"/>
              <a:t> [</a:t>
            </a:r>
            <a:r>
              <a:rPr lang="ru-RU" sz="2800" noProof="1"/>
              <a:t>рис. 3.2</a:t>
            </a:r>
            <a:r>
              <a:rPr lang="en-US" sz="2800" noProof="1"/>
              <a:t>]</a:t>
            </a:r>
            <a:endParaRPr lang="en-GB" sz="2800" i="1" noProof="1"/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en-GB" sz="2800" i="1" noProof="1"/>
          </a:p>
        </p:txBody>
      </p:sp>
    </p:spTree>
    <p:extLst>
      <p:ext uri="{BB962C8B-B14F-4D97-AF65-F5344CB8AC3E}">
        <p14:creationId xmlns:p14="http://schemas.microsoft.com/office/powerpoint/2010/main" val="2111032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>
          <a:xfrm>
            <a:off x="1023938" y="669413"/>
            <a:ext cx="9720262" cy="1498600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1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Позиционирование сервисов</a:t>
            </a:r>
            <a:r>
              <a:rPr lang="en-US" sz="3200" dirty="0"/>
              <a:t> (</a:t>
            </a:r>
            <a:r>
              <a:rPr lang="ru-RU" sz="3200" dirty="0"/>
              <a:t>таблица</a:t>
            </a:r>
            <a:r>
              <a:rPr lang="en-US" sz="3200" dirty="0"/>
              <a:t>)</a:t>
            </a:r>
            <a:endParaRPr lang="ru-RU" sz="3200" dirty="0"/>
          </a:p>
          <a:p>
            <a:pPr>
              <a:buFont typeface="Wingdings" pitchFamily="2" charset="2"/>
              <a:buChar char="q"/>
            </a:pPr>
            <a:endParaRPr lang="ru-RU" sz="3200" noProof="1"/>
          </a:p>
          <a:p>
            <a:pPr marL="0" indent="0">
              <a:buNone/>
            </a:pPr>
            <a:endParaRPr lang="ru-RU" sz="3200" noProof="1"/>
          </a:p>
          <a:p>
            <a:pPr marL="0" indent="0">
              <a:buNone/>
            </a:pPr>
            <a:endParaRPr lang="ru-RU" sz="3200" noProof="1"/>
          </a:p>
          <a:p>
            <a:pPr>
              <a:buFont typeface="Wingdings" pitchFamily="2" charset="2"/>
              <a:buChar char="q"/>
            </a:pPr>
            <a:r>
              <a:rPr lang="ru-RU" sz="2800" dirty="0"/>
              <a:t> Портфель услуг поставщика: каталог услуг, услуги в разработке, схема по </a:t>
            </a:r>
            <a:r>
              <a:rPr lang="en-US" sz="2800" dirty="0"/>
              <a:t>[</a:t>
            </a:r>
            <a:r>
              <a:rPr lang="ru-RU" sz="2800" dirty="0"/>
              <a:t>рис. 3.5</a:t>
            </a:r>
            <a:r>
              <a:rPr lang="en-US" sz="2800" dirty="0"/>
              <a:t>]</a:t>
            </a:r>
            <a:r>
              <a:rPr lang="ru-RU" sz="2800" dirty="0"/>
              <a:t> + ваши услуги</a:t>
            </a:r>
            <a:endParaRPr lang="en-US" sz="2800" noProof="1">
              <a:latin typeface="Calibri" panose="020F0502020204030204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ru-RU" sz="2800" dirty="0"/>
              <a:t> Предполагаемая совокупная стоимость использования ИТ-услуг (предлагаемых заказчику)</a:t>
            </a:r>
          </a:p>
          <a:p>
            <a:pPr>
              <a:buFont typeface="Wingdings" pitchFamily="2" charset="2"/>
              <a:buChar char="q"/>
            </a:pPr>
            <a:endParaRPr lang="en-US" sz="2800" noProof="1"/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en-US" sz="2800" noProof="1"/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en-US" sz="2800" noProof="1"/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2800" dirty="0"/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2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630282"/>
              </p:ext>
            </p:extLst>
          </p:nvPr>
        </p:nvGraphicFramePr>
        <p:xfrm>
          <a:off x="1648541" y="2972783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268044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20863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15711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9441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5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94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369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585215"/>
            <a:ext cx="8971928" cy="1684259"/>
          </a:xfrm>
        </p:spPr>
        <p:txBody>
          <a:bodyPr>
            <a:noAutofit/>
          </a:bodyPr>
          <a:lstStyle/>
          <a:p>
            <a:r>
              <a:rPr lang="ru-RU" dirty="0"/>
              <a:t>Управление Информационными сервисами и контентом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3887" y="2628901"/>
            <a:ext cx="6442274" cy="39922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Поставщик ИТ-сервисов: предложение заказчику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>
                <a:latin typeface="Calibri" panose="020F0502020204030204" pitchFamily="34" charset="0"/>
              </a:rPr>
              <a:t> </a:t>
            </a:r>
            <a:r>
              <a:rPr lang="ru-RU" sz="3200" dirty="0"/>
              <a:t>Разработка SLA. Разработка</a:t>
            </a:r>
            <a:r>
              <a:rPr lang="en-US" sz="3200" dirty="0"/>
              <a:t> </a:t>
            </a:r>
            <a:r>
              <a:rPr lang="ru-RU" sz="3200" dirty="0"/>
              <a:t>политики информационной безопасности.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Моделирование управления изменениями. Имитация управления инцидентами.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87641" y="3631792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11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2: Разработка </a:t>
            </a:r>
            <a:r>
              <a:rPr lang="en-US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009470"/>
            <a:ext cx="9720262" cy="4689987"/>
          </a:xfrm>
        </p:spPr>
        <p:txBody>
          <a:bodyPr/>
          <a:lstStyle/>
          <a:p>
            <a:r>
              <a:rPr lang="ru-RU" sz="2400" dirty="0"/>
              <a:t>1. Определение предоставляемого сервиса, стороны, вовлеченные в соглашение, и сроки действия соглашения</a:t>
            </a:r>
          </a:p>
          <a:p>
            <a:r>
              <a:rPr lang="ru-RU" sz="2400" dirty="0"/>
              <a:t>2. Дни и часы, когда сервис будет предлагаться, включая тестирование, поддержку и модернизацию</a:t>
            </a:r>
          </a:p>
          <a:p>
            <a:r>
              <a:rPr lang="ru-RU" sz="2400" dirty="0"/>
              <a:t>3. Число и размещение пользователей и оборудования, использующих данный сервис</a:t>
            </a:r>
          </a:p>
          <a:p>
            <a:r>
              <a:rPr lang="ru-RU" sz="2400" dirty="0"/>
              <a:t>4. Описание процедуры отчетов о проблемах, включая условия эскалации на следующий уровень</a:t>
            </a:r>
          </a:p>
          <a:p>
            <a:r>
              <a:rPr lang="ru-RU" sz="2400" dirty="0"/>
              <a:t>5. Описание процедуры запросов на изменение</a:t>
            </a:r>
          </a:p>
          <a:p>
            <a:r>
              <a:rPr lang="ru-RU" sz="2400" dirty="0"/>
              <a:t>6. Спецификация целевых уровней качества сервиса</a:t>
            </a:r>
          </a:p>
          <a:p>
            <a:r>
              <a:rPr lang="ru-RU" sz="2400" dirty="0"/>
              <a:t>7. Описание платежей, связанных с сервисом</a:t>
            </a:r>
          </a:p>
        </p:txBody>
      </p:sp>
    </p:spTree>
    <p:extLst>
      <p:ext uri="{BB962C8B-B14F-4D97-AF65-F5344CB8AC3E}">
        <p14:creationId xmlns:p14="http://schemas.microsoft.com/office/powerpoint/2010/main" val="1585543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Задание 2: материалы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ITIL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5.2</a:t>
            </a:r>
            <a:r>
              <a:rPr lang="en-US" sz="3200" dirty="0"/>
              <a:t> </a:t>
            </a:r>
            <a:r>
              <a:rPr lang="ru-RU" sz="3200" dirty="0"/>
              <a:t>Управление уровнем услуг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5.4 Управление доступностью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Показатели уровней качества сервиса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Доступность (%)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Среднее время между инцидентами (</a:t>
            </a:r>
            <a:r>
              <a:rPr lang="en-US" sz="2400" dirty="0">
                <a:latin typeface="Calibri" panose="020F0502020204030204" pitchFamily="34" charset="0"/>
              </a:rPr>
              <a:t>MTBSI</a:t>
            </a:r>
            <a:r>
              <a:rPr lang="ru-RU" sz="2400" dirty="0"/>
              <a:t>)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Среднее время между сбоями (</a:t>
            </a:r>
            <a:r>
              <a:rPr lang="en-US" sz="2400" dirty="0">
                <a:latin typeface="Calibri" panose="020F0502020204030204" pitchFamily="34" charset="0"/>
              </a:rPr>
              <a:t>MTBF</a:t>
            </a:r>
            <a:r>
              <a:rPr lang="ru-RU" sz="2400" dirty="0"/>
              <a:t>)</a:t>
            </a:r>
            <a:endParaRPr lang="en-US" sz="2400" dirty="0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sz="2400" dirty="0"/>
              <a:t> </a:t>
            </a:r>
            <a:r>
              <a:rPr lang="ru-RU" sz="2400" noProof="1"/>
              <a:t>Сопровождаемость</a:t>
            </a:r>
            <a:r>
              <a:rPr lang="ru-RU" sz="2400" dirty="0"/>
              <a:t> (</a:t>
            </a:r>
            <a:r>
              <a:rPr lang="en-US" sz="2400" dirty="0">
                <a:latin typeface="Calibri" panose="020F0502020204030204" pitchFamily="34" charset="0"/>
              </a:rPr>
              <a:t>MTRS</a:t>
            </a:r>
            <a:r>
              <a:rPr lang="ru-RU" sz="2400" dirty="0"/>
              <a:t>): </a:t>
            </a:r>
            <a:r>
              <a:rPr lang="en-US" sz="2400" dirty="0">
                <a:latin typeface="Calibri" panose="020F0502020204030204" pitchFamily="34" charset="0"/>
              </a:rPr>
              <a:t>Mean Time to Restore Service</a:t>
            </a:r>
            <a:endParaRPr lang="ru-RU" sz="3200" dirty="0">
              <a:latin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635" y="4557250"/>
            <a:ext cx="366992" cy="9068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7627" y="4779834"/>
            <a:ext cx="199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libri" panose="020F0502020204030204" pitchFamily="34" charset="0"/>
              </a:rPr>
              <a:t>надежность</a:t>
            </a:r>
            <a:endParaRPr 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607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Задание 2: расчет показателей качества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Объект 1"/>
              <p:cNvSpPr>
                <a:spLocks noGrp="1"/>
              </p:cNvSpPr>
              <p:nvPr>
                <p:ph idx="1"/>
              </p:nvPr>
            </p:nvSpPr>
            <p:spPr>
              <a:xfrm>
                <a:off x="1023938" y="2168013"/>
                <a:ext cx="6040539" cy="46899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Доступность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ru-RU" sz="3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</a:rPr>
                                  <m:t>У</m:t>
                                </m:r>
                              </m:sub>
                            </m:sSub>
                            <m:r>
                              <a:rPr lang="ru-RU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П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ru-RU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3200" b="0" i="1" smtClean="0">
                                <a:latin typeface="Cambria Math" panose="02040503050406030204" pitchFamily="18" charset="0"/>
                              </a:rPr>
                              <m:t>У</m:t>
                            </m:r>
                          </m:sub>
                        </m:sSub>
                      </m:den>
                    </m:f>
                    <m:r>
                      <a:rPr lang="ru-RU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100%</m:t>
                    </m:r>
                  </m:oMath>
                </a14:m>
                <a:endParaRPr lang="ru-RU" sz="3200" dirty="0"/>
              </a:p>
              <a:p>
                <a:pPr marL="174625" lvl="1" indent="0">
                  <a:buNone/>
                </a:pPr>
                <a:r>
                  <a:rPr lang="en-US" sz="2000" i="1" dirty="0"/>
                  <a:t>T</a:t>
                </a:r>
                <a:r>
                  <a:rPr lang="ru-RU" sz="2000" i="1" dirty="0"/>
                  <a:t>у</a:t>
                </a:r>
                <a:r>
                  <a:rPr lang="ru-RU" sz="2000" dirty="0"/>
                  <a:t>: согласованное время предоставления услуги</a:t>
                </a:r>
              </a:p>
              <a:p>
                <a:pPr marL="174625" lvl="1" indent="0">
                  <a:buNone/>
                </a:pPr>
                <a:r>
                  <a:rPr lang="en-US" sz="2000" i="1" dirty="0"/>
                  <a:t>T</a:t>
                </a:r>
                <a:r>
                  <a:rPr lang="ru-RU" sz="2000" i="1" dirty="0"/>
                  <a:t>п</a:t>
                </a:r>
                <a:r>
                  <a:rPr lang="ru-RU" sz="2000" dirty="0"/>
                  <a:t>: время простоя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MTBSI</a:t>
                </a:r>
                <a:r>
                  <a:rPr lang="ru-RU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3200" b="0" i="1" smtClean="0">
                                <a:latin typeface="Cambria Math" panose="02040503050406030204" pitchFamily="18" charset="0"/>
                              </a:rPr>
                              <m:t>д</m:t>
                            </m:r>
                          </m:sub>
                        </m:sSub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ru-RU" sz="3200" dirty="0"/>
              </a:p>
              <a:p>
                <a:pPr marL="174625" lvl="1" indent="0">
                  <a:buNone/>
                </a:pPr>
                <a:r>
                  <a:rPr lang="en-US" sz="2000" i="1" dirty="0"/>
                  <a:t>T</a:t>
                </a:r>
                <a:r>
                  <a:rPr lang="ru-RU" sz="1400" i="1" dirty="0"/>
                  <a:t>Д</a:t>
                </a:r>
                <a:r>
                  <a:rPr lang="ru-RU" sz="2000" dirty="0"/>
                  <a:t>: время доступности в часах</a:t>
                </a:r>
              </a:p>
              <a:p>
                <a:pPr marL="174625" lvl="1" indent="0">
                  <a:buNone/>
                </a:pPr>
                <a:r>
                  <a:rPr lang="en-US" sz="2000" i="1" dirty="0"/>
                  <a:t>N</a:t>
                </a:r>
                <a:r>
                  <a:rPr lang="ru-RU" sz="2000" dirty="0"/>
                  <a:t>: количество сбоев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MTRS</a:t>
                </a:r>
                <a:r>
                  <a:rPr lang="ru-RU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3200" b="0" i="1" smtClean="0">
                                <a:latin typeface="Cambria Math" panose="02040503050406030204" pitchFamily="18" charset="0"/>
                              </a:rPr>
                              <m:t>П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ru-RU" sz="3200" dirty="0"/>
              </a:p>
              <a:p>
                <a:pPr marL="174625" lvl="1" indent="0">
                  <a:buNone/>
                </a:pPr>
                <a:r>
                  <a:rPr lang="en-US" sz="2000" i="1" dirty="0"/>
                  <a:t>T</a:t>
                </a:r>
                <a:r>
                  <a:rPr lang="ru-RU" sz="1400" i="1" dirty="0"/>
                  <a:t>П</a:t>
                </a:r>
                <a:r>
                  <a:rPr lang="ru-RU" sz="2000" dirty="0"/>
                  <a:t>: время простоя в часах</a:t>
                </a:r>
              </a:p>
              <a:p>
                <a:pPr marL="174625" lvl="1" indent="0">
                  <a:buNone/>
                </a:pPr>
                <a:r>
                  <a:rPr lang="en-US" sz="2000" i="1" dirty="0"/>
                  <a:t>N</a:t>
                </a:r>
                <a:r>
                  <a:rPr lang="ru-RU" sz="2000" dirty="0"/>
                  <a:t>: количество сбоев</a:t>
                </a:r>
              </a:p>
            </p:txBody>
          </p:sp>
        </mc:Choice>
        <mc:Fallback xmlns="">
          <p:sp>
            <p:nvSpPr>
              <p:cNvPr id="2" name="Объек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3938" y="2168013"/>
                <a:ext cx="6040539" cy="4689987"/>
              </a:xfrm>
              <a:blipFill>
                <a:blip r:embed="rId3"/>
                <a:stretch>
                  <a:fillRect l="-3330" t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1"/>
              <p:cNvSpPr txBox="1">
                <a:spLocks/>
              </p:cNvSpPr>
              <p:nvPr/>
            </p:nvSpPr>
            <p:spPr bwMode="auto">
              <a:xfrm>
                <a:off x="5145421" y="3706711"/>
                <a:ext cx="3838112" cy="22221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45720" tIns="45720" rIns="45720" bIns="45720" numCol="1" anchor="t" anchorCtr="0" compatLnSpc="1">
                <a:prstTxWarp prst="textNoShape">
                  <a:avLst/>
                </a:prstTxWarp>
              </a:bodyPr>
              <a:lstStyle>
                <a:lvl1pPr marL="90488" indent="-90488" algn="l" rtl="0" eaLnBrk="0" fontAlgn="base" hangingPunct="0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13" indent="-136525" algn="l" rtl="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7675" indent="-136525" algn="l" rtl="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3725" indent="-136525" algn="l" rtl="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6288" indent="-136525" algn="l" rtl="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Tw Cen MT"/>
                  <a:buNone/>
                </a:pPr>
                <a:r>
                  <a:rPr lang="ru-RU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МТВ</a:t>
                </a: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ru-RU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3200" i="1" smtClean="0">
                                    <a:latin typeface="Cambria Math" panose="02040503050406030204" pitchFamily="18" charset="0"/>
                                  </a:rPr>
                                  <m:t>У</m:t>
                                </m:r>
                              </m:sub>
                            </m:sSub>
                            <m:r>
                              <a:rPr lang="ru-RU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П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ru-RU" sz="3200" dirty="0"/>
              </a:p>
              <a:p>
                <a:pPr marL="174625" lvl="1" indent="0">
                  <a:buFont typeface="Wingdings 3" pitchFamily="18" charset="2"/>
                  <a:buNone/>
                </a:pPr>
                <a:r>
                  <a:rPr lang="en-US" sz="2000" i="1" dirty="0"/>
                  <a:t>T</a:t>
                </a:r>
                <a:r>
                  <a:rPr lang="ru-RU" sz="2000" dirty="0"/>
                  <a:t>: время доступности в часах</a:t>
                </a:r>
              </a:p>
              <a:p>
                <a:pPr marL="174625" lvl="1" indent="0">
                  <a:buNone/>
                </a:pPr>
                <a:r>
                  <a:rPr lang="en-US" sz="2000" i="1" dirty="0"/>
                  <a:t>T</a:t>
                </a:r>
                <a:r>
                  <a:rPr lang="ru-RU" sz="2000" i="1" dirty="0"/>
                  <a:t>п</a:t>
                </a:r>
                <a:r>
                  <a:rPr lang="ru-RU" sz="2000" dirty="0"/>
                  <a:t>: время простоя в часах</a:t>
                </a:r>
              </a:p>
              <a:p>
                <a:pPr marL="174625" lvl="1" indent="0">
                  <a:buFont typeface="Wingdings 3" pitchFamily="18" charset="2"/>
                  <a:buNone/>
                </a:pPr>
                <a:r>
                  <a:rPr lang="en-US" sz="2000" i="1" dirty="0"/>
                  <a:t>N</a:t>
                </a:r>
                <a:r>
                  <a:rPr lang="ru-RU" sz="2000" dirty="0"/>
                  <a:t>: количество сбоев</a:t>
                </a:r>
              </a:p>
            </p:txBody>
          </p:sp>
        </mc:Choice>
        <mc:Fallback xmlns="">
          <p:sp>
            <p:nvSpPr>
              <p:cNvPr id="4" name="Объект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5421" y="3706711"/>
                <a:ext cx="3838112" cy="2222142"/>
              </a:xfrm>
              <a:prstGeom prst="rect">
                <a:avLst/>
              </a:prstGeom>
              <a:blipFill>
                <a:blip r:embed="rId4"/>
                <a:stretch>
                  <a:fillRect l="-5238" t="-54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79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2: Пример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009470"/>
            <a:ext cx="9196694" cy="4689987"/>
          </a:xfrm>
        </p:spPr>
        <p:txBody>
          <a:bodyPr/>
          <a:lstStyle/>
          <a:p>
            <a:endParaRPr lang="ru-RU" dirty="0"/>
          </a:p>
          <a:p>
            <a:r>
              <a:rPr lang="ru-RU" sz="2400" dirty="0"/>
              <a:t>Пусть услуга, которая используется 7 дней в неделю 24 часа в сутки, проработала 7010 часов. За это время было 2 сбоя.  Простой в результате первого сбоя был 10 часов, в результате второго - 5 часов. </a:t>
            </a:r>
          </a:p>
          <a:p>
            <a:r>
              <a:rPr lang="ru-RU" sz="2400" dirty="0"/>
              <a:t>Доступность = ((7010-(5+10))/7010)*100 = 99,78 % </a:t>
            </a:r>
          </a:p>
          <a:p>
            <a:r>
              <a:rPr lang="ru-RU" sz="2400" dirty="0"/>
              <a:t>Надежность (</a:t>
            </a:r>
            <a:r>
              <a:rPr lang="en-GB" sz="2400" dirty="0">
                <a:latin typeface="Calibri" panose="020F0502020204030204" pitchFamily="34" charset="0"/>
              </a:rPr>
              <a:t>MTBSI)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=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7010/2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=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3505 </a:t>
            </a:r>
          </a:p>
          <a:p>
            <a:r>
              <a:rPr lang="ru-RU" sz="2400" dirty="0"/>
              <a:t>Надежность (MTBF) = (7010-(5+10))/2 = 3497.5 часов </a:t>
            </a:r>
          </a:p>
          <a:p>
            <a:r>
              <a:rPr lang="ru-RU" sz="2400" noProof="1"/>
              <a:t>Сопровождаемость</a:t>
            </a:r>
            <a:r>
              <a:rPr lang="ru-RU" sz="2400" dirty="0"/>
              <a:t> </a:t>
            </a:r>
            <a:r>
              <a:rPr lang="ru-RU" sz="2400" dirty="0">
                <a:latin typeface="Calibri" panose="020F0502020204030204" pitchFamily="34" charset="0"/>
              </a:rPr>
              <a:t>(</a:t>
            </a:r>
            <a:r>
              <a:rPr lang="en-GB" sz="2400" dirty="0">
                <a:latin typeface="Calibri" panose="020F0502020204030204" pitchFamily="34" charset="0"/>
              </a:rPr>
              <a:t>MTRS)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=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(5+10)/2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=</a:t>
            </a:r>
            <a:r>
              <a:rPr lang="ru-RU" sz="2400" dirty="0">
                <a:latin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</a:rPr>
              <a:t>7.5 </a:t>
            </a:r>
            <a:r>
              <a:rPr lang="ru-RU" sz="2400" dirty="0">
                <a:latin typeface="Calibri" panose="020F0502020204030204" pitchFamily="34" charset="0"/>
              </a:rPr>
              <a:t>часов </a:t>
            </a:r>
            <a:endParaRPr lang="ru-RU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228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Задание 2: </a:t>
            </a:r>
            <a:r>
              <a:rPr lang="ru-RU" sz="5400" dirty="0"/>
              <a:t>Разработка </a:t>
            </a:r>
            <a:r>
              <a:rPr lang="en-US" sz="54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1. Определение предоставляемого сервиса, стороны, вовлеченные в соглашение, и сроки действия соглашения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2469221" y="3738715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Сервисы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941312" y="3746089"/>
            <a:ext cx="1430172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Стороны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соглашения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471976" y="3738716"/>
            <a:ext cx="1430172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Сроки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соглашения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469221" y="4664175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CRM</a:t>
            </a:r>
            <a:endParaRPr lang="ru-RU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941312" y="4653115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ООО </a:t>
            </a:r>
            <a:r>
              <a:rPr lang="ru-RU" noProof="1">
                <a:solidFill>
                  <a:schemeClr val="tx1"/>
                </a:solidFill>
              </a:rPr>
              <a:t>АйТи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749673" y="5560141"/>
            <a:ext cx="1813449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noProof="1">
                <a:solidFill>
                  <a:schemeClr val="tx1"/>
                </a:solidFill>
              </a:rPr>
              <a:t>Каршеринговая компания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7530548" y="4653115"/>
            <a:ext cx="1371600" cy="648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</a:rPr>
              <a:t>6 мес. </a:t>
            </a:r>
            <a:br>
              <a:rPr lang="ru-RU" dirty="0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</a:rPr>
              <a:t>(184 дня)</a:t>
            </a:r>
          </a:p>
        </p:txBody>
      </p:sp>
    </p:spTree>
    <p:extLst>
      <p:ext uri="{BB962C8B-B14F-4D97-AF65-F5344CB8AC3E}">
        <p14:creationId xmlns:p14="http://schemas.microsoft.com/office/powerpoint/2010/main" val="1484343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4800" dirty="0"/>
              <a:t>Разработка </a:t>
            </a:r>
            <a:r>
              <a:rPr lang="en-US" sz="48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2.	Дни и часы, когда сервис будет предлагаться, включая тестирование, поддержку и модернизацию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A3AE8-9257-4A8C-846B-C6E302890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" y="3212843"/>
            <a:ext cx="6785937" cy="288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18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4800" dirty="0"/>
              <a:t>Разработка </a:t>
            </a:r>
            <a:r>
              <a:rPr lang="en-US" sz="48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2.	Дни и часы, когда сервис будет предлагаться, включая тестирование, поддержку и модернизацию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3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75943"/>
              </p:ext>
            </p:extLst>
          </p:nvPr>
        </p:nvGraphicFramePr>
        <p:xfrm>
          <a:off x="1820069" y="3382706"/>
          <a:ext cx="8128000" cy="226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268044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82086368"/>
                    </a:ext>
                  </a:extLst>
                </a:gridCol>
                <a:gridCol w="1442065">
                  <a:extLst>
                    <a:ext uri="{9D8B030D-6E8A-4147-A177-3AD203B41FA5}">
                      <a16:colId xmlns:a16="http://schemas.microsoft.com/office/drawing/2014/main" val="2091571198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39094411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96912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Услуги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Поддержка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Модернизация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Всего затрачено времени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Система управления взаимоотношениями с клиентами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60 дней</a:t>
                      </a:r>
                    </a:p>
                    <a:p>
                      <a:r>
                        <a:rPr lang="ru-RU" sz="1600" dirty="0"/>
                        <a:t>(300 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45 дней</a:t>
                      </a:r>
                    </a:p>
                    <a:p>
                      <a:r>
                        <a:rPr lang="ru-RU" sz="1600" dirty="0"/>
                        <a:t>(225 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15 дней</a:t>
                      </a:r>
                    </a:p>
                    <a:p>
                      <a:r>
                        <a:rPr lang="ru-RU" sz="1600" dirty="0"/>
                        <a:t>(75 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 дней</a:t>
                      </a:r>
                    </a:p>
                    <a:p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(600 ч)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5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94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410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r>
              <a:rPr lang="en-US" sz="54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3. Число и размещение пользователей и оборудования, использующих данный сервис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3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178152"/>
              </p:ext>
            </p:extLst>
          </p:nvPr>
        </p:nvGraphicFramePr>
        <p:xfrm>
          <a:off x="1210878" y="3429983"/>
          <a:ext cx="9346381" cy="250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7730">
                  <a:extLst>
                    <a:ext uri="{9D8B030D-6E8A-4147-A177-3AD203B41FA5}">
                      <a16:colId xmlns:a16="http://schemas.microsoft.com/office/drawing/2014/main" val="4126804452"/>
                    </a:ext>
                  </a:extLst>
                </a:gridCol>
                <a:gridCol w="1557730">
                  <a:extLst>
                    <a:ext uri="{9D8B030D-6E8A-4147-A177-3AD203B41FA5}">
                      <a16:colId xmlns:a16="http://schemas.microsoft.com/office/drawing/2014/main" val="1782086368"/>
                    </a:ext>
                  </a:extLst>
                </a:gridCol>
                <a:gridCol w="1430322">
                  <a:extLst>
                    <a:ext uri="{9D8B030D-6E8A-4147-A177-3AD203B41FA5}">
                      <a16:colId xmlns:a16="http://schemas.microsoft.com/office/drawing/2014/main" val="2091571198"/>
                    </a:ext>
                  </a:extLst>
                </a:gridCol>
                <a:gridCol w="1685139">
                  <a:extLst>
                    <a:ext uri="{9D8B030D-6E8A-4147-A177-3AD203B41FA5}">
                      <a16:colId xmlns:a16="http://schemas.microsoft.com/office/drawing/2014/main" val="3909441181"/>
                    </a:ext>
                  </a:extLst>
                </a:gridCol>
                <a:gridCol w="1557730">
                  <a:extLst>
                    <a:ext uri="{9D8B030D-6E8A-4147-A177-3AD203B41FA5}">
                      <a16:colId xmlns:a16="http://schemas.microsoft.com/office/drawing/2014/main" val="3796912967"/>
                    </a:ext>
                  </a:extLst>
                </a:gridCol>
                <a:gridCol w="1557730">
                  <a:extLst>
                    <a:ext uri="{9D8B030D-6E8A-4147-A177-3AD203B41FA5}">
                      <a16:colId xmlns:a16="http://schemas.microsoft.com/office/drawing/2014/main" val="1960688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Услуги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Количество рабочих мест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Количество</a:t>
                      </a:r>
                    </a:p>
                    <a:p>
                      <a:r>
                        <a:rPr lang="ru-RU" sz="1600" b="1" dirty="0"/>
                        <a:t>компьютеров</a:t>
                      </a:r>
                    </a:p>
                    <a:p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Количество</a:t>
                      </a:r>
                    </a:p>
                    <a:p>
                      <a:r>
                        <a:rPr lang="ru-RU" sz="1600" b="1" dirty="0"/>
                        <a:t>принтеров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Количество</a:t>
                      </a:r>
                    </a:p>
                    <a:p>
                      <a:r>
                        <a:rPr lang="ru-RU" sz="1600" b="1" dirty="0"/>
                        <a:t>стационарных телефонов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Количество</a:t>
                      </a:r>
                    </a:p>
                    <a:p>
                      <a:r>
                        <a:rPr lang="ru-RU" sz="1600" b="1" dirty="0"/>
                        <a:t>пользователей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Система управления взаимоотношениями с клиентами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5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9441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10878" y="6057657"/>
            <a:ext cx="6823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Размещение: все оборудование находится рядом с сотрудниками</a:t>
            </a:r>
          </a:p>
        </p:txBody>
      </p:sp>
    </p:spTree>
    <p:extLst>
      <p:ext uri="{BB962C8B-B14F-4D97-AF65-F5344CB8AC3E}">
        <p14:creationId xmlns:p14="http://schemas.microsoft.com/office/powerpoint/2010/main" val="416808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r>
              <a:rPr lang="en-US" sz="54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4.	Описание процедуры отчетов о проблемах, включая условия эскалации на следующий уровень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Ошибки в работе системы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Оценка рисков пользователем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критериев для устранения ошибки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последствий для сопряженных сервисов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мер предупреждения ошибки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Подготовка отчета пользователем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Принятие ответных мер</a:t>
            </a:r>
          </a:p>
        </p:txBody>
      </p:sp>
    </p:spTree>
    <p:extLst>
      <p:ext uri="{BB962C8B-B14F-4D97-AF65-F5344CB8AC3E}">
        <p14:creationId xmlns:p14="http://schemas.microsoft.com/office/powerpoint/2010/main" val="995269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r>
              <a:rPr lang="en-US" sz="54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5. Описание процедуры запросов на изменение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Запрос на изменение от пользователя системы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Оценка рисков пользователем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последствий для сопряженных сервисов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Подготовка отчета с обоснованием необходимости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стоимости и сроков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Формирование конечного отчета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Принятие ответных мер</a:t>
            </a:r>
          </a:p>
        </p:txBody>
      </p:sp>
    </p:spTree>
    <p:extLst>
      <p:ext uri="{BB962C8B-B14F-4D97-AF65-F5344CB8AC3E}">
        <p14:creationId xmlns:p14="http://schemas.microsoft.com/office/powerpoint/2010/main" val="2506527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r>
              <a:rPr lang="en-US" sz="54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6. Спецификация целевых уровней качества сервиса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Макс. доступность для каждого пользователя </a:t>
            </a:r>
            <a:r>
              <a:rPr lang="en-US" sz="2800" dirty="0">
                <a:latin typeface="Calibri" panose="020F0502020204030204" pitchFamily="34" charset="0"/>
              </a:rPr>
              <a:t>(%)</a:t>
            </a:r>
            <a:endParaRPr lang="en-US" sz="2400" dirty="0">
              <a:latin typeface="Calibri" panose="020F0502020204030204" pitchFamily="34" charset="0"/>
            </a:endParaRP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ru-RU" sz="2400" dirty="0">
                <a:latin typeface="Calibri" panose="020F0502020204030204" pitchFamily="34" charset="0"/>
              </a:rPr>
              <a:t>Надежность (MTBF)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</a:rPr>
              <a:t> </a:t>
            </a:r>
            <a:r>
              <a:rPr lang="ru-RU" sz="2400" dirty="0">
                <a:latin typeface="Calibri" panose="020F0502020204030204" pitchFamily="34" charset="0"/>
              </a:rPr>
              <a:t>Надежность (MTBSI)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</a:t>
            </a:r>
            <a:r>
              <a:rPr lang="ru-RU" sz="2400" noProof="1"/>
              <a:t>Сопровождаемость</a:t>
            </a:r>
            <a:r>
              <a:rPr lang="ru-RU" sz="2400" dirty="0"/>
              <a:t> (MTRS)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128790"/>
              </p:ext>
            </p:extLst>
          </p:nvPr>
        </p:nvGraphicFramePr>
        <p:xfrm>
          <a:off x="1210879" y="4904821"/>
          <a:ext cx="9083497" cy="156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2169">
                  <a:extLst>
                    <a:ext uri="{9D8B030D-6E8A-4147-A177-3AD203B41FA5}">
                      <a16:colId xmlns:a16="http://schemas.microsoft.com/office/drawing/2014/main" val="4126804452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1782086368"/>
                    </a:ext>
                  </a:extLst>
                </a:gridCol>
                <a:gridCol w="1668110">
                  <a:extLst>
                    <a:ext uri="{9D8B030D-6E8A-4147-A177-3AD203B41FA5}">
                      <a16:colId xmlns:a16="http://schemas.microsoft.com/office/drawing/2014/main" val="2091571198"/>
                    </a:ext>
                  </a:extLst>
                </a:gridCol>
                <a:gridCol w="1829008">
                  <a:extLst>
                    <a:ext uri="{9D8B030D-6E8A-4147-A177-3AD203B41FA5}">
                      <a16:colId xmlns:a16="http://schemas.microsoft.com/office/drawing/2014/main" val="3909441181"/>
                    </a:ext>
                  </a:extLst>
                </a:gridCol>
                <a:gridCol w="1952981">
                  <a:extLst>
                    <a:ext uri="{9D8B030D-6E8A-4147-A177-3AD203B41FA5}">
                      <a16:colId xmlns:a16="http://schemas.microsoft.com/office/drawing/2014/main" val="3796912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Услуги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Макс. доступность для каждого пользователя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Надежность (</a:t>
                      </a:r>
                      <a:r>
                        <a:rPr lang="en-GB" sz="1600" b="1" dirty="0">
                          <a:latin typeface="Calibri" panose="020F0502020204030204" pitchFamily="34" charset="0"/>
                        </a:rPr>
                        <a:t>MTBF</a:t>
                      </a:r>
                      <a:r>
                        <a:rPr lang="en-GB" sz="16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Надежность (</a:t>
                      </a:r>
                      <a:r>
                        <a:rPr lang="en-GB" sz="1600" b="1" dirty="0">
                          <a:latin typeface="Calibri" panose="020F0502020204030204" pitchFamily="34" charset="0"/>
                        </a:rPr>
                        <a:t>MTBSI</a:t>
                      </a:r>
                      <a:r>
                        <a:rPr lang="en-GB" sz="1600" b="1" dirty="0"/>
                        <a:t>)</a:t>
                      </a:r>
                    </a:p>
                    <a:p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noProof="1"/>
                        <a:t>Сопровождаемость</a:t>
                      </a:r>
                      <a:r>
                        <a:rPr lang="ru-RU" sz="1600" b="1" dirty="0"/>
                        <a:t> (</a:t>
                      </a:r>
                      <a:r>
                        <a:rPr lang="en-GB" sz="1600" b="1" dirty="0">
                          <a:latin typeface="Calibri" panose="020F0502020204030204" pitchFamily="34" charset="0"/>
                        </a:rPr>
                        <a:t>MTRS</a:t>
                      </a:r>
                      <a:r>
                        <a:rPr lang="en-GB" sz="1600" b="1" dirty="0"/>
                        <a:t>)</a:t>
                      </a:r>
                    </a:p>
                    <a:p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CRM</a:t>
                      </a:r>
                      <a:endParaRPr lang="ru-RU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71%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5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94413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357" y="3367478"/>
            <a:ext cx="366992" cy="13520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76987" y="3812648"/>
            <a:ext cx="89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libri" panose="020F0502020204030204" pitchFamily="34" charset="0"/>
              </a:rPr>
              <a:t>ч</a:t>
            </a:r>
            <a:endParaRPr lang="en-US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51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2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r>
              <a:rPr lang="en-US" sz="5400" dirty="0">
                <a:latin typeface="Calibri" panose="020F0502020204030204" pitchFamily="34" charset="0"/>
              </a:rPr>
              <a:t>SLA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7. Описание платежей, связанных с сервисом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3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061804"/>
              </p:ext>
            </p:extLst>
          </p:nvPr>
        </p:nvGraphicFramePr>
        <p:xfrm>
          <a:off x="1166633" y="3529427"/>
          <a:ext cx="8714786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7393">
                  <a:extLst>
                    <a:ext uri="{9D8B030D-6E8A-4147-A177-3AD203B41FA5}">
                      <a16:colId xmlns:a16="http://schemas.microsoft.com/office/drawing/2014/main" val="4126804452"/>
                    </a:ext>
                  </a:extLst>
                </a:gridCol>
                <a:gridCol w="4357393">
                  <a:extLst>
                    <a:ext uri="{9D8B030D-6E8A-4147-A177-3AD203B41FA5}">
                      <a16:colId xmlns:a16="http://schemas.microsoft.com/office/drawing/2014/main" val="1782086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Услуги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Платежи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Система управления взаимоотношениями с клиентами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12000 руб./мес.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5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944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66633" y="2861027"/>
            <a:ext cx="8714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Стоимость услуг Исполнителя составляет 171600 (28600 рублей в месяц, без учета НДС)</a:t>
            </a:r>
          </a:p>
        </p:txBody>
      </p:sp>
    </p:spTree>
    <p:extLst>
      <p:ext uri="{BB962C8B-B14F-4D97-AF65-F5344CB8AC3E}">
        <p14:creationId xmlns:p14="http://schemas.microsoft.com/office/powerpoint/2010/main" val="2558236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585215"/>
            <a:ext cx="8971928" cy="1684259"/>
          </a:xfrm>
        </p:spPr>
        <p:txBody>
          <a:bodyPr>
            <a:noAutofit/>
          </a:bodyPr>
          <a:lstStyle/>
          <a:p>
            <a:r>
              <a:rPr lang="ru-RU" dirty="0"/>
              <a:t>Управление Информационными сервисами и контентом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3887" y="2628901"/>
            <a:ext cx="6442274" cy="39922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Поставщик ИТ-сервисов: предложение заказчику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>
                <a:latin typeface="Calibri" panose="020F0502020204030204" pitchFamily="34" charset="0"/>
              </a:rPr>
              <a:t> </a:t>
            </a:r>
            <a:r>
              <a:rPr lang="ru-RU" sz="3200" dirty="0"/>
              <a:t>Разработка SLA. Разработка</a:t>
            </a:r>
            <a:r>
              <a:rPr lang="en-US" sz="3200" dirty="0"/>
              <a:t> </a:t>
            </a:r>
            <a:r>
              <a:rPr lang="ru-RU" sz="3200" dirty="0"/>
              <a:t>политики информационной безопасности.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Моделирование управления изменениями. Имитация управления инцидентами.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87641" y="3631792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11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dirty="0"/>
              <a:t>Задание 3</a:t>
            </a:r>
            <a:r>
              <a:rPr lang="en-US" dirty="0"/>
              <a:t>: </a:t>
            </a:r>
            <a:r>
              <a:rPr lang="ru-RU" dirty="0"/>
              <a:t>Разработка </a:t>
            </a:r>
            <a:br>
              <a:rPr lang="ru-RU" dirty="0"/>
            </a:br>
            <a:r>
              <a:rPr lang="ru-RU" dirty="0"/>
              <a:t>Политики информационной безопасности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484561"/>
            <a:ext cx="9720262" cy="4324227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1. Политика контроля доступа</a:t>
            </a:r>
          </a:p>
          <a:p>
            <a:pPr marL="0" indent="0">
              <a:buNone/>
            </a:pPr>
            <a:r>
              <a:rPr lang="ru-RU" sz="3200" dirty="0"/>
              <a:t>2. Политика использования паролей</a:t>
            </a:r>
          </a:p>
          <a:p>
            <a:pPr marL="0" indent="0">
              <a:buNone/>
            </a:pPr>
            <a:r>
              <a:rPr lang="ru-RU" sz="3200" dirty="0"/>
              <a:t>3. Политика электронной почты</a:t>
            </a:r>
          </a:p>
          <a:p>
            <a:pPr marL="0" indent="0">
              <a:buNone/>
            </a:pPr>
            <a:r>
              <a:rPr lang="ru-RU" sz="3200" dirty="0"/>
              <a:t>4. Политика работы в Интернете </a:t>
            </a:r>
          </a:p>
          <a:p>
            <a:pPr marL="0" indent="0">
              <a:buNone/>
            </a:pPr>
            <a:r>
              <a:rPr lang="ru-RU" sz="3200" dirty="0"/>
              <a:t>5. Политика антивирусной защиты </a:t>
            </a:r>
          </a:p>
        </p:txBody>
      </p:sp>
    </p:spTree>
    <p:extLst>
      <p:ext uri="{BB962C8B-B14F-4D97-AF65-F5344CB8AC3E}">
        <p14:creationId xmlns:p14="http://schemas.microsoft.com/office/powerpoint/2010/main" val="539600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dirty="0"/>
              <a:t>Задание 3</a:t>
            </a:r>
            <a:r>
              <a:rPr lang="en-US" dirty="0"/>
              <a:t>: </a:t>
            </a:r>
            <a:r>
              <a:rPr lang="ru-RU" dirty="0"/>
              <a:t>Разработка </a:t>
            </a:r>
            <a:br>
              <a:rPr lang="ru-RU" dirty="0"/>
            </a:br>
            <a:r>
              <a:rPr lang="ru-RU" dirty="0"/>
              <a:t>Политики информационной безопасности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468880"/>
            <a:ext cx="9720262" cy="4175760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6. Политика классификации информации</a:t>
            </a:r>
          </a:p>
          <a:p>
            <a:pPr marL="0" indent="0">
              <a:buNone/>
            </a:pPr>
            <a:r>
              <a:rPr lang="ru-RU" sz="3200" dirty="0"/>
              <a:t>7. Политика классификации документов</a:t>
            </a:r>
          </a:p>
          <a:p>
            <a:pPr marL="0" indent="0">
              <a:buNone/>
            </a:pPr>
            <a:r>
              <a:rPr lang="ru-RU" sz="3200" dirty="0"/>
              <a:t>8. Политика удаленного доступа</a:t>
            </a:r>
          </a:p>
          <a:p>
            <a:pPr marL="0" indent="0">
              <a:buNone/>
            </a:pPr>
            <a:r>
              <a:rPr lang="ru-RU" sz="3200" dirty="0"/>
              <a:t>9. Политика доступа поставщиков к услугам, информации и компонентам</a:t>
            </a:r>
          </a:p>
          <a:p>
            <a:pPr marL="0" indent="0">
              <a:buNone/>
            </a:pPr>
            <a:r>
              <a:rPr lang="ru-RU" sz="3200" dirty="0"/>
              <a:t>10. Политика размещения активов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3671617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Задание 3: материалы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ITIL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03561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</a:t>
            </a:r>
            <a:r>
              <a:rPr lang="en-US" sz="3200" dirty="0">
                <a:latin typeface="Calibri" panose="020F0502020204030204" pitchFamily="34" charset="0"/>
              </a:rPr>
              <a:t>6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.2</a:t>
            </a:r>
            <a:r>
              <a:rPr lang="en-US" sz="3200" dirty="0"/>
              <a:t> </a:t>
            </a:r>
            <a:r>
              <a:rPr lang="ru-RU" sz="3200" dirty="0"/>
              <a:t>Управление информационной безопасностью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</a:t>
            </a:r>
            <a:r>
              <a:rPr lang="en-US" sz="3200" dirty="0">
                <a:latin typeface="Calibri" panose="020F0502020204030204" pitchFamily="34" charset="0"/>
              </a:rPr>
              <a:t>ISM</a:t>
            </a:r>
            <a:r>
              <a:rPr lang="ru-RU" sz="3200" dirty="0">
                <a:latin typeface="Calibri" panose="020F0502020204030204" pitchFamily="34" charset="0"/>
              </a:rPr>
              <a:t> (</a:t>
            </a:r>
            <a:r>
              <a:rPr lang="en-US" sz="3200" dirty="0">
                <a:latin typeface="Calibri" panose="020F0502020204030204" pitchFamily="34" charset="0"/>
              </a:rPr>
              <a:t>information security management</a:t>
            </a:r>
            <a:r>
              <a:rPr lang="ru-RU" sz="3200" dirty="0">
                <a:latin typeface="Calibri" panose="020F0502020204030204" pitchFamily="34" charset="0"/>
              </a:rPr>
              <a:t>)</a:t>
            </a:r>
            <a:r>
              <a:rPr lang="ru-RU" sz="3200" dirty="0"/>
              <a:t>: процесс, обеспечивающий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конфиденциальность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целостность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доступность - активов информации и услуг</a:t>
            </a:r>
            <a:endParaRPr lang="ru-RU" sz="3200" dirty="0"/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Цель: обеспечение эффективного управления информационной безопасности </a:t>
            </a:r>
            <a:r>
              <a:rPr lang="ru-RU" sz="3200" u="sng" dirty="0"/>
              <a:t>всех услуг </a:t>
            </a:r>
            <a:r>
              <a:rPr lang="ru-RU" sz="3200" dirty="0"/>
              <a:t>и деятельностей в рамках Управления услуг</a:t>
            </a:r>
          </a:p>
        </p:txBody>
      </p:sp>
    </p:spTree>
    <p:extLst>
      <p:ext uri="{BB962C8B-B14F-4D97-AF65-F5344CB8AC3E}">
        <p14:creationId xmlns:p14="http://schemas.microsoft.com/office/powerpoint/2010/main" val="4116253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dirty="0"/>
              <a:t>Задание 3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br>
              <a:rPr lang="ru-RU" sz="5400" dirty="0"/>
            </a:br>
            <a:r>
              <a:rPr lang="ru-RU" sz="5400" dirty="0"/>
              <a:t>Политики информационной безопасности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499801"/>
            <a:ext cx="9720262" cy="435819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контроля доступа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управление учетными записями, раздача прав доступа, журнал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использования паролей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индивидуальные пароли, частота изменения, другие требования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электронной почты</a:t>
            </a:r>
            <a:endParaRPr lang="ru-RU" sz="2400" dirty="0"/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работы в Интернете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работа в браузере, …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66855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dirty="0"/>
              <a:t>Задание 3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br>
              <a:rPr lang="ru-RU" sz="5400" dirty="0"/>
            </a:br>
            <a:r>
              <a:rPr lang="ru-RU" sz="5400" dirty="0"/>
              <a:t>Политики информационной безопасности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499801"/>
            <a:ext cx="9720262" cy="435819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антивирусной защиты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использование антивирусного ПО, резервное копирование 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классификации информации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что относится к закрытой и открытой информации 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классификации документов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различных типов документов в организации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17653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dirty="0"/>
              <a:t>Задание 3</a:t>
            </a:r>
            <a:r>
              <a:rPr lang="en-US" dirty="0"/>
              <a:t>: </a:t>
            </a:r>
            <a:r>
              <a:rPr lang="ru-RU" sz="5400" dirty="0"/>
              <a:t>Разработка </a:t>
            </a:r>
            <a:br>
              <a:rPr lang="ru-RU" sz="5400" dirty="0"/>
            </a:br>
            <a:r>
              <a:rPr lang="ru-RU" sz="5400" dirty="0"/>
              <a:t>Политики информационной безопасности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499801"/>
            <a:ext cx="9720262" cy="435819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удаленного доступа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регламент и ограничения предоставления удаленного доступа 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доступа поставщиков к услугам, информации и компонентам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требования и условия предоставления доступа поставщикам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Политика размещения активов предприятия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определение состава и принципов управления активами (напр. денежными средствами), обеспечение платежеспособности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87827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585215"/>
            <a:ext cx="8971928" cy="1684259"/>
          </a:xfrm>
        </p:spPr>
        <p:txBody>
          <a:bodyPr>
            <a:noAutofit/>
          </a:bodyPr>
          <a:lstStyle/>
          <a:p>
            <a:r>
              <a:rPr lang="ru-RU" dirty="0"/>
              <a:t>Управление Информационными сервисами и контентом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3887" y="2628901"/>
            <a:ext cx="6442274" cy="39922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Поставщик ИТ-сервисов: предложение заказчику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Разработка SLA. Разработка</a:t>
            </a:r>
            <a:r>
              <a:rPr lang="en-US" sz="3200" dirty="0"/>
              <a:t> </a:t>
            </a:r>
            <a:r>
              <a:rPr lang="ru-RU" sz="3200" dirty="0"/>
              <a:t>политики информационной безопасности.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3200" dirty="0"/>
              <a:t> Моделирование управления изменениями. Имитация управления инцидентами.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87641" y="5149106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94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Задание 4: </a:t>
            </a:r>
            <a:r>
              <a:rPr lang="ru-RU" dirty="0"/>
              <a:t>Моделирование управления изменениями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03561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</a:t>
            </a:r>
            <a:r>
              <a:rPr lang="ru-RU" sz="3200" dirty="0">
                <a:latin typeface="Calibri" panose="020F0502020204030204" pitchFamily="34" charset="0"/>
              </a:rPr>
              <a:t>Процесс</a:t>
            </a:r>
            <a:r>
              <a:rPr lang="en-US" sz="3200" dirty="0">
                <a:latin typeface="Calibri" panose="020F0502020204030204" pitchFamily="34" charset="0"/>
              </a:rPr>
              <a:t> ITIL</a:t>
            </a:r>
            <a:r>
              <a:rPr lang="ru-RU" sz="3200" dirty="0">
                <a:latin typeface="Calibri" panose="020F0502020204030204" pitchFamily="34" charset="0"/>
              </a:rPr>
              <a:t>: Внедрение услуг</a:t>
            </a:r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8.2 Управление изменениями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реактивные и </a:t>
            </a:r>
            <a:r>
              <a:rPr lang="ru-RU" sz="2400" noProof="1"/>
              <a:t>проактивные</a:t>
            </a:r>
            <a:r>
              <a:rPr lang="ru-RU" sz="2400" dirty="0"/>
              <a:t> изменения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>
                <a:latin typeface="Calibri" panose="020F0502020204030204" pitchFamily="34" charset="0"/>
              </a:rPr>
              <a:t> стратегические, тактические и корректирующие изменения</a:t>
            </a:r>
            <a:endParaRPr lang="ru-RU" sz="3200" dirty="0">
              <a:latin typeface="Calibri" panose="020F0502020204030204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ru-RU" sz="3200" dirty="0">
                <a:latin typeface="Calibri" panose="020F0502020204030204" pitchFamily="34" charset="0"/>
              </a:rPr>
              <a:t> </a:t>
            </a:r>
            <a:r>
              <a:rPr lang="ru-RU" sz="3200" dirty="0"/>
              <a:t>Изменение услуг: </a:t>
            </a:r>
            <a:r>
              <a:rPr lang="ru-RU" sz="3200" i="1" dirty="0"/>
              <a:t>добавление, модификация или удаление утвержденной, запланированной или поддерживаемой услуги или её компонента и соответствующей документации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05899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4: Моделирование управления изменениями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 Перечисление необходимых изменений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 Процедуры реализации изменений</a:t>
            </a:r>
            <a:endParaRPr lang="ru-RU" sz="2800" dirty="0"/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dirty="0"/>
              <a:t> </a:t>
            </a:r>
            <a:r>
              <a:rPr lang="ru-RU" sz="2400" dirty="0"/>
              <a:t>описание шагов для реализации изменения, решение проблем и непредвиденных событий</a:t>
            </a:r>
            <a:r>
              <a:rPr lang="en-US" sz="2400" dirty="0"/>
              <a:t>: </a:t>
            </a:r>
            <a:r>
              <a:rPr lang="ru-RU" sz="2400" dirty="0"/>
              <a:t>можно в виде схемы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хронологический порядок шагов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ответственности и распределение обязанностей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границы, в том числе временные каждой деятельности в рамках процесса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400" dirty="0"/>
              <a:t> сформировать запись об изменении</a:t>
            </a:r>
          </a:p>
        </p:txBody>
      </p:sp>
    </p:spTree>
    <p:extLst>
      <p:ext uri="{BB962C8B-B14F-4D97-AF65-F5344CB8AC3E}">
        <p14:creationId xmlns:p14="http://schemas.microsoft.com/office/powerpoint/2010/main" val="2515888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5:</a:t>
            </a:r>
            <a:r>
              <a:rPr lang="en-US" dirty="0"/>
              <a:t> </a:t>
            </a:r>
            <a:r>
              <a:rPr lang="ru-RU" dirty="0"/>
              <a:t>имитация управления инцидентами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u-RU" sz="3200" dirty="0"/>
              <a:t> Этап</a:t>
            </a:r>
            <a:r>
              <a:rPr lang="en-US" sz="3200" dirty="0">
                <a:latin typeface="Calibri" panose="020F0502020204030204" pitchFamily="34" charset="0"/>
              </a:rPr>
              <a:t> ITIL</a:t>
            </a:r>
            <a:r>
              <a:rPr lang="ru-RU" sz="3200" dirty="0"/>
              <a:t>: Эксплуатация услуг</a:t>
            </a:r>
            <a:endParaRPr lang="en-US" sz="3200" dirty="0"/>
          </a:p>
          <a:p>
            <a:pPr>
              <a:buFont typeface="Wingdings" pitchFamily="2" charset="2"/>
              <a:buChar char="q"/>
            </a:pPr>
            <a:r>
              <a:rPr lang="en-US" sz="3200" dirty="0"/>
              <a:t> </a:t>
            </a:r>
            <a:r>
              <a:rPr lang="ru-RU" sz="3200" dirty="0"/>
              <a:t> 12.2 Управление инцидентами: жизненный цикл инцидента</a:t>
            </a:r>
          </a:p>
          <a:p>
            <a:pPr lvl="1">
              <a:spcBef>
                <a:spcPts val="1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ru-RU" sz="2800" dirty="0"/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vs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.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 12.1 Управление событиями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ru-RU" sz="2800" dirty="0">
                <a:solidFill>
                  <a:schemeClr val="bg1">
                    <a:lumMod val="50000"/>
                  </a:schemeClr>
                </a:solidFill>
              </a:rPr>
              <a:t>мониторинг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ru-RU" sz="2800" dirty="0"/>
          </a:p>
          <a:p>
            <a:pPr>
              <a:buFont typeface="Wingdings" pitchFamily="2" charset="2"/>
              <a:buChar char="q"/>
            </a:pPr>
            <a:r>
              <a:rPr lang="ru-RU" sz="3200" dirty="0"/>
              <a:t> Инцидент: </a:t>
            </a:r>
            <a:r>
              <a:rPr lang="ru-RU" sz="3200" i="1" dirty="0"/>
              <a:t>незапланированное прерывание услуги или снижение качества услуги; сбой конфигурационной единицы (диск в массиве)</a:t>
            </a:r>
          </a:p>
        </p:txBody>
      </p:sp>
    </p:spTree>
    <p:extLst>
      <p:ext uri="{BB962C8B-B14F-4D97-AF65-F5344CB8AC3E}">
        <p14:creationId xmlns:p14="http://schemas.microsoft.com/office/powerpoint/2010/main" val="23322471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5:</a:t>
            </a:r>
            <a:r>
              <a:rPr lang="en-US" dirty="0"/>
              <a:t> </a:t>
            </a:r>
            <a:r>
              <a:rPr lang="ru-RU" dirty="0"/>
              <a:t>имитация управления инцидентами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23938" y="2168013"/>
            <a:ext cx="9720262" cy="4689987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/>
              <a:t> </a:t>
            </a:r>
            <a:r>
              <a:rPr lang="en-US" sz="3200" dirty="0">
                <a:latin typeface="Calibri" panose="020F0502020204030204" pitchFamily="34" charset="0"/>
              </a:rPr>
              <a:t>A</a:t>
            </a:r>
            <a:r>
              <a:rPr lang="ru-RU" sz="3200" dirty="0">
                <a:latin typeface="Calibri" panose="020F0502020204030204" pitchFamily="34" charset="0"/>
              </a:rPr>
              <a:t>.</a:t>
            </a: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ru-RU" sz="3200" dirty="0"/>
              <a:t>Запись об инциденте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r>
              <a:rPr lang="ru-RU" sz="2800" dirty="0"/>
              <a:t> - идентификатор, категория, срочность (раздел 12.2)</a:t>
            </a:r>
          </a:p>
          <a:p>
            <a:pPr marL="0" indent="0">
              <a:buNone/>
            </a:pPr>
            <a:r>
              <a:rPr lang="ru-RU" sz="3200" dirty="0"/>
              <a:t> Б. Категория инцидента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r>
              <a:rPr lang="ru-RU" sz="2800" dirty="0"/>
              <a:t> - схему категорий разработать самостоятельно</a:t>
            </a:r>
            <a:endParaRPr lang="ru-RU" sz="3200" dirty="0"/>
          </a:p>
          <a:p>
            <a:pPr marL="0" indent="0">
              <a:buNone/>
            </a:pPr>
            <a:r>
              <a:rPr lang="ru-RU" sz="3200" dirty="0"/>
              <a:t> В. Приоритет инцидента</a:t>
            </a:r>
          </a:p>
          <a:p>
            <a:pPr marL="128588" lvl="1" indent="0">
              <a:spcBef>
                <a:spcPts val="1200"/>
              </a:spcBef>
              <a:spcAft>
                <a:spcPts val="200"/>
              </a:spcAft>
              <a:buNone/>
            </a:pPr>
            <a:r>
              <a:rPr lang="ru-RU" sz="2800" dirty="0"/>
              <a:t> - таблицы 12.1 и 12.2: срочность/влияние, приоритет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66510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1"/>
          <p:cNvSpPr txBox="1">
            <a:spLocks/>
          </p:cNvSpPr>
          <p:nvPr/>
        </p:nvSpPr>
        <p:spPr bwMode="auto">
          <a:xfrm>
            <a:off x="1023938" y="2168013"/>
            <a:ext cx="9720262" cy="468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13" indent="-136525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7675" indent="-136525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3725" indent="-136525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6288" indent="-136525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ru-RU" sz="3200" dirty="0"/>
              <a:t> </a:t>
            </a:r>
            <a:r>
              <a:rPr lang="ru-RU" sz="3200" dirty="0">
                <a:latin typeface="Calibri" panose="020F0502020204030204" pitchFamily="34" charset="0"/>
              </a:rPr>
              <a:t>Приоритет инцидента</a:t>
            </a:r>
            <a:endParaRPr lang="ru-RU" sz="3200" dirty="0"/>
          </a:p>
        </p:txBody>
      </p:sp>
      <p:sp>
        <p:nvSpPr>
          <p:cNvPr id="29698" name="Rectangle 2"/>
          <p:cNvSpPr>
            <a:spLocks noGrp="1"/>
          </p:cNvSpPr>
          <p:nvPr>
            <p:ph type="title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ru-RU" dirty="0"/>
              <a:t>Задание 5:</a:t>
            </a:r>
            <a:r>
              <a:rPr lang="en-US" dirty="0"/>
              <a:t> </a:t>
            </a:r>
            <a:r>
              <a:rPr lang="ru-RU" dirty="0"/>
              <a:t>имитация управления инцидентами</a:t>
            </a:r>
            <a:endParaRPr lang="ru-RU" dirty="0">
              <a:latin typeface="Calibri" panose="020F0502020204030204" pitchFamily="34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8" y="2792311"/>
            <a:ext cx="8153400" cy="3683000"/>
          </a:xfrm>
        </p:spPr>
      </p:pic>
    </p:spTree>
    <p:extLst>
      <p:ext uri="{BB962C8B-B14F-4D97-AF65-F5344CB8AC3E}">
        <p14:creationId xmlns:p14="http://schemas.microsoft.com/office/powerpoint/2010/main" val="3170596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6177</TotalTime>
  <Words>1850</Words>
  <Application>Microsoft Office PowerPoint</Application>
  <PresentationFormat>Широкоэкранный</PresentationFormat>
  <Paragraphs>339</Paragraphs>
  <Slides>39</Slides>
  <Notes>38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7" baseType="lpstr">
      <vt:lpstr>Arial</vt:lpstr>
      <vt:lpstr>Calibri</vt:lpstr>
      <vt:lpstr>Cambria Math</vt:lpstr>
      <vt:lpstr>Tw Cen MT</vt:lpstr>
      <vt:lpstr>Tw Cen MT Condensed</vt:lpstr>
      <vt:lpstr>Wingdings</vt:lpstr>
      <vt:lpstr>Wingdings 3</vt:lpstr>
      <vt:lpstr>Интеграл</vt:lpstr>
      <vt:lpstr>Управление Информационными сервисами и контентом</vt:lpstr>
      <vt:lpstr>Литература</vt:lpstr>
      <vt:lpstr>Творческий рейтинг</vt:lpstr>
      <vt:lpstr>ITIL и ITSM</vt:lpstr>
      <vt:lpstr>ITIL и ITSM</vt:lpstr>
      <vt:lpstr>Оформление задания</vt:lpstr>
      <vt:lpstr>Задание 1</vt:lpstr>
      <vt:lpstr>Задание 1: материалы ITIL</vt:lpstr>
      <vt:lpstr>Задание 1</vt:lpstr>
      <vt:lpstr>Задание 1</vt:lpstr>
      <vt:lpstr>Презентация PowerPoint</vt:lpstr>
      <vt:lpstr>Задание 1</vt:lpstr>
      <vt:lpstr>Задание 1</vt:lpstr>
      <vt:lpstr>Управление Информационными сервисами и контентом</vt:lpstr>
      <vt:lpstr>Задание 2: Разработка SLA</vt:lpstr>
      <vt:lpstr>Задание 2: материалы ITIL</vt:lpstr>
      <vt:lpstr>Задание 2: расчет показателей качества</vt:lpstr>
      <vt:lpstr>Задание 2: Пример</vt:lpstr>
      <vt:lpstr>Задание 2: Разработка SLA</vt:lpstr>
      <vt:lpstr>Задание 2: Разработка SLA</vt:lpstr>
      <vt:lpstr>Задание 2: Разработка SLA</vt:lpstr>
      <vt:lpstr>Задание 2: Разработка SLA</vt:lpstr>
      <vt:lpstr>Задание 2: Разработка SLA</vt:lpstr>
      <vt:lpstr>Задание 2: Разработка SLA</vt:lpstr>
      <vt:lpstr>Задание 2: Разработка SLA</vt:lpstr>
      <vt:lpstr>Задание 2: Разработка SLA</vt:lpstr>
      <vt:lpstr>Управление Информационными сервисами и контентом</vt:lpstr>
      <vt:lpstr>Задание 3: Разработка  Политики информационной безопасности</vt:lpstr>
      <vt:lpstr>Задание 3: Разработка  Политики информационной безопасности</vt:lpstr>
      <vt:lpstr>Задание 3: материалы ITIL</vt:lpstr>
      <vt:lpstr>Задание 3: Разработка  Политики информационной безопасности</vt:lpstr>
      <vt:lpstr>Задание 3: Разработка  Политики информационной безопасности</vt:lpstr>
      <vt:lpstr>Задание 3: Разработка  Политики информационной безопасности</vt:lpstr>
      <vt:lpstr>Управление Информационными сервисами и контентом</vt:lpstr>
      <vt:lpstr>Задание 4: Моделирование управления изменениями</vt:lpstr>
      <vt:lpstr>Задание 4: Моделирование управления изменениями</vt:lpstr>
      <vt:lpstr>Задание 5: имитация управления инцидентами</vt:lpstr>
      <vt:lpstr>Задание 5: имитация управления инцидентами</vt:lpstr>
      <vt:lpstr>Задание 5: имитация управления инцидентами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Электронный бизнес</dc:title>
  <dc:creator>Пользователь Windows</dc:creator>
  <cp:lastModifiedBy>user</cp:lastModifiedBy>
  <cp:revision>913</cp:revision>
  <dcterms:created xsi:type="dcterms:W3CDTF">2018-09-01T10:56:29Z</dcterms:created>
  <dcterms:modified xsi:type="dcterms:W3CDTF">2025-10-21T06:12:50Z</dcterms:modified>
</cp:coreProperties>
</file>