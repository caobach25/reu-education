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96" r:id="rId3"/>
    <p:sldId id="397" r:id="rId4"/>
    <p:sldId id="398" r:id="rId5"/>
    <p:sldId id="399" r:id="rId6"/>
    <p:sldId id="400" r:id="rId7"/>
    <p:sldId id="401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2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6B76B7-DFA7-4919-ACB7-9EE4871AB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EEC26A1-9CC0-4A58-9080-114086339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30F0CF-5D3A-4A23-B7FB-FE80643F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773B-211C-4E0B-9D75-E27DD268F49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A191FB-89A0-4250-A5B8-261BA1A65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2B1F8F-2195-4F0F-B799-FF768C210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C29-62D6-495E-AFA6-863B866D43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2111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0CF9B7-4324-45BA-85C2-0E03DE397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E9E318-959A-4BFC-BA2D-AB70C3450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22D7B7-3238-42F8-A84F-3FEA61BE7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773B-211C-4E0B-9D75-E27DD268F49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8F8075-4E1B-4468-9D8C-906033756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1D0000-3EEC-47D0-A027-2ECCDEB28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C29-62D6-495E-AFA6-863B866D43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4378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072DD1-FA90-48D0-A528-631D4407A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27C369-7B38-441A-A2AB-257FC8A2A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76D426-D865-4767-BE8C-9A82281AF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773B-211C-4E0B-9D75-E27DD268F49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F37442-CCBE-4D0C-876E-0C7503700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680058-F33A-4B82-8B05-61573373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C29-62D6-495E-AFA6-863B866D43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937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6BF0D1-A092-429B-B5D9-0CB8A8E6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4D5540-5344-4343-BBEC-EB9BC1D22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A3A4CC3-90CB-449B-8778-99977A31B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5E5812-9DAF-4856-9352-79BEC2316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773B-211C-4E0B-9D75-E27DD268F49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B241D2-4F30-4353-B719-B765FA73B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F4AC22-6350-4DD4-9BD3-93B10DA37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C29-62D6-495E-AFA6-863B866D43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547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D12EA2-3F1D-473C-A824-BA007A9EE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B1AF2D-0250-4B36-9647-88D6FFF35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A88803-3DE0-4E86-8A92-A3324B658D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E539F75-95E5-4247-A262-83DDF3F0E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A22275C-2465-4B22-9E89-0F2BAD6971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7F26153-1346-4886-8C19-C6D7DE30E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773B-211C-4E0B-9D75-E27DD268F49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DF932BA-8648-4D25-9CF6-53A222251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7518CCA-4453-4A4C-B268-FF02349B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C29-62D6-495E-AFA6-863B866D43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196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ABF5DE-4CF2-423D-9542-AA1530D5C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4579DC5-805D-47A2-B28D-28009E5D8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773B-211C-4E0B-9D75-E27DD268F49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12056C4-5474-4AD5-AD12-1F42D8266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D922C72-DE3D-40A0-A68C-F8D3AE739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C29-62D6-495E-AFA6-863B866D43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8523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0676177-20CE-40C3-AF16-13458022E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773B-211C-4E0B-9D75-E27DD268F49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3C32140-3D14-427B-ADD5-2D08D2D16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528650A-E62E-4E0A-AA2A-7ABA62D1B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C29-62D6-495E-AFA6-863B866D43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4920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B3FE5-0D3F-4BF7-85B2-F3C73F816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68470-04F8-4D11-9D28-33466BF43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53A5E74-8B69-4874-B96D-7DEDB3491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30A53B-C894-491B-870D-876BEB63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773B-211C-4E0B-9D75-E27DD268F49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EE96C2C-DC88-4BAD-B525-E1CAEA477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3A5750-DF76-4C15-9C5E-8DD77978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C29-62D6-495E-AFA6-863B866D43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6029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7FBA4A-9EE2-4AB6-8F36-D589EF32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BB80B77-3970-48F6-B5A3-8B810FF6D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A5F6D9-3698-4EBE-885C-5CA32A5CDF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A0B174E-9169-4B05-8F1F-2B15E6E75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773B-211C-4E0B-9D75-E27DD268F49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0B58140-019F-4C6A-BDCA-0BB5A1FF2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CCFBC4-78E0-4F0C-83CD-DA27040F8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C29-62D6-495E-AFA6-863B866D43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981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7C272-8A91-41E1-9AEA-43429A86D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DC94818-89A9-40B0-989F-E1F377197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D43641-603F-4FC2-97CC-412048A3F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773B-211C-4E0B-9D75-E27DD268F49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2295D4-4478-461B-BCE2-9A1830104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F50803-9D44-4E1E-811A-7F5822E27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C29-62D6-495E-AFA6-863B866D43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547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86AB97-97B7-4802-BF00-616FBE72DD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6220215-151F-470E-A009-B6FE6DF85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76E29D-DD09-43F8-AF4D-4159FAECE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0773B-211C-4E0B-9D75-E27DD268F49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0FD82E-B606-4B2B-A8B3-949D32034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F71302-F9B3-4530-A970-9FFFAE043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FC29-62D6-495E-AFA6-863B866D43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6895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C6E4A3-F7F0-496B-98BE-41336D8CB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75BA22-049C-495C-81D3-E1E0DF510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DA6292-EF7A-465E-8910-2EBEE65FFC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0773B-211C-4E0B-9D75-E27DD268F49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D6BE06-3BDE-420C-A950-A7564D8C2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8297C2-D84B-48C0-B40E-A5C73EBFC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7FC29-62D6-495E-AFA6-863B866D43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013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fedstat.ru/indicator/58765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D13D08-A155-4DC7-A7E2-9DA1C29B8B61}"/>
              </a:ext>
            </a:extLst>
          </p:cNvPr>
          <p:cNvSpPr txBox="1"/>
          <p:nvPr/>
        </p:nvSpPr>
        <p:spPr>
          <a:xfrm>
            <a:off x="4442528" y="2475172"/>
            <a:ext cx="34795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Инновации и бизнес в сфере ИКТ</a:t>
            </a:r>
          </a:p>
          <a:p>
            <a:pPr algn="ctr"/>
            <a:r>
              <a:rPr lang="ru-RU" sz="2800" dirty="0"/>
              <a:t>Задание на 11.11.</a:t>
            </a:r>
          </a:p>
        </p:txBody>
      </p:sp>
    </p:spTree>
    <p:extLst>
      <p:ext uri="{BB962C8B-B14F-4D97-AF65-F5344CB8AC3E}">
        <p14:creationId xmlns:p14="http://schemas.microsoft.com/office/powerpoint/2010/main" val="1156982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BA8F4F1-30A0-469D-B110-6C88C8382EE3}"/>
              </a:ext>
            </a:extLst>
          </p:cNvPr>
          <p:cNvSpPr/>
          <p:nvPr/>
        </p:nvSpPr>
        <p:spPr>
          <a:xfrm>
            <a:off x="1087134" y="962838"/>
            <a:ext cx="97341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Провести анализ показателей динамики рынка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AA93307-4A76-4ABD-AB96-DC05DCF5951E}"/>
              </a:ext>
            </a:extLst>
          </p:cNvPr>
          <p:cNvSpPr/>
          <p:nvPr/>
        </p:nvSpPr>
        <p:spPr>
          <a:xfrm>
            <a:off x="517521" y="2318020"/>
            <a:ext cx="722655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Выделите основные субъекты (компании) российского рынка информационных продуктов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D13C626-6B0F-475A-8D70-5450BEF63CA0}"/>
              </a:ext>
            </a:extLst>
          </p:cNvPr>
          <p:cNvSpPr/>
          <p:nvPr/>
        </p:nvSpPr>
        <p:spPr>
          <a:xfrm>
            <a:off x="517521" y="3538772"/>
            <a:ext cx="76068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Кто является поставщиком информационных продуктов и услуг на рынке ИКТ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38CE481-2B45-4517-B864-56B5A856D3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229" b="10441"/>
          <a:stretch/>
        </p:blipFill>
        <p:spPr>
          <a:xfrm>
            <a:off x="6257739" y="4073144"/>
            <a:ext cx="5863087" cy="278485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22C8BA-BE22-417A-BFC2-CAB566232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00" y="4759524"/>
            <a:ext cx="3920068" cy="165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229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BA8F4F1-30A0-469D-B110-6C88C8382EE3}"/>
              </a:ext>
            </a:extLst>
          </p:cNvPr>
          <p:cNvSpPr/>
          <p:nvPr/>
        </p:nvSpPr>
        <p:spPr>
          <a:xfrm>
            <a:off x="909109" y="639157"/>
            <a:ext cx="4960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Провести анализ показателей динамики рынка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B59D53B-4646-455E-89E1-8DC171F3BE0F}"/>
              </a:ext>
            </a:extLst>
          </p:cNvPr>
          <p:cNvSpPr/>
          <p:nvPr/>
        </p:nvSpPr>
        <p:spPr>
          <a:xfrm>
            <a:off x="329273" y="1213478"/>
            <a:ext cx="1095407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Представьте перспективы выбранных регионов  с 2017 года  развития федерального округа исходя из развития российского рынка ИКТ (проанализируйте динамику показателя «Удельный вес организаций осуществлявших технологические инновации в общем числе обследованных организаций c 2017 г»  по данным Росстата (ЕМИСС) 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https://www.fedstat.ru/indicator/58765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F362A7D-186C-4F70-8658-80B7EC1F49CE}"/>
              </a:ext>
            </a:extLst>
          </p:cNvPr>
          <p:cNvSpPr/>
          <p:nvPr/>
        </p:nvSpPr>
        <p:spPr>
          <a:xfrm>
            <a:off x="329273" y="1984365"/>
            <a:ext cx="554080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Сравните полученные данные с мировым трендом, можно со странами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Определите место России  и ближайших конкурентов в глобальном инновационном индексе за 5 лет (например,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https://www.wipo.int/edocs/pubdocs/en/wipo-pub-2000-2024-exec-en-global-innovation-index-2024.pdf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).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Вывод – не менее 100 слов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98DE9EE-9A20-420F-A8D4-0263DADAA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267" y="2516694"/>
            <a:ext cx="3469733" cy="428553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3A400BD-58E3-49D6-BF5C-CAD55ED2E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081" y="2588019"/>
            <a:ext cx="2852185" cy="4214209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1B30685-1A60-407E-88D5-3B404F5909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2415" y="4106812"/>
            <a:ext cx="2534152" cy="269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207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BA8F4F1-30A0-469D-B110-6C88C8382EE3}"/>
              </a:ext>
            </a:extLst>
          </p:cNvPr>
          <p:cNvSpPr/>
          <p:nvPr/>
        </p:nvSpPr>
        <p:spPr>
          <a:xfrm>
            <a:off x="1621208" y="740102"/>
            <a:ext cx="86884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Провести анализ показателей динамики рынка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AF1E9A3-BE56-4165-BBFA-7AFEC30295BA}"/>
              </a:ext>
            </a:extLst>
          </p:cNvPr>
          <p:cNvSpPr/>
          <p:nvPr/>
        </p:nvSpPr>
        <p:spPr>
          <a:xfrm>
            <a:off x="775053" y="2017534"/>
            <a:ext cx="1064189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Определите какие активы и навыки необходимы фирме для успешной конкуренции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B44ED22-3E93-45FA-B6EF-0040C345EC63}"/>
              </a:ext>
            </a:extLst>
          </p:cNvPr>
          <p:cNvSpPr/>
          <p:nvPr/>
        </p:nvSpPr>
        <p:spPr>
          <a:xfrm>
            <a:off x="775053" y="3479632"/>
            <a:ext cx="1006018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Произвести декомпозицию рынка в соответствии с выбранными переменными сегментирования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994CE9-8455-43DE-91CE-F48BCA760ABA}"/>
              </a:ext>
            </a:extLst>
          </p:cNvPr>
          <p:cNvSpPr txBox="1"/>
          <p:nvPr/>
        </p:nvSpPr>
        <p:spPr>
          <a:xfrm>
            <a:off x="775053" y="4941730"/>
            <a:ext cx="99031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На основе данных официальных источников по рынку ИКТ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определите динамику развития рынка ИКТ по секторам и сделайте прогноз на следующий период построив линию тренда</a:t>
            </a:r>
          </a:p>
        </p:txBody>
      </p:sp>
    </p:spTree>
    <p:extLst>
      <p:ext uri="{BB962C8B-B14F-4D97-AF65-F5344CB8AC3E}">
        <p14:creationId xmlns:p14="http://schemas.microsoft.com/office/powerpoint/2010/main" val="439396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F6FDBB-5D60-4203-B48A-B2B303063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12" y="666648"/>
            <a:ext cx="9144793" cy="224961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4AFC03-50A8-44BA-9118-35A4BE91D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138" y="2916267"/>
            <a:ext cx="7096665" cy="399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294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7A695D97-8E26-497F-89F8-DD7961D6CCE3}"/>
              </a:ext>
            </a:extLst>
          </p:cNvPr>
          <p:cNvSpPr/>
          <p:nvPr/>
        </p:nvSpPr>
        <p:spPr>
          <a:xfrm>
            <a:off x="6079464" y="1617454"/>
            <a:ext cx="707366" cy="4583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6F50684B-7343-478F-A605-B750A5D3BEAA}"/>
              </a:ext>
            </a:extLst>
          </p:cNvPr>
          <p:cNvCxnSpPr>
            <a:cxnSpLocks/>
          </p:cNvCxnSpPr>
          <p:nvPr/>
        </p:nvCxnSpPr>
        <p:spPr>
          <a:xfrm>
            <a:off x="483079" y="6211019"/>
            <a:ext cx="695289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9084352B-AAFC-4785-9FFD-90A0E101F089}"/>
              </a:ext>
            </a:extLst>
          </p:cNvPr>
          <p:cNvCxnSpPr/>
          <p:nvPr/>
        </p:nvCxnSpPr>
        <p:spPr>
          <a:xfrm flipV="1">
            <a:off x="491705" y="759125"/>
            <a:ext cx="0" cy="544326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BD610C4-85C5-4A82-8259-5A66506FCD6D}"/>
              </a:ext>
            </a:extLst>
          </p:cNvPr>
          <p:cNvSpPr/>
          <p:nvPr/>
        </p:nvSpPr>
        <p:spPr>
          <a:xfrm>
            <a:off x="992037" y="3847384"/>
            <a:ext cx="707366" cy="2355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C718BE-7723-4D63-951D-7B61E942B018}"/>
              </a:ext>
            </a:extLst>
          </p:cNvPr>
          <p:cNvSpPr/>
          <p:nvPr/>
        </p:nvSpPr>
        <p:spPr>
          <a:xfrm>
            <a:off x="1998451" y="3174523"/>
            <a:ext cx="707366" cy="303649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128C73E-1855-4E18-A38B-6F28194FC24E}"/>
              </a:ext>
            </a:extLst>
          </p:cNvPr>
          <p:cNvSpPr/>
          <p:nvPr/>
        </p:nvSpPr>
        <p:spPr>
          <a:xfrm>
            <a:off x="3004865" y="2769080"/>
            <a:ext cx="707366" cy="344193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860E150-DEE5-419D-AC63-232D4C664BD3}"/>
              </a:ext>
            </a:extLst>
          </p:cNvPr>
          <p:cNvSpPr/>
          <p:nvPr/>
        </p:nvSpPr>
        <p:spPr>
          <a:xfrm>
            <a:off x="4011279" y="2458536"/>
            <a:ext cx="707366" cy="375248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35E3BBF-324E-4B90-B79D-F1C27A7C4FB7}"/>
              </a:ext>
            </a:extLst>
          </p:cNvPr>
          <p:cNvSpPr/>
          <p:nvPr/>
        </p:nvSpPr>
        <p:spPr>
          <a:xfrm>
            <a:off x="5017693" y="2147983"/>
            <a:ext cx="707366" cy="406303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56AAE91-EA4D-4207-AC87-7A6F02B93623}"/>
              </a:ext>
            </a:extLst>
          </p:cNvPr>
          <p:cNvCxnSpPr>
            <a:cxnSpLocks/>
            <a:stCxn id="8" idx="0"/>
            <a:endCxn id="9" idx="0"/>
          </p:cNvCxnSpPr>
          <p:nvPr/>
        </p:nvCxnSpPr>
        <p:spPr>
          <a:xfrm flipV="1">
            <a:off x="1345720" y="3174523"/>
            <a:ext cx="1006414" cy="67286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Овал 15">
            <a:extLst>
              <a:ext uri="{FF2B5EF4-FFF2-40B4-BE49-F238E27FC236}">
                <a16:creationId xmlns:a16="http://schemas.microsoft.com/office/drawing/2014/main" id="{A0D685C4-9AF0-49D6-84D5-6F14876D9D3B}"/>
              </a:ext>
            </a:extLst>
          </p:cNvPr>
          <p:cNvSpPr/>
          <p:nvPr/>
        </p:nvSpPr>
        <p:spPr>
          <a:xfrm>
            <a:off x="1268083" y="3786998"/>
            <a:ext cx="112144" cy="15527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ADFD752A-C787-4896-AE4C-45B1962ECB99}"/>
              </a:ext>
            </a:extLst>
          </p:cNvPr>
          <p:cNvSpPr/>
          <p:nvPr/>
        </p:nvSpPr>
        <p:spPr>
          <a:xfrm>
            <a:off x="2317627" y="3096892"/>
            <a:ext cx="112144" cy="15527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5709CF87-3E0D-443A-8C39-4D7E6AC5C40B}"/>
              </a:ext>
            </a:extLst>
          </p:cNvPr>
          <p:cNvSpPr/>
          <p:nvPr/>
        </p:nvSpPr>
        <p:spPr>
          <a:xfrm>
            <a:off x="3309665" y="2691442"/>
            <a:ext cx="112144" cy="15527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B3C92598-0275-4810-A34A-688E309852B8}"/>
              </a:ext>
            </a:extLst>
          </p:cNvPr>
          <p:cNvSpPr/>
          <p:nvPr/>
        </p:nvSpPr>
        <p:spPr>
          <a:xfrm>
            <a:off x="4308890" y="2380899"/>
            <a:ext cx="112144" cy="15527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7313B46F-6E2E-45CE-B733-0C5E1620BB12}"/>
              </a:ext>
            </a:extLst>
          </p:cNvPr>
          <p:cNvSpPr/>
          <p:nvPr/>
        </p:nvSpPr>
        <p:spPr>
          <a:xfrm>
            <a:off x="5328244" y="2070346"/>
            <a:ext cx="112144" cy="15527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2FCD21CA-BEBE-465E-B8FF-63B92BD8246B}"/>
              </a:ext>
            </a:extLst>
          </p:cNvPr>
          <p:cNvCxnSpPr>
            <a:cxnSpLocks/>
            <a:endCxn id="18" idx="6"/>
          </p:cNvCxnSpPr>
          <p:nvPr/>
        </p:nvCxnSpPr>
        <p:spPr>
          <a:xfrm flipV="1">
            <a:off x="2380886" y="2769079"/>
            <a:ext cx="1040923" cy="41408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03D7FD8F-6DA0-4121-8BBE-E15A37BA6E57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3315412" y="2458536"/>
            <a:ext cx="993478" cy="33642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9B01D8B8-9DAF-4BD5-A207-3773A6238BE0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4358483" y="2147983"/>
            <a:ext cx="969761" cy="30624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6435C3FC-5BD9-4D0B-BDB6-6A001ABD25D1}"/>
              </a:ext>
            </a:extLst>
          </p:cNvPr>
          <p:cNvCxnSpPr>
            <a:cxnSpLocks/>
          </p:cNvCxnSpPr>
          <p:nvPr/>
        </p:nvCxnSpPr>
        <p:spPr>
          <a:xfrm flipV="1">
            <a:off x="5428881" y="1621766"/>
            <a:ext cx="981268" cy="521904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Овал 28">
            <a:extLst>
              <a:ext uri="{FF2B5EF4-FFF2-40B4-BE49-F238E27FC236}">
                <a16:creationId xmlns:a16="http://schemas.microsoft.com/office/drawing/2014/main" id="{C1C16D69-C9AA-4921-87F3-314834408545}"/>
              </a:ext>
            </a:extLst>
          </p:cNvPr>
          <p:cNvSpPr/>
          <p:nvPr/>
        </p:nvSpPr>
        <p:spPr>
          <a:xfrm>
            <a:off x="6378509" y="1539816"/>
            <a:ext cx="112144" cy="15527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74A77D9C-AB5F-469C-B2B7-0C68FA7338C6}"/>
              </a:ext>
            </a:extLst>
          </p:cNvPr>
          <p:cNvSpPr/>
          <p:nvPr/>
        </p:nvSpPr>
        <p:spPr>
          <a:xfrm>
            <a:off x="6378509" y="2389529"/>
            <a:ext cx="112144" cy="15527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A68CED15-DE4E-4398-9B06-EC865AB06531}"/>
              </a:ext>
            </a:extLst>
          </p:cNvPr>
          <p:cNvCxnSpPr>
            <a:cxnSpLocks/>
            <a:endCxn id="30" idx="6"/>
          </p:cNvCxnSpPr>
          <p:nvPr/>
        </p:nvCxnSpPr>
        <p:spPr>
          <a:xfrm>
            <a:off x="5363472" y="2163089"/>
            <a:ext cx="1127181" cy="304077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064441C-6D91-4C3C-9926-2E152629B6C6}"/>
              </a:ext>
            </a:extLst>
          </p:cNvPr>
          <p:cNvSpPr/>
          <p:nvPr/>
        </p:nvSpPr>
        <p:spPr>
          <a:xfrm>
            <a:off x="6070838" y="2454223"/>
            <a:ext cx="707366" cy="376759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7A5FA1-8B05-41F9-9501-E2A6022D2AF7}"/>
              </a:ext>
            </a:extLst>
          </p:cNvPr>
          <p:cNvSpPr txBox="1"/>
          <p:nvPr/>
        </p:nvSpPr>
        <p:spPr>
          <a:xfrm>
            <a:off x="7736458" y="920570"/>
            <a:ext cx="3459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Определите влияние инфляции и мер поддержки инноваций для развития рынка ИКТ в России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0FC611-491B-45BF-A368-B4710E5C028E}"/>
              </a:ext>
            </a:extLst>
          </p:cNvPr>
          <p:cNvSpPr txBox="1"/>
          <p:nvPr/>
        </p:nvSpPr>
        <p:spPr>
          <a:xfrm>
            <a:off x="7736458" y="2157252"/>
            <a:ext cx="3576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Предложите бизнес-модель развития компании </a:t>
            </a:r>
          </a:p>
        </p:txBody>
      </p:sp>
    </p:spTree>
    <p:extLst>
      <p:ext uri="{BB962C8B-B14F-4D97-AF65-F5344CB8AC3E}">
        <p14:creationId xmlns:p14="http://schemas.microsoft.com/office/powerpoint/2010/main" val="3369017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73DAAF9-5C93-4CCC-A2A1-8E9CAA10F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73" y="694707"/>
            <a:ext cx="11321253" cy="546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683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210</Words>
  <Application>Microsoft Office PowerPoint</Application>
  <PresentationFormat>Широкоэкранный</PresentationFormat>
  <Paragraphs>15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3</cp:revision>
  <dcterms:created xsi:type="dcterms:W3CDTF">2025-11-11T05:46:52Z</dcterms:created>
  <dcterms:modified xsi:type="dcterms:W3CDTF">2025-11-11T06:58:30Z</dcterms:modified>
</cp:coreProperties>
</file>