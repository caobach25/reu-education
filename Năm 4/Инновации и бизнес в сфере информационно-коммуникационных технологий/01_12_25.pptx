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60089-480F-4899-8D6C-24C2FF80D375}" v="2" dt="2025-12-01T09:45:56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Timofeev" userId="c563a5ce42dadbff" providerId="LiveId" clId="{5E66DC09-A050-4B76-B4C7-CAE75352BD7A}"/>
    <pc:docChg chg="undo custSel addSld delSld modSld">
      <pc:chgData name="Alexander Timofeev" userId="c563a5ce42dadbff" providerId="LiveId" clId="{5E66DC09-A050-4B76-B4C7-CAE75352BD7A}" dt="2025-12-01T09:46:30.590" v="417" actId="14861"/>
      <pc:docMkLst>
        <pc:docMk/>
      </pc:docMkLst>
      <pc:sldChg chg="modSp mod">
        <pc:chgData name="Alexander Timofeev" userId="c563a5ce42dadbff" providerId="LiveId" clId="{5E66DC09-A050-4B76-B4C7-CAE75352BD7A}" dt="2025-11-29T13:04:50.822" v="10" actId="1076"/>
        <pc:sldMkLst>
          <pc:docMk/>
          <pc:sldMk cId="2624150739" sldId="263"/>
        </pc:sldMkLst>
        <pc:spChg chg="mod">
          <ac:chgData name="Alexander Timofeev" userId="c563a5ce42dadbff" providerId="LiveId" clId="{5E66DC09-A050-4B76-B4C7-CAE75352BD7A}" dt="2025-11-29T13:04:50.822" v="10" actId="1076"/>
          <ac:spMkLst>
            <pc:docMk/>
            <pc:sldMk cId="2624150739" sldId="263"/>
            <ac:spMk id="5" creationId="{D9AF8E92-0293-92FF-CC87-74ABFC86011C}"/>
          </ac:spMkLst>
        </pc:spChg>
      </pc:sldChg>
      <pc:sldChg chg="addSp delSp modSp new mod">
        <pc:chgData name="Alexander Timofeev" userId="c563a5ce42dadbff" providerId="LiveId" clId="{5E66DC09-A050-4B76-B4C7-CAE75352BD7A}" dt="2025-12-01T09:30:21.024" v="111" actId="22"/>
        <pc:sldMkLst>
          <pc:docMk/>
          <pc:sldMk cId="2602075137" sldId="264"/>
        </pc:sldMkLst>
        <pc:spChg chg="add del mod">
          <ac:chgData name="Alexander Timofeev" userId="c563a5ce42dadbff" providerId="LiveId" clId="{5E66DC09-A050-4B76-B4C7-CAE75352BD7A}" dt="2025-12-01T09:30:21.024" v="111" actId="22"/>
          <ac:spMkLst>
            <pc:docMk/>
            <pc:sldMk cId="2602075137" sldId="264"/>
            <ac:spMk id="3" creationId="{017A2E6D-43FA-29D3-1859-F6FD1C673A5D}"/>
          </ac:spMkLst>
        </pc:spChg>
        <pc:spChg chg="add mod">
          <ac:chgData name="Alexander Timofeev" userId="c563a5ce42dadbff" providerId="LiveId" clId="{5E66DC09-A050-4B76-B4C7-CAE75352BD7A}" dt="2025-11-29T13:28:42.681" v="107" actId="207"/>
          <ac:spMkLst>
            <pc:docMk/>
            <pc:sldMk cId="2602075137" sldId="264"/>
            <ac:spMk id="5" creationId="{1D80DF86-0E67-8F05-AD71-CA51AB1CD02E}"/>
          </ac:spMkLst>
        </pc:spChg>
      </pc:sldChg>
      <pc:sldChg chg="addSp delSp modSp new mod">
        <pc:chgData name="Alexander Timofeev" userId="c563a5ce42dadbff" providerId="LiveId" clId="{5E66DC09-A050-4B76-B4C7-CAE75352BD7A}" dt="2025-12-01T09:38:30.477" v="274" actId="20577"/>
        <pc:sldMkLst>
          <pc:docMk/>
          <pc:sldMk cId="3480168396" sldId="265"/>
        </pc:sldMkLst>
        <pc:spChg chg="del">
          <ac:chgData name="Alexander Timofeev" userId="c563a5ce42dadbff" providerId="LiveId" clId="{5E66DC09-A050-4B76-B4C7-CAE75352BD7A}" dt="2025-12-01T09:30:28.022" v="113" actId="478"/>
          <ac:spMkLst>
            <pc:docMk/>
            <pc:sldMk cId="3480168396" sldId="265"/>
            <ac:spMk id="2" creationId="{901BBC02-035E-3263-D227-5135907C3C53}"/>
          </ac:spMkLst>
        </pc:spChg>
        <pc:spChg chg="del">
          <ac:chgData name="Alexander Timofeev" userId="c563a5ce42dadbff" providerId="LiveId" clId="{5E66DC09-A050-4B76-B4C7-CAE75352BD7A}" dt="2025-12-01T09:30:28.022" v="113" actId="478"/>
          <ac:spMkLst>
            <pc:docMk/>
            <pc:sldMk cId="3480168396" sldId="265"/>
            <ac:spMk id="3" creationId="{D0C16D33-C6DE-9FA3-A5BB-9B2190651295}"/>
          </ac:spMkLst>
        </pc:spChg>
        <pc:spChg chg="add mod">
          <ac:chgData name="Alexander Timofeev" userId="c563a5ce42dadbff" providerId="LiveId" clId="{5E66DC09-A050-4B76-B4C7-CAE75352BD7A}" dt="2025-12-01T09:33:29.067" v="143" actId="1076"/>
          <ac:spMkLst>
            <pc:docMk/>
            <pc:sldMk cId="3480168396" sldId="265"/>
            <ac:spMk id="5" creationId="{CEF001B9-A96B-A394-CE4F-451DD47790A7}"/>
          </ac:spMkLst>
        </pc:spChg>
        <pc:spChg chg="add mod">
          <ac:chgData name="Alexander Timofeev" userId="c563a5ce42dadbff" providerId="LiveId" clId="{5E66DC09-A050-4B76-B4C7-CAE75352BD7A}" dt="2025-12-01T09:31:15.177" v="125" actId="403"/>
          <ac:spMkLst>
            <pc:docMk/>
            <pc:sldMk cId="3480168396" sldId="265"/>
            <ac:spMk id="7" creationId="{C8E12F59-FBCF-6744-85C4-4B3DEF1221AB}"/>
          </ac:spMkLst>
        </pc:spChg>
        <pc:spChg chg="add mod">
          <ac:chgData name="Alexander Timofeev" userId="c563a5ce42dadbff" providerId="LiveId" clId="{5E66DC09-A050-4B76-B4C7-CAE75352BD7A}" dt="2025-12-01T09:32:30.537" v="132" actId="1076"/>
          <ac:spMkLst>
            <pc:docMk/>
            <pc:sldMk cId="3480168396" sldId="265"/>
            <ac:spMk id="9" creationId="{98AEDDCE-5CC4-3DB9-785D-55D88901FB3E}"/>
          </ac:spMkLst>
        </pc:spChg>
        <pc:spChg chg="add mod">
          <ac:chgData name="Alexander Timofeev" userId="c563a5ce42dadbff" providerId="LiveId" clId="{5E66DC09-A050-4B76-B4C7-CAE75352BD7A}" dt="2025-12-01T09:38:30.477" v="274" actId="20577"/>
          <ac:spMkLst>
            <pc:docMk/>
            <pc:sldMk cId="3480168396" sldId="265"/>
            <ac:spMk id="11" creationId="{4F120099-52B1-F380-6BBD-AEAA7ECBE7DC}"/>
          </ac:spMkLst>
        </pc:spChg>
        <pc:spChg chg="add mod">
          <ac:chgData name="Alexander Timofeev" userId="c563a5ce42dadbff" providerId="LiveId" clId="{5E66DC09-A050-4B76-B4C7-CAE75352BD7A}" dt="2025-12-01T09:33:24.713" v="142" actId="1076"/>
          <ac:spMkLst>
            <pc:docMk/>
            <pc:sldMk cId="3480168396" sldId="265"/>
            <ac:spMk id="13" creationId="{CC97D028-CE1D-B67A-F893-119CE09E0C14}"/>
          </ac:spMkLst>
        </pc:spChg>
      </pc:sldChg>
      <pc:sldChg chg="addSp delSp modSp new mod">
        <pc:chgData name="Alexander Timofeev" userId="c563a5ce42dadbff" providerId="LiveId" clId="{5E66DC09-A050-4B76-B4C7-CAE75352BD7A}" dt="2025-12-01T09:46:30.590" v="417" actId="14861"/>
        <pc:sldMkLst>
          <pc:docMk/>
          <pc:sldMk cId="3620834384" sldId="266"/>
        </pc:sldMkLst>
        <pc:spChg chg="del">
          <ac:chgData name="Alexander Timofeev" userId="c563a5ce42dadbff" providerId="LiveId" clId="{5E66DC09-A050-4B76-B4C7-CAE75352BD7A}" dt="2025-12-01T09:39:22.004" v="276" actId="478"/>
          <ac:spMkLst>
            <pc:docMk/>
            <pc:sldMk cId="3620834384" sldId="266"/>
            <ac:spMk id="2" creationId="{99375D18-96DB-781A-6728-6C8E36D0205F}"/>
          </ac:spMkLst>
        </pc:spChg>
        <pc:spChg chg="del">
          <ac:chgData name="Alexander Timofeev" userId="c563a5ce42dadbff" providerId="LiveId" clId="{5E66DC09-A050-4B76-B4C7-CAE75352BD7A}" dt="2025-12-01T09:39:22.004" v="276" actId="478"/>
          <ac:spMkLst>
            <pc:docMk/>
            <pc:sldMk cId="3620834384" sldId="266"/>
            <ac:spMk id="3" creationId="{7A544D0F-0859-DB9E-8BA7-ADCCC5C301EC}"/>
          </ac:spMkLst>
        </pc:spChg>
        <pc:spChg chg="add mod">
          <ac:chgData name="Alexander Timofeev" userId="c563a5ce42dadbff" providerId="LiveId" clId="{5E66DC09-A050-4B76-B4C7-CAE75352BD7A}" dt="2025-12-01T09:43:43.633" v="373" actId="6549"/>
          <ac:spMkLst>
            <pc:docMk/>
            <pc:sldMk cId="3620834384" sldId="266"/>
            <ac:spMk id="5" creationId="{99C0A3EE-49C6-7AC3-6599-38FC123258ED}"/>
          </ac:spMkLst>
        </pc:spChg>
        <pc:spChg chg="add del mod">
          <ac:chgData name="Alexander Timofeev" userId="c563a5ce42dadbff" providerId="LiveId" clId="{5E66DC09-A050-4B76-B4C7-CAE75352BD7A}" dt="2025-12-01T09:45:53.578" v="406" actId="21"/>
          <ac:spMkLst>
            <pc:docMk/>
            <pc:sldMk cId="3620834384" sldId="266"/>
            <ac:spMk id="7" creationId="{3D171595-C5B9-AD23-C8A0-DFF2EC1C1A16}"/>
          </ac:spMkLst>
        </pc:spChg>
        <pc:spChg chg="add mod">
          <ac:chgData name="Alexander Timofeev" userId="c563a5ce42dadbff" providerId="LiveId" clId="{5E66DC09-A050-4B76-B4C7-CAE75352BD7A}" dt="2025-12-01T09:46:30.590" v="417" actId="14861"/>
          <ac:spMkLst>
            <pc:docMk/>
            <pc:sldMk cId="3620834384" sldId="266"/>
            <ac:spMk id="8" creationId="{3D171595-C5B9-AD23-C8A0-DFF2EC1C1A16}"/>
          </ac:spMkLst>
        </pc:spChg>
      </pc:sldChg>
      <pc:sldChg chg="modSp add mod">
        <pc:chgData name="Alexander Timofeev" userId="c563a5ce42dadbff" providerId="LiveId" clId="{5E66DC09-A050-4B76-B4C7-CAE75352BD7A}" dt="2025-12-01T09:42:57.226" v="339" actId="404"/>
        <pc:sldMkLst>
          <pc:docMk/>
          <pc:sldMk cId="443385373" sldId="267"/>
        </pc:sldMkLst>
        <pc:spChg chg="mod">
          <ac:chgData name="Alexander Timofeev" userId="c563a5ce42dadbff" providerId="LiveId" clId="{5E66DC09-A050-4B76-B4C7-CAE75352BD7A}" dt="2025-12-01T09:42:57.226" v="339" actId="404"/>
          <ac:spMkLst>
            <pc:docMk/>
            <pc:sldMk cId="443385373" sldId="267"/>
            <ac:spMk id="5" creationId="{629962C8-38A3-AF9D-AF59-5B01567EA102}"/>
          </ac:spMkLst>
        </pc:spChg>
      </pc:sldChg>
      <pc:sldChg chg="modSp add mod">
        <pc:chgData name="Alexander Timofeev" userId="c563a5ce42dadbff" providerId="LiveId" clId="{5E66DC09-A050-4B76-B4C7-CAE75352BD7A}" dt="2025-12-01T09:42:13.850" v="303" actId="113"/>
        <pc:sldMkLst>
          <pc:docMk/>
          <pc:sldMk cId="3734022825" sldId="268"/>
        </pc:sldMkLst>
        <pc:spChg chg="mod">
          <ac:chgData name="Alexander Timofeev" userId="c563a5ce42dadbff" providerId="LiveId" clId="{5E66DC09-A050-4B76-B4C7-CAE75352BD7A}" dt="2025-12-01T09:42:13.850" v="303" actId="113"/>
          <ac:spMkLst>
            <pc:docMk/>
            <pc:sldMk cId="3734022825" sldId="268"/>
            <ac:spMk id="5" creationId="{984AE250-CB27-7CAB-2504-1783DD9077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C1579-432C-4FBD-EC6A-86B2CE8DC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EBCE49-B050-1972-24E9-22FF17F8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5822A-2762-FC16-4F8E-4C9C9B6B9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B2503A-EF3A-3D51-021C-E8D5726D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FAAF3-5462-0B02-5205-BA804F0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69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07AA5-ABD8-758D-0750-18B3A11F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7AB0B-E64A-9C0E-D151-E245EA2E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BFD247-6838-9D7B-9422-37D2B499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E7042B-2F0E-2FB9-4D83-9324BA99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1DC9A-38E2-00B0-0A7C-8ADA25A7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9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3E83B-03DE-40D7-2924-E8D19168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0F4A43-5E2B-03BE-404A-71254ECBF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276CAC-BF4D-2F83-84B2-11DF04D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06E79-A410-0E0D-96B6-AD0EC598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C6C44C-325C-CFB6-7543-1AA2472E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02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901D9-38C9-31BA-0F17-5F6F0F5B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0102F-5DBB-0C41-C76A-535910CBC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7F7F33-AEDB-CB19-1115-0369C94A1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75A2F5-17E2-E2E8-B371-A8A1A31C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E7987E-EAB7-D768-DCBE-472FACC9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43EECB-D085-966C-1B66-3F7B1D1D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57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DB045-021F-9B96-F0A8-73232737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7CF1C-3221-D7D1-18DA-4F61B1AC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427F62-C64C-1904-5AF1-F3A000D7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E3B7CB-8B51-0F30-A085-07CA32B01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9B6B04-96FE-5556-4BFB-5B15FC343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537E4E-9D4B-E46C-3D2F-2A7931A3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40652F-C820-FF0E-9380-CECAA0FD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8C5CA2-E164-F9F5-E376-6ACBA506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24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9690-B38E-3BCF-B56D-A98EA234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A188F8-DDDA-1997-D835-8A97050E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B59E59-E44E-7222-268D-12F3762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0E6208-256E-68D2-1F77-6D28049D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90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608D24-3FDF-D2D0-008F-2DFC7A42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067061-213B-4093-6D07-BC3CD19F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A91132-4A06-C7FE-C0BB-6B5DC9C2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89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23480-B8F7-1E29-C038-3D7CDCD8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44EA97-7CC4-2AAA-6F09-D82DE899F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A06C62-1D22-C4F1-F694-43BA6EC9F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7160E2-3C47-A746-7202-BE77DCD0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F86CBA-3C52-8F07-B696-E1C3E192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D92111-9375-9BED-B82A-026BACC8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32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2450-3791-A0D0-D466-3E683308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4098BE-CF3F-20E3-7289-78670EF5F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3F63D0-E84C-128D-AFDC-F1BC17657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CCC8B2-B354-D9C0-E77A-D5CB51B7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3C923-C9EA-C8C5-9F9F-E19B8C0E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C57705-37B1-DC05-A6F1-ECD78E8D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20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56847-31A1-19F0-C03C-6B3EF8E2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91ED19-5A32-CBDB-5282-A8C2920C6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6A5847-C441-B18C-F6D6-E09B693B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0A8173-F075-8D99-5619-9F771115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BF356-703A-F716-2759-152EBAAC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8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DB3226-EF28-F12F-DD25-3815787F8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758206-E624-13E4-2F3C-814DAC4E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33ECA4-03D2-89FF-2C15-D9BCB644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A8F3AD-F461-CADE-007C-6AC8EF5C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F9AE0-4264-6FE6-7B5E-05740F9A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60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57785-1022-FEAF-9318-2D62CE115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3A537-59DA-E2F5-7E88-C590BA9C0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8CE7C9-08DE-ECC1-2595-1F1171DC2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AD776-269C-44C1-AB31-1D49F390C590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B83E3B-96B0-AA52-345D-E86B91B02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4555EA-EF8B-F44B-2AAF-14E11462B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10B86F-EEF7-DB96-0FDD-FFFEF518A1E9}"/>
              </a:ext>
            </a:extLst>
          </p:cNvPr>
          <p:cNvSpPr txBox="1"/>
          <p:nvPr/>
        </p:nvSpPr>
        <p:spPr>
          <a:xfrm>
            <a:off x="564203" y="515780"/>
            <a:ext cx="110441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Клиенты, работающие с инновациями, — это потребители.</a:t>
            </a:r>
            <a:endParaRPr lang="en-US" dirty="0"/>
          </a:p>
          <a:p>
            <a:r>
              <a:rPr lang="ru-RU" dirty="0"/>
              <a:t>Исследование поведения клиентов и анализ целевой аудитории помогают настроить не только продукт, но и весь путь клиента. Что он ожидает, на каком этапе принимает решение, где сомневается.</a:t>
            </a:r>
          </a:p>
          <a:p>
            <a:endParaRPr lang="ru-RU" dirty="0"/>
          </a:p>
          <a:p>
            <a:r>
              <a:rPr lang="ru-RU" dirty="0"/>
              <a:t>• рыночное позиционирование показывает, как воспринимается новая технология</a:t>
            </a:r>
          </a:p>
          <a:p>
            <a:r>
              <a:rPr lang="ru-RU" dirty="0"/>
              <a:t>• потребительские предпочтения подсказывают, какую боль решает инновация</a:t>
            </a:r>
          </a:p>
          <a:p>
            <a:r>
              <a:rPr lang="ru-RU" dirty="0"/>
              <a:t>• прогноз продаж позволяет планировать производство под реальный интерес</a:t>
            </a:r>
          </a:p>
          <a:p>
            <a:r>
              <a:rPr lang="ru-RU" dirty="0"/>
              <a:t>• определение рыночной ниши экономит ресурсы при запуске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19BD8-C503-0766-ACD7-60405573DF54}"/>
              </a:ext>
            </a:extLst>
          </p:cNvPr>
          <p:cNvSpPr txBox="1"/>
          <p:nvPr/>
        </p:nvSpPr>
        <p:spPr>
          <a:xfrm>
            <a:off x="564203" y="378608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• какие рынки показывают нестандартный рост</a:t>
            </a:r>
          </a:p>
          <a:p>
            <a:r>
              <a:rPr lang="ru-RU" dirty="0"/>
              <a:t>• как формируется спрос и почему он смещается</a:t>
            </a:r>
          </a:p>
          <a:p>
            <a:r>
              <a:rPr lang="ru-RU" dirty="0"/>
              <a:t>• где формируется новая норма потребления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89EA0-F569-A77F-47FB-85519B14C8A6}"/>
              </a:ext>
            </a:extLst>
          </p:cNvPr>
          <p:cNvSpPr txBox="1"/>
          <p:nvPr/>
        </p:nvSpPr>
        <p:spPr>
          <a:xfrm>
            <a:off x="726332" y="3429000"/>
            <a:ext cx="38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Определите: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30FB9C-4EB6-BA9C-7125-80606DA0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48" y="3631899"/>
            <a:ext cx="2444708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57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B7DE2B-AE5A-1CB1-D67F-3B4D25ADB562}"/>
              </a:ext>
            </a:extLst>
          </p:cNvPr>
          <p:cNvSpPr txBox="1"/>
          <p:nvPr/>
        </p:nvSpPr>
        <p:spPr>
          <a:xfrm>
            <a:off x="447471" y="330740"/>
            <a:ext cx="11400817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Динамика рынка управления инновациями</a:t>
            </a:r>
          </a:p>
          <a:p>
            <a:endParaRPr lang="ru-RU" dirty="0"/>
          </a:p>
          <a:p>
            <a:r>
              <a:rPr lang="ru-RU" sz="2400" b="1" dirty="0">
                <a:solidFill>
                  <a:schemeClr val="accent6"/>
                </a:solidFill>
              </a:rPr>
              <a:t>Драйверы</a:t>
            </a:r>
          </a:p>
          <a:p>
            <a:endParaRPr lang="ru-RU" dirty="0"/>
          </a:p>
          <a:p>
            <a:r>
              <a:rPr lang="ru-RU" b="1" dirty="0"/>
              <a:t>Изменение рабочей культуры</a:t>
            </a:r>
          </a:p>
          <a:p>
            <a:r>
              <a:rPr lang="ru-RU" dirty="0"/>
              <a:t>Рынок в первую очередь движим изменениями в культуре труда в различных организациях. Истинные инновации начинаются с культуры компании. Использование инструментов управления инновациями руководством организации, вероятно, развернет и активирует творческие способности рабочей силы для непрерывного развития компании. Основная цель управления инновациями в организации — создать среду, благоприятную для инноваций. При определении потребностей и перспектив и преобразовании их в решения и клиентов акцент делается на внешних факторах, условиях и динамике.</a:t>
            </a:r>
          </a:p>
          <a:p>
            <a:endParaRPr lang="ru-RU" dirty="0"/>
          </a:p>
          <a:p>
            <a:r>
              <a:rPr lang="ru-RU" b="1" dirty="0"/>
              <a:t>Рост цифровой трансформации</a:t>
            </a:r>
          </a:p>
          <a:p>
            <a:r>
              <a:rPr lang="ru-RU" dirty="0"/>
              <a:t>Поскольку компании продолжают внедрять цифровые технологии, спрос на эффективные инструменты управления инновациями стремительно растет. Цифровые платформы обеспечивают бесперебойное сотрудничество и обмен данными в реальном времени, что значительно повышает скорость и эффективность генерации идей и принятия решений. Интегрируя передовые инструменты, такие как облачное программное обеспечение, ИИ и машинное обучение, организации могут оптимизировать инновационные процессы, оптимизировать распределение ресурсов и быстро реагировать на рыночные тенденции. Этот цифровой сдвиг позволяет компаниям эффективнее управлять своими инновационными усилиями, ускоряя циклы разработки продуктов и повышая общую конкурентоспособность. В результате растущее внедрение цифровых технологий является ключевым фактором рынка управления инновациями.</a:t>
            </a:r>
          </a:p>
        </p:txBody>
      </p:sp>
    </p:spTree>
    <p:extLst>
      <p:ext uri="{BB962C8B-B14F-4D97-AF65-F5344CB8AC3E}">
        <p14:creationId xmlns:p14="http://schemas.microsoft.com/office/powerpoint/2010/main" val="309522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9B34-5B5A-39B9-13EB-E750C6D9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F57617-C84B-8822-0E9F-CE0278C89579}"/>
              </a:ext>
            </a:extLst>
          </p:cNvPr>
          <p:cNvSpPr txBox="1"/>
          <p:nvPr/>
        </p:nvSpPr>
        <p:spPr>
          <a:xfrm>
            <a:off x="447471" y="330740"/>
            <a:ext cx="11400817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Динамика рынка управления инновациями</a:t>
            </a:r>
          </a:p>
          <a:p>
            <a:endParaRPr lang="ru-RU" dirty="0"/>
          </a:p>
          <a:p>
            <a:r>
              <a:rPr lang="ru-RU" sz="2400" b="1" dirty="0">
                <a:solidFill>
                  <a:schemeClr val="accent6"/>
                </a:solidFill>
              </a:rPr>
              <a:t>Драйверы</a:t>
            </a:r>
          </a:p>
          <a:p>
            <a:r>
              <a:rPr lang="ru-RU" b="1" dirty="0"/>
              <a:t>Возможности</a:t>
            </a:r>
          </a:p>
          <a:p>
            <a:r>
              <a:rPr lang="ru-RU" b="1" dirty="0"/>
              <a:t>Облачные решения</a:t>
            </a:r>
          </a:p>
          <a:p>
            <a:r>
              <a:rPr lang="ru-RU" dirty="0"/>
              <a:t>Поскольку компании стремятся к большей гибкости и масштабируемости в своих операциях, спрос на облачные решения по управлению инновациями продолжает расти. Эти облачные платформы предоставляют компаниям возможность сотрудничать в режиме реального времени в разных местах, разрушая географические барьеры и способствуя бесперебойной коммуникации между командами. Благодаря более низким первоначальным затратам и уменьшенной потребности в локальной инфраструктуре облачные решения предлагают экономически эффективный и доступный подход к управлению всем жизненным циклом инноваций. Оптимизируя процессы, облегчая сотрудничество и предоставляя удаленный доступ, эти платформы помогают компаниям повышать производительность и ускорять инновации, создавая значительные возможности для роста на рынке управления инновациями.</a:t>
            </a:r>
          </a:p>
          <a:p>
            <a:r>
              <a:rPr lang="ru-RU" b="1" dirty="0"/>
              <a:t>Повышенное внимание к устойчивому развитию</a:t>
            </a:r>
          </a:p>
          <a:p>
            <a:r>
              <a:rPr lang="ru-RU" dirty="0"/>
              <a:t>Поскольку устойчивое развитие все больше становится центральным направлением для бизнеса, ожидается, что платформы управления инновациями, которые поддерживают разработку экологически чистых продуктов и решений, будут испытывать значительный рост. Эти платформы предоставляют организациям инструменты для управления эко-инновациями, позволяя им интегрировать устойчивые практики в свои стратегии разработки продуктов и бизнеса. Позволяя компаниям отслеживать и сокращать свое воздействие на окружающую среду, эти решения поддерживают усилия по достижению целей устойчивого развития и нормативных требований. </a:t>
            </a:r>
          </a:p>
        </p:txBody>
      </p:sp>
    </p:spTree>
    <p:extLst>
      <p:ext uri="{BB962C8B-B14F-4D97-AF65-F5344CB8AC3E}">
        <p14:creationId xmlns:p14="http://schemas.microsoft.com/office/powerpoint/2010/main" val="380519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43984-F9B2-D4AD-0112-CA5269CF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5ACCB5-CC81-FD7B-2A76-92C191C98FC0}"/>
              </a:ext>
            </a:extLst>
          </p:cNvPr>
          <p:cNvSpPr txBox="1"/>
          <p:nvPr/>
        </p:nvSpPr>
        <p:spPr>
          <a:xfrm>
            <a:off x="447471" y="330740"/>
            <a:ext cx="11400817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Динамика рынка управления инновациями</a:t>
            </a:r>
          </a:p>
          <a:p>
            <a:endParaRPr lang="ru-RU" dirty="0"/>
          </a:p>
          <a:p>
            <a:r>
              <a:rPr lang="ru-RU" sz="2400" b="1" dirty="0">
                <a:solidFill>
                  <a:schemeClr val="accent6"/>
                </a:solidFill>
              </a:rPr>
              <a:t>Драйверы</a:t>
            </a:r>
          </a:p>
          <a:p>
            <a:r>
              <a:rPr lang="ru-RU" b="1" dirty="0"/>
              <a:t>Ограничения/Проблемы</a:t>
            </a:r>
          </a:p>
          <a:p>
            <a:r>
              <a:rPr lang="ru-RU" b="1" dirty="0"/>
              <a:t>Проблемы безопасности и конфиденциальности данных</a:t>
            </a:r>
          </a:p>
          <a:p>
            <a:r>
              <a:rPr lang="ru-RU" dirty="0"/>
              <a:t>Поскольку платформы управления инновациями часто обрабатывают конфиденциальные бизнес-данные, у организаций могут возникнуть опасения по поводу безопасности и конфиденциальности этой информации, особенно при внедрении облачных решений. Риск утечки данных, несанкционированного доступа и соблюдения правил защиты данных являются существенными проблемами для предприятий. Эти проблемы могут привести к колебаниям при внедрении таких платформ, особенно в отраслях, которые обрабатывают строго конфиденциальные или регулируемые данные. Без надежных функций безопасности и четких протоколов конфиденциальности данных организации могут не захотеть полностью принять облачные инструменты управления инновациями, что является ключевым вызовом для роста рынка.</a:t>
            </a:r>
          </a:p>
          <a:p>
            <a:r>
              <a:rPr lang="ru-RU" b="1" dirty="0"/>
              <a:t>Высокие затраты на реализацию</a:t>
            </a:r>
          </a:p>
          <a:p>
            <a:r>
              <a:rPr lang="ru-RU" dirty="0"/>
              <a:t>Стоимость внедрения решений по управлению инновациями может стать существенным барьером, особенно для малых и средних предприятий (МСП). Эти расходы включают в себя покупку программного обеспечения и лицензионные сборы, а также дополнительные расходы на обучение персонала и интеграцию нового решения с существующими системами. Для многих МСП финансовые инвестиции, необходимые для внедрения этих инструментов, могут показаться непомерными, особенно когда бюджеты ограничены или когда окупаемость инвестиций не сразу очевидна. В результате это финансовое бремя может ограничить широкое внедрение платформ управления инновациями, выступая в качестве ключевого сдерживающего фактора для роста рынка.</a:t>
            </a:r>
          </a:p>
        </p:txBody>
      </p:sp>
    </p:spTree>
    <p:extLst>
      <p:ext uri="{BB962C8B-B14F-4D97-AF65-F5344CB8AC3E}">
        <p14:creationId xmlns:p14="http://schemas.microsoft.com/office/powerpoint/2010/main" val="114506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AF8E92-0293-92FF-CC87-74ABFC86011C}"/>
              </a:ext>
            </a:extLst>
          </p:cNvPr>
          <p:cNvSpPr txBox="1"/>
          <p:nvPr/>
        </p:nvSpPr>
        <p:spPr>
          <a:xfrm>
            <a:off x="804153" y="674400"/>
            <a:ext cx="1073933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Проведите:</a:t>
            </a:r>
          </a:p>
          <a:p>
            <a:endParaRPr lang="ru-RU" sz="32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/>
              <a:t>Анализ спроса исходя из новых стандартов потребления,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/>
              <a:t>Анализ конкурентов по оценкам прямых конкурентов (предлагающих схожие товары) и косвенных (предлагающих альтернативные решения).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/>
              <a:t>Дайте оценку экономической эффективности </a:t>
            </a:r>
            <a:r>
              <a:rPr lang="ru-RU" sz="3200" dirty="0" err="1"/>
              <a:t>расчитав</a:t>
            </a:r>
            <a:r>
              <a:rPr lang="ru-RU" sz="3200" dirty="0"/>
              <a:t> суммарную или среднегодовую прибыль, рентабельность инвестиций и срок окупаемости ИТ-проекта/продукта.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262415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80DF86-0E67-8F05-AD71-CA51AB1CD02E}"/>
              </a:ext>
            </a:extLst>
          </p:cNvPr>
          <p:cNvSpPr txBox="1"/>
          <p:nvPr/>
        </p:nvSpPr>
        <p:spPr>
          <a:xfrm>
            <a:off x="648509" y="612551"/>
            <a:ext cx="108755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Работа в разных регионах требует учета множества факторов, которые могут существенно различаться в зависимости от географического положения и социально-экономической среды.</a:t>
            </a:r>
          </a:p>
          <a:p>
            <a:endParaRPr lang="ru-RU" sz="2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800" dirty="0">
                <a:solidFill>
                  <a:schemeClr val="accent6"/>
                </a:solidFill>
              </a:rPr>
              <a:t>Определите такие особенности для вашей компании для работы в регионах России</a:t>
            </a:r>
          </a:p>
        </p:txBody>
      </p:sp>
    </p:spTree>
    <p:extLst>
      <p:ext uri="{BB962C8B-B14F-4D97-AF65-F5344CB8AC3E}">
        <p14:creationId xmlns:p14="http://schemas.microsoft.com/office/powerpoint/2010/main" val="260207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F001B9-A96B-A394-CE4F-451DD47790A7}"/>
              </a:ext>
            </a:extLst>
          </p:cNvPr>
          <p:cNvSpPr txBox="1"/>
          <p:nvPr/>
        </p:nvSpPr>
        <p:spPr>
          <a:xfrm>
            <a:off x="687421" y="737974"/>
            <a:ext cx="107977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Анализ рынка и рыночной ниши — это два взаимосвязанных, но разных процесса. Они дополняют друг друга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12F59-FBCF-6744-85C4-4B3DEF1221AB}"/>
              </a:ext>
            </a:extLst>
          </p:cNvPr>
          <p:cNvSpPr txBox="1"/>
          <p:nvPr/>
        </p:nvSpPr>
        <p:spPr>
          <a:xfrm>
            <a:off x="706877" y="3082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</a:rPr>
              <a:t>Анализ рыночной ниши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EDDCE-5CC4-3DB9-785D-55D88901FB3E}"/>
              </a:ext>
            </a:extLst>
          </p:cNvPr>
          <p:cNvSpPr txBox="1"/>
          <p:nvPr/>
        </p:nvSpPr>
        <p:spPr>
          <a:xfrm>
            <a:off x="706877" y="2368076"/>
            <a:ext cx="107782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Фокусируется на конкретной, ограниченной группе потребителей с уникальными потребностями.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Изучает детальные и специфические потребности и предпочтения целевой аудитории.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Анализирует конкурентов, работающих именно в этой нише, их продукты, услуги и стратегии.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Оценивает размер, темпы роста и доходность конкретной ниши.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Разрабатывает уникальные торговые предложения, которые отличают продукт или услугу от конкурентов.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20099-52B1-F380-6BBD-AEAA7ECBE7DC}"/>
              </a:ext>
            </a:extLst>
          </p:cNvPr>
          <p:cNvSpPr txBox="1"/>
          <p:nvPr/>
        </p:nvSpPr>
        <p:spPr>
          <a:xfrm>
            <a:off x="1712068" y="4220715"/>
            <a:ext cx="876786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Найти и оценить рыночные возможности в узком сегменте.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Разработать специализированные продукты или услуги для удовлетворения специфических потребностей.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Оценить потенциал рентабельности и долгосрочного роста в выбранной нише.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Проанализируйте возможности в узком сегменте по разработке уникальных предложений и оценке потенциала ниши.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Проанализируйте какие имеются приемы создание маркетинговых кампаний, которые эффективно обращаются к узким сегментам рынка. Представьте свою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97D028-CE1D-B67A-F893-119CE09E0C14}"/>
              </a:ext>
            </a:extLst>
          </p:cNvPr>
          <p:cNvSpPr txBox="1"/>
          <p:nvPr/>
        </p:nvSpPr>
        <p:spPr>
          <a:xfrm>
            <a:off x="5499368" y="1520173"/>
            <a:ext cx="6494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Применяется для разработки конкретных продуктов или услуг, ориентированных на узкую целевую аудиторию.</a:t>
            </a:r>
          </a:p>
        </p:txBody>
      </p:sp>
    </p:spTree>
    <p:extLst>
      <p:ext uri="{BB962C8B-B14F-4D97-AF65-F5344CB8AC3E}">
        <p14:creationId xmlns:p14="http://schemas.microsoft.com/office/powerpoint/2010/main" val="3480168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C0A3EE-49C6-7AC3-6599-38FC123258ED}"/>
              </a:ext>
            </a:extLst>
          </p:cNvPr>
          <p:cNvSpPr txBox="1"/>
          <p:nvPr/>
        </p:nvSpPr>
        <p:spPr>
          <a:xfrm>
            <a:off x="544749" y="252919"/>
            <a:ext cx="11381362" cy="6150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Общая структура бизнес-плана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 соответствии со стандартами </a:t>
            </a:r>
            <a:r>
              <a:rPr lang="ru-RU" sz="2800" b="1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UNIDO</a:t>
            </a: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выглядит следующим образом:</a:t>
            </a:r>
          </a:p>
          <a:p>
            <a:pPr algn="l">
              <a:spcAft>
                <a:spcPts val="1500"/>
              </a:spcAft>
              <a:buNone/>
            </a:pPr>
            <a:endParaRPr lang="ru-RU" sz="1050" b="0" i="0" dirty="0">
              <a:effectLst/>
              <a:latin typeface="Roboto" panose="02000000000000000000" pitchFamily="2" charset="0"/>
            </a:endParaRP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Краткое содержание</a:t>
            </a:r>
          </a:p>
          <a:p>
            <a:pPr algn="l">
              <a:spcAft>
                <a:spcPts val="6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Идея (суть) предлагаемого проекта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Общие исходные данные и сроки реализации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Описание нового продукта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Оценка опыта деятельности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Оценка целевого рынка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Описание клиентов нового продукта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Оценка конкурентов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Оценка внутренних сильных и слабых сторон (сравнение с конкурентами)</a:t>
            </a:r>
          </a:p>
          <a:p>
            <a:pPr algn="l">
              <a:spcAft>
                <a:spcPts val="600"/>
              </a:spcAft>
              <a:buFont typeface="+mj-lt"/>
              <a:buAutoNum type="arabicPeriod" startAt="3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Маркетинговый план</a:t>
            </a:r>
          </a:p>
          <a:p>
            <a:pPr marL="447675" algn="l"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Маркетинговые цели</a:t>
            </a:r>
          </a:p>
          <a:p>
            <a:pPr marL="447675" algn="l"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Маркетинговая стратегия</a:t>
            </a:r>
          </a:p>
          <a:p>
            <a:pPr marL="447675" algn="l"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Финансовые гарантии маркетингового плана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71595-C5B9-AD23-C8A0-DFF2EC1C1A16}"/>
              </a:ext>
            </a:extLst>
          </p:cNvPr>
          <p:cNvSpPr txBox="1"/>
          <p:nvPr/>
        </p:nvSpPr>
        <p:spPr>
          <a:xfrm>
            <a:off x="6919608" y="1491574"/>
            <a:ext cx="5136206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ru-RU" sz="1400" dirty="0"/>
              <a:t>1. Напишите резюме</a:t>
            </a:r>
          </a:p>
          <a:p>
            <a:r>
              <a:rPr lang="ru-RU" sz="1400" dirty="0"/>
              <a:t>2. Опишите компанию</a:t>
            </a:r>
          </a:p>
          <a:p>
            <a:r>
              <a:rPr lang="ru-RU" sz="1400" dirty="0"/>
              <a:t>3. Сформулируйте бизнес-цели</a:t>
            </a:r>
          </a:p>
          <a:p>
            <a:r>
              <a:rPr lang="ru-RU" sz="1400" dirty="0"/>
              <a:t>4. Опишите продукты и услуги</a:t>
            </a:r>
          </a:p>
          <a:p>
            <a:r>
              <a:rPr lang="ru-RU" sz="1400" dirty="0"/>
              <a:t>5. Проведите исследование рынка</a:t>
            </a:r>
          </a:p>
          <a:p>
            <a:r>
              <a:rPr lang="ru-RU" sz="1400" dirty="0"/>
              <a:t>6. Составьте план маркетинга и продаж</a:t>
            </a:r>
          </a:p>
          <a:p>
            <a:r>
              <a:rPr lang="ru-RU" sz="1400" dirty="0"/>
              <a:t>7. Проведите финансовый анализ бизнеса</a:t>
            </a:r>
          </a:p>
          <a:p>
            <a:r>
              <a:rPr lang="ru-RU" sz="1400" dirty="0"/>
              <a:t>8. Составьте финансовые прогнозы</a:t>
            </a:r>
          </a:p>
          <a:p>
            <a:r>
              <a:rPr lang="ru-RU" sz="1400" dirty="0"/>
              <a:t>9. What-</a:t>
            </a:r>
            <a:r>
              <a:rPr lang="ru-RU" sz="1400" dirty="0" err="1"/>
              <a:t>If</a:t>
            </a:r>
            <a:r>
              <a:rPr lang="ru-RU" sz="1400" dirty="0"/>
              <a:t> план («Что, если?»)</a:t>
            </a:r>
          </a:p>
          <a:p>
            <a:r>
              <a:rPr lang="ru-RU" sz="1400" dirty="0"/>
              <a:t>10. Добавьте дополнительную информацию в приложение</a:t>
            </a:r>
          </a:p>
        </p:txBody>
      </p:sp>
    </p:spTree>
    <p:extLst>
      <p:ext uri="{BB962C8B-B14F-4D97-AF65-F5344CB8AC3E}">
        <p14:creationId xmlns:p14="http://schemas.microsoft.com/office/powerpoint/2010/main" val="362083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203B6-56C6-3E6C-6FE4-C9EE1007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9962C8-38A3-AF9D-AF59-5B01567EA102}"/>
              </a:ext>
            </a:extLst>
          </p:cNvPr>
          <p:cNvSpPr txBox="1"/>
          <p:nvPr/>
        </p:nvSpPr>
        <p:spPr>
          <a:xfrm>
            <a:off x="544749" y="252919"/>
            <a:ext cx="11381362" cy="621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Общая структура бизнес-плана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 соответствии со стандартами </a:t>
            </a:r>
            <a:r>
              <a:rPr lang="ru-RU" sz="2800" b="1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UNIDO</a:t>
            </a: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выглядит следующим образом:</a:t>
            </a:r>
          </a:p>
          <a:p>
            <a:pPr algn="l">
              <a:spcAft>
                <a:spcPts val="1500"/>
              </a:spcAft>
              <a:buNone/>
            </a:pPr>
            <a:endParaRPr lang="ru-RU" sz="400" b="0" i="0" dirty="0">
              <a:effectLst/>
              <a:latin typeface="Roboto" panose="02000000000000000000" pitchFamily="2" charset="0"/>
            </a:endParaRPr>
          </a:p>
          <a:p>
            <a:pPr marL="342900" indent="-342900" algn="l">
              <a:spcAft>
                <a:spcPts val="600"/>
              </a:spcAft>
              <a:buFont typeface="+mj-lt"/>
              <a:buAutoNum type="arabicPeriod" startAt="4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План производства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Производитель нового продукта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Наличие и требуемая производственная мощность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Материальные факторы производства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Описание производственного процесса</a:t>
            </a:r>
          </a:p>
          <a:p>
            <a:pPr algn="l">
              <a:spcAft>
                <a:spcPts val="600"/>
              </a:spcAft>
              <a:buFont typeface="+mj-lt"/>
              <a:buAutoNum type="arabicPeriod" startAt="4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Организационный план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Форма регистрации компании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Организационная структура компании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Распределение обязанностей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Информация о партнерах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Описание деловой среды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Человеческие ресурсы компании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Информация о топ-менеджерах</a:t>
            </a:r>
          </a:p>
        </p:txBody>
      </p:sp>
    </p:spTree>
    <p:extLst>
      <p:ext uri="{BB962C8B-B14F-4D97-AF65-F5344CB8AC3E}">
        <p14:creationId xmlns:p14="http://schemas.microsoft.com/office/powerpoint/2010/main" val="44338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DA50-36E8-357F-0D09-4932D8FE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4AE250-CB27-7CAB-2504-1783DD9077AB}"/>
              </a:ext>
            </a:extLst>
          </p:cNvPr>
          <p:cNvSpPr txBox="1"/>
          <p:nvPr/>
        </p:nvSpPr>
        <p:spPr>
          <a:xfrm>
            <a:off x="544749" y="252919"/>
            <a:ext cx="11381362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Общая структура бизнес-плана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 соответствии со стандартами </a:t>
            </a:r>
            <a:r>
              <a:rPr lang="ru-RU" sz="2800" b="1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UNIDO</a:t>
            </a:r>
            <a:r>
              <a:rPr lang="ru-RU" sz="2800" b="0" i="0" dirty="0">
                <a:solidFill>
                  <a:schemeClr val="accent4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sz="2800" b="0" i="0" dirty="0">
                <a:effectLst/>
                <a:latin typeface="Roboto" panose="02000000000000000000" pitchFamily="2" charset="0"/>
              </a:rPr>
              <a:t>выглядит следующим образом:</a:t>
            </a:r>
          </a:p>
          <a:p>
            <a:pPr algn="l">
              <a:spcAft>
                <a:spcPts val="1500"/>
              </a:spcAft>
              <a:buNone/>
            </a:pPr>
            <a:endParaRPr lang="ru-RU" sz="2800" b="0" i="0" dirty="0">
              <a:effectLst/>
              <a:latin typeface="Roboto" panose="02000000000000000000" pitchFamily="2" charset="0"/>
            </a:endParaRPr>
          </a:p>
          <a:p>
            <a:pPr marL="342900" indent="-342900" algn="l">
              <a:spcAft>
                <a:spcPts val="600"/>
              </a:spcAft>
              <a:buFont typeface="+mj-lt"/>
              <a:buAutoNum type="arabicPeriod" startAt="6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Финансовый план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Бюджет.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План движения денежных средств.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Сводный баланс активов компании.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Срок достижения точки безубыточности.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Стратегия финансирования (источники средств и их использование).</a:t>
            </a:r>
          </a:p>
          <a:p>
            <a:pPr marL="742950" lvl="1" indent="-285750" algn="l">
              <a:lnSpc>
                <a:spcPts val="225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Оценка рисков и страхование.</a:t>
            </a:r>
          </a:p>
          <a:p>
            <a:pPr algn="l">
              <a:spcAft>
                <a:spcPts val="600"/>
              </a:spcAft>
              <a:buFont typeface="+mj-lt"/>
              <a:buAutoNum type="arabicPeriod" startAt="6"/>
            </a:pPr>
            <a:r>
              <a:rPr lang="ru-RU" b="1" i="0" dirty="0">
                <a:solidFill>
                  <a:schemeClr val="accent2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7340228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1148</Words>
  <Application>Microsoft Office PowerPoint</Application>
  <PresentationFormat>Широкоэкранный</PresentationFormat>
  <Paragraphs>107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Roboto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Timofeev</dc:creator>
  <cp:lastModifiedBy>Alexander Timofeev</cp:lastModifiedBy>
  <cp:revision>2</cp:revision>
  <dcterms:created xsi:type="dcterms:W3CDTF">2025-11-24T10:14:31Z</dcterms:created>
  <dcterms:modified xsi:type="dcterms:W3CDTF">2025-12-01T09:46:32Z</dcterms:modified>
</cp:coreProperties>
</file>