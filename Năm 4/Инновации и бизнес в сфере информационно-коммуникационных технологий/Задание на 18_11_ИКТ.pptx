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2" autoAdjust="0"/>
    <p:restoredTop sz="94660"/>
  </p:normalViewPr>
  <p:slideViewPr>
    <p:cSldViewPr snapToGrid="0">
      <p:cViewPr varScale="1">
        <p:scale>
          <a:sx n="62" d="100"/>
          <a:sy n="62" d="100"/>
        </p:scale>
        <p:origin x="756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4596859-CE82-4613-8989-826871F2924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86C2DBAD-D9F0-4861-8532-CDACD1BE766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25A86B0E-FC36-4BB3-BEE0-ECFE9BA3DE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4BBF07-B51A-4653-A687-5EF68342453B}" type="datetimeFigureOut">
              <a:rPr lang="ru-RU" smtClean="0"/>
              <a:t>14.11.2025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3B164E93-080E-4C3F-8A8D-59B2E24C52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1255684C-D32D-4E75-A65E-7D66CC06D6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6E31B4-F3EC-48BE-9D45-8C39AE1B8FB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8250152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CA6F201-5B05-4A96-9DD2-6FDEA0D745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CD7371DA-6282-4CC4-901E-7CC35D9CC0F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826B9B89-0D62-4ACD-BFAD-65B1018355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4BBF07-B51A-4653-A687-5EF68342453B}" type="datetimeFigureOut">
              <a:rPr lang="ru-RU" smtClean="0"/>
              <a:t>14.11.2025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C23A028F-D5A4-4FA2-AF0C-E8FB8AD242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B4EECF32-6574-48E9-B8D8-4E4154594F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6E31B4-F3EC-48BE-9D45-8C39AE1B8FB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594623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7FD6B8C-09D0-4D11-9269-F14A9FFC83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551BA30E-EDE9-451C-820D-A78D242DC75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12839F1D-8F4C-4DE1-8D94-7C0062A74E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4BBF07-B51A-4653-A687-5EF68342453B}" type="datetimeFigureOut">
              <a:rPr lang="ru-RU" smtClean="0"/>
              <a:t>14.11.2025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E107A9E6-0C33-4DA1-A54C-31F33D2AEF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5B921C88-3AB5-490D-AD28-7C12CA7A00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6E31B4-F3EC-48BE-9D45-8C39AE1B8FB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8731159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7FC1738-98F6-474F-A0AF-0187992E30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28325955-2840-49B0-B5B5-5397A2FB624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09775695-318F-4F1F-9589-B4F987B6AF0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6A1F54CF-B1C8-4F30-B823-9D56087A6F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4BBF07-B51A-4653-A687-5EF68342453B}" type="datetimeFigureOut">
              <a:rPr lang="ru-RU" smtClean="0"/>
              <a:t>14.11.2025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399B8B7A-DC4A-4601-82A0-198D5EDFB2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23D72B69-FB65-41BE-BA99-4131AEFDD7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6E31B4-F3EC-48BE-9D45-8C39AE1B8FB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3050293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F3E3C24-43B4-4482-B598-207D0B1EFD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11477A35-CD89-4F26-948E-C7498B54947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BFBD9859-FF80-421A-BF7D-CFBCFBDBD2B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A6594409-C7E9-4E25-877B-9F2122804C7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A5B7B2AA-9FCD-4F87-8EC5-0F5B1788004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F5CFB7C9-998C-4CF9-A1D2-682A63B9B2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4BBF07-B51A-4653-A687-5EF68342453B}" type="datetimeFigureOut">
              <a:rPr lang="ru-RU" smtClean="0"/>
              <a:t>14.11.2025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7716ADC6-01D6-4540-BD42-562AF3C7BD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2DA595C5-8EB6-4099-B473-DA15CFD141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6E31B4-F3EC-48BE-9D45-8C39AE1B8FB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2868394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8BA0B6B-CC83-464B-AF4B-7FA075DCEE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9768E5C7-1D3B-40CC-8FF1-52695609B9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4BBF07-B51A-4653-A687-5EF68342453B}" type="datetimeFigureOut">
              <a:rPr lang="ru-RU" smtClean="0"/>
              <a:t>14.11.2025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DDC4AB5B-70BA-4765-9369-9C2BC58CF8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0E45254D-0E51-4CAE-B1EB-64F714DC85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6E31B4-F3EC-48BE-9D45-8C39AE1B8FB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155434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7876DC9D-59A0-4E1C-94A8-7525283C8E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4BBF07-B51A-4653-A687-5EF68342453B}" type="datetimeFigureOut">
              <a:rPr lang="ru-RU" smtClean="0"/>
              <a:t>14.11.2025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5AA29B61-3F23-4D92-8B7C-DE0571C837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42B51415-9AA9-4818-A84E-69B7DE565C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6E31B4-F3EC-48BE-9D45-8C39AE1B8FB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0429593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42FD53D-EA19-43C2-BDC3-11DE40D49B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B19A7C75-77DD-4564-9DC9-F701E859AF2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2369ABC7-071C-4212-8A08-0215762FFDD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E0F4A845-3829-4E96-BECA-D63D42028C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4BBF07-B51A-4653-A687-5EF68342453B}" type="datetimeFigureOut">
              <a:rPr lang="ru-RU" smtClean="0"/>
              <a:t>14.11.2025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A7FC0AA7-CF13-4A66-ABD7-6F3A3DCC1F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B1F0BCC4-DE65-4518-857B-D3BDD9A9BA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6E31B4-F3EC-48BE-9D45-8C39AE1B8FB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0155046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5DDEEBC-3673-4C0A-AF7D-5410E9BD50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F4A180DD-F490-4886-83E9-7A9AE678B3A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9406698A-A504-4D6B-A36C-186DA6AE9E6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84C783FB-075C-4EB3-9AC8-081308763F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4BBF07-B51A-4653-A687-5EF68342453B}" type="datetimeFigureOut">
              <a:rPr lang="ru-RU" smtClean="0"/>
              <a:t>14.11.2025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762D13E4-2008-4BD5-9B34-31F56064A4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1A555650-3137-491D-A961-EDFC9BE001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6E31B4-F3EC-48BE-9D45-8C39AE1B8FB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9645822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AF0DEEA-CFE5-46DF-A511-73C0658359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896C0AE6-9738-45C7-8E2D-793AE12D1CA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83AD2B01-CBB4-4C2E-A291-4E0C80F200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4BBF07-B51A-4653-A687-5EF68342453B}" type="datetimeFigureOut">
              <a:rPr lang="ru-RU" smtClean="0"/>
              <a:t>14.11.2025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D94B80BD-E95D-46D1-844A-C3616FC41D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23A98307-42F4-4261-A4F2-C7A78B156E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6E31B4-F3EC-48BE-9D45-8C39AE1B8FB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2368466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63527E5D-E4EC-4A6D-9B82-97269E4E9E9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D773F0BC-69BC-44E4-93C0-5B3A58860E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7334275A-B0BA-40EB-9B6C-25DE52887D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4BBF07-B51A-4653-A687-5EF68342453B}" type="datetimeFigureOut">
              <a:rPr lang="ru-RU" smtClean="0"/>
              <a:t>14.11.2025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29D7E053-284B-4E29-9430-8F9B259ABA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5698CEFE-9A32-4EDE-A381-5CB8AD3FF6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6E31B4-F3EC-48BE-9D45-8C39AE1B8FB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4111060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3E99ADD-C35D-4946-9747-55080B75A6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70904050-A2B4-49D8-BDDF-0BBDB5C4E53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24C32743-C8C2-4231-B9D4-620772E8D30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E4BBF07-B51A-4653-A687-5EF68342453B}" type="datetimeFigureOut">
              <a:rPr lang="ru-RU" smtClean="0"/>
              <a:t>14.11.2025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1B539F50-450D-410D-9FAA-4471D0BFD4A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238B7402-A6A1-4DF8-A178-D66CDB9941E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C6E31B4-F3EC-48BE-9D45-8C39AE1B8FB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89362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AA119B80-CA84-47D0-8B3F-0CEF8159CF2B}"/>
              </a:ext>
            </a:extLst>
          </p:cNvPr>
          <p:cNvSpPr/>
          <p:nvPr/>
        </p:nvSpPr>
        <p:spPr>
          <a:xfrm>
            <a:off x="697424" y="820235"/>
            <a:ext cx="10895308" cy="45243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/>
              <a:t>Уважаемые студенты, Вам предлагается выполнить следующее задание:</a:t>
            </a:r>
          </a:p>
          <a:p>
            <a:endParaRPr lang="ru-RU" dirty="0"/>
          </a:p>
          <a:p>
            <a:pPr marL="342900" indent="-342900">
              <a:buAutoNum type="arabicPeriod"/>
            </a:pPr>
            <a:r>
              <a:rPr lang="ru-RU" dirty="0"/>
              <a:t>Выбрать любой ИТ-продукт или инновацию на рынке ИКТ и по нему оценить динамику цен. Постройте в </a:t>
            </a:r>
            <a:r>
              <a:rPr lang="en-US" dirty="0"/>
              <a:t>Excel</a:t>
            </a:r>
            <a:r>
              <a:rPr lang="ru-RU" dirty="0"/>
              <a:t> тренд.</a:t>
            </a:r>
          </a:p>
          <a:p>
            <a:pPr marL="342900" indent="-342900">
              <a:buAutoNum type="arabicPeriod"/>
            </a:pPr>
            <a:r>
              <a:rPr lang="ru-RU" dirty="0"/>
              <a:t>Определите эластичность спроса по цене</a:t>
            </a:r>
          </a:p>
          <a:p>
            <a:pPr marL="342900" indent="-342900">
              <a:buAutoNum type="arabicPeriod"/>
            </a:pPr>
            <a:r>
              <a:rPr lang="ru-RU" dirty="0"/>
              <a:t>Сделайте вывод о жизненном цикле условного товара, для чего:</a:t>
            </a:r>
          </a:p>
          <a:p>
            <a:pPr marL="620713">
              <a:tabLst>
                <a:tab pos="357188" algn="l"/>
              </a:tabLst>
            </a:pPr>
            <a:r>
              <a:rPr lang="ru-RU" dirty="0"/>
              <a:t>а) построить график динамики объема продаж за представленный период</a:t>
            </a:r>
          </a:p>
          <a:p>
            <a:pPr marL="620713">
              <a:tabLst>
                <a:tab pos="357188" algn="l"/>
              </a:tabLst>
            </a:pPr>
            <a:r>
              <a:rPr lang="ru-RU" dirty="0"/>
              <a:t>б) построить тренд динамики объема продаж</a:t>
            </a:r>
          </a:p>
          <a:p>
            <a:pPr marL="620713">
              <a:tabLst>
                <a:tab pos="357188" algn="l"/>
              </a:tabLst>
            </a:pPr>
            <a:r>
              <a:rPr lang="ru-RU" dirty="0"/>
              <a:t>в) построить график динамики базисной ценовой эластичности с указанием уравнения тренда</a:t>
            </a:r>
          </a:p>
          <a:p>
            <a:pPr>
              <a:tabLst>
                <a:tab pos="357188" algn="l"/>
              </a:tabLst>
            </a:pPr>
            <a:r>
              <a:rPr lang="ru-RU" dirty="0"/>
              <a:t>5. Используя </a:t>
            </a:r>
            <a:r>
              <a:rPr lang="ru-RU" dirty="0" err="1"/>
              <a:t>Excel</a:t>
            </a:r>
            <a:r>
              <a:rPr lang="ru-RU" dirty="0"/>
              <a:t> определите:</a:t>
            </a:r>
          </a:p>
          <a:p>
            <a:pPr marL="620713">
              <a:tabLst>
                <a:tab pos="357188" algn="l"/>
              </a:tabLst>
            </a:pPr>
            <a:r>
              <a:rPr lang="ru-RU" dirty="0"/>
              <a:t>а) среднее значение: моду, медиану, среднее арифметическое;</a:t>
            </a:r>
          </a:p>
          <a:p>
            <a:pPr marL="620713">
              <a:tabLst>
                <a:tab pos="357188" algn="l"/>
              </a:tabLst>
            </a:pPr>
            <a:r>
              <a:rPr lang="ru-RU" dirty="0"/>
              <a:t>б) среднеквадратическое отклонение;</a:t>
            </a:r>
          </a:p>
          <a:p>
            <a:pPr marL="620713">
              <a:tabLst>
                <a:tab pos="357188" algn="l"/>
              </a:tabLst>
            </a:pPr>
            <a:r>
              <a:rPr lang="ru-RU" dirty="0"/>
              <a:t>Используйте гистограммы и другие расчеты</a:t>
            </a:r>
          </a:p>
          <a:p>
            <a:pPr>
              <a:tabLst>
                <a:tab pos="357188" algn="l"/>
              </a:tabLst>
            </a:pPr>
            <a:r>
              <a:rPr lang="ru-RU" dirty="0"/>
              <a:t>6. Определение рыночные доли и ценовые сегменты.</a:t>
            </a:r>
          </a:p>
          <a:p>
            <a:pPr>
              <a:tabLst>
                <a:tab pos="357188" algn="l"/>
              </a:tabLst>
            </a:pPr>
            <a:r>
              <a:rPr lang="ru-RU" dirty="0"/>
              <a:t>7. Определение позиций предприятия на рынке.</a:t>
            </a:r>
          </a:p>
          <a:p>
            <a:pPr>
              <a:tabLst>
                <a:tab pos="357188" algn="l"/>
              </a:tabLst>
            </a:pPr>
            <a:r>
              <a:rPr lang="ru-RU" dirty="0"/>
              <a:t>8. Постройте конкурентный анализ рынка по ценовым предпочтениям</a:t>
            </a:r>
          </a:p>
        </p:txBody>
      </p:sp>
      <p:sp>
        <p:nvSpPr>
          <p:cNvPr id="2" name="Цилиндр 1">
            <a:extLst>
              <a:ext uri="{FF2B5EF4-FFF2-40B4-BE49-F238E27FC236}">
                <a16:creationId xmlns:a16="http://schemas.microsoft.com/office/drawing/2014/main" id="{59FFBFD3-A2A6-43C3-A720-EF1B3370B80C}"/>
              </a:ext>
            </a:extLst>
          </p:cNvPr>
          <p:cNvSpPr/>
          <p:nvPr/>
        </p:nvSpPr>
        <p:spPr>
          <a:xfrm>
            <a:off x="9763932" y="4060556"/>
            <a:ext cx="1487837" cy="728420"/>
          </a:xfrm>
          <a:prstGeom prst="can">
            <a:avLst>
              <a:gd name="adj" fmla="val 50000"/>
            </a:avLst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" name="Часть круга 2">
            <a:extLst>
              <a:ext uri="{FF2B5EF4-FFF2-40B4-BE49-F238E27FC236}">
                <a16:creationId xmlns:a16="http://schemas.microsoft.com/office/drawing/2014/main" id="{66400B85-1DDC-4AA8-8593-C003C7EEC84A}"/>
              </a:ext>
            </a:extLst>
          </p:cNvPr>
          <p:cNvSpPr/>
          <p:nvPr/>
        </p:nvSpPr>
        <p:spPr>
          <a:xfrm>
            <a:off x="8710047" y="4602997"/>
            <a:ext cx="1053885" cy="1018552"/>
          </a:xfrm>
          <a:prstGeom prst="pie">
            <a:avLst>
              <a:gd name="adj1" fmla="val 0"/>
              <a:gd name="adj2" fmla="val 4067088"/>
            </a:avLst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chemeClr val="tx1"/>
              </a:solidFill>
            </a:endParaRPr>
          </a:p>
        </p:txBody>
      </p:sp>
      <p:cxnSp>
        <p:nvCxnSpPr>
          <p:cNvPr id="6" name="Прямая со стрелкой 5">
            <a:extLst>
              <a:ext uri="{FF2B5EF4-FFF2-40B4-BE49-F238E27FC236}">
                <a16:creationId xmlns:a16="http://schemas.microsoft.com/office/drawing/2014/main" id="{0A144498-5E79-4390-BC7E-1FEF0685B2A2}"/>
              </a:ext>
            </a:extLst>
          </p:cNvPr>
          <p:cNvCxnSpPr/>
          <p:nvPr/>
        </p:nvCxnSpPr>
        <p:spPr>
          <a:xfrm>
            <a:off x="10197884" y="5191932"/>
            <a:ext cx="0" cy="114687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Прямая со стрелкой 7">
            <a:extLst>
              <a:ext uri="{FF2B5EF4-FFF2-40B4-BE49-F238E27FC236}">
                <a16:creationId xmlns:a16="http://schemas.microsoft.com/office/drawing/2014/main" id="{6C51331B-1019-42F2-B475-26F935223AA7}"/>
              </a:ext>
            </a:extLst>
          </p:cNvPr>
          <p:cNvCxnSpPr/>
          <p:nvPr/>
        </p:nvCxnSpPr>
        <p:spPr>
          <a:xfrm>
            <a:off x="10197884" y="6338807"/>
            <a:ext cx="1549831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9FCDD8C8-96F7-4855-B667-BCC2A2F54D04}"/>
              </a:ext>
            </a:extLst>
          </p:cNvPr>
          <p:cNvSpPr/>
          <p:nvPr/>
        </p:nvSpPr>
        <p:spPr>
          <a:xfrm>
            <a:off x="10430359" y="5621549"/>
            <a:ext cx="201453" cy="72842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5AE9CF04-F44A-402E-BA60-306A1B1FC1EA}"/>
              </a:ext>
            </a:extLst>
          </p:cNvPr>
          <p:cNvSpPr/>
          <p:nvPr/>
        </p:nvSpPr>
        <p:spPr>
          <a:xfrm>
            <a:off x="10864286" y="5362414"/>
            <a:ext cx="201426" cy="987552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D73D40A4-F440-4C12-9618-247D6A69FA69}"/>
              </a:ext>
            </a:extLst>
          </p:cNvPr>
          <p:cNvSpPr/>
          <p:nvPr/>
        </p:nvSpPr>
        <p:spPr>
          <a:xfrm>
            <a:off x="11298186" y="5083444"/>
            <a:ext cx="294538" cy="1244200"/>
          </a:xfrm>
          <a:prstGeom prst="rect">
            <a:avLst/>
          </a:prstGeom>
          <a:solidFill>
            <a:schemeClr val="accent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2" name="Часть круга 11">
            <a:extLst>
              <a:ext uri="{FF2B5EF4-FFF2-40B4-BE49-F238E27FC236}">
                <a16:creationId xmlns:a16="http://schemas.microsoft.com/office/drawing/2014/main" id="{2451A57A-7FBB-4E13-A9EF-8A801429C3D8}"/>
              </a:ext>
            </a:extLst>
          </p:cNvPr>
          <p:cNvSpPr/>
          <p:nvPr/>
        </p:nvSpPr>
        <p:spPr>
          <a:xfrm>
            <a:off x="8686839" y="4602997"/>
            <a:ext cx="1053885" cy="1018552"/>
          </a:xfrm>
          <a:prstGeom prst="pie">
            <a:avLst>
              <a:gd name="adj1" fmla="val 3955510"/>
              <a:gd name="adj2" fmla="val 17667946"/>
            </a:avLst>
          </a:prstGeom>
          <a:solidFill>
            <a:schemeClr val="accent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chemeClr val="tx1"/>
              </a:solidFill>
            </a:endParaRPr>
          </a:p>
        </p:txBody>
      </p:sp>
      <p:cxnSp>
        <p:nvCxnSpPr>
          <p:cNvPr id="14" name="Прямая соединительная линия 13">
            <a:extLst>
              <a:ext uri="{FF2B5EF4-FFF2-40B4-BE49-F238E27FC236}">
                <a16:creationId xmlns:a16="http://schemas.microsoft.com/office/drawing/2014/main" id="{83472F86-F6C1-4A4E-8D16-6BD315B9B4AC}"/>
              </a:ext>
            </a:extLst>
          </p:cNvPr>
          <p:cNvCxnSpPr>
            <a:cxnSpLocks/>
          </p:cNvCxnSpPr>
          <p:nvPr/>
        </p:nvCxnSpPr>
        <p:spPr>
          <a:xfrm flipH="1">
            <a:off x="10248684" y="4215539"/>
            <a:ext cx="282402" cy="19577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Прямая соединительная линия 15">
            <a:extLst>
              <a:ext uri="{FF2B5EF4-FFF2-40B4-BE49-F238E27FC236}">
                <a16:creationId xmlns:a16="http://schemas.microsoft.com/office/drawing/2014/main" id="{8F81B626-5BF8-4FED-8F42-C4104382F188}"/>
              </a:ext>
            </a:extLst>
          </p:cNvPr>
          <p:cNvCxnSpPr/>
          <p:nvPr/>
        </p:nvCxnSpPr>
        <p:spPr>
          <a:xfrm>
            <a:off x="10248684" y="4424766"/>
            <a:ext cx="0" cy="36421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Прямая соединительная линия 17">
            <a:extLst>
              <a:ext uri="{FF2B5EF4-FFF2-40B4-BE49-F238E27FC236}">
                <a16:creationId xmlns:a16="http://schemas.microsoft.com/office/drawing/2014/main" id="{0DB770FB-D7EE-4FB6-9B0D-4DAD2B21F05B}"/>
              </a:ext>
            </a:extLst>
          </p:cNvPr>
          <p:cNvCxnSpPr>
            <a:cxnSpLocks/>
          </p:cNvCxnSpPr>
          <p:nvPr/>
        </p:nvCxnSpPr>
        <p:spPr>
          <a:xfrm>
            <a:off x="10531085" y="4215539"/>
            <a:ext cx="271441" cy="18461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Прямая соединительная линия 19">
            <a:extLst>
              <a:ext uri="{FF2B5EF4-FFF2-40B4-BE49-F238E27FC236}">
                <a16:creationId xmlns:a16="http://schemas.microsoft.com/office/drawing/2014/main" id="{58884174-7BA5-42AD-A1BB-7615941391A2}"/>
              </a:ext>
            </a:extLst>
          </p:cNvPr>
          <p:cNvCxnSpPr/>
          <p:nvPr/>
        </p:nvCxnSpPr>
        <p:spPr>
          <a:xfrm>
            <a:off x="10802526" y="4411313"/>
            <a:ext cx="0" cy="37537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38883417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128</Words>
  <Application>Microsoft Office PowerPoint</Application>
  <PresentationFormat>Широкоэкранный</PresentationFormat>
  <Paragraphs>15</Paragraphs>
  <Slides>1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Тема Office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user</dc:creator>
  <cp:lastModifiedBy>user</cp:lastModifiedBy>
  <cp:revision>5</cp:revision>
  <dcterms:created xsi:type="dcterms:W3CDTF">2025-11-14T05:32:52Z</dcterms:created>
  <dcterms:modified xsi:type="dcterms:W3CDTF">2025-11-14T05:42:25Z</dcterms:modified>
</cp:coreProperties>
</file>