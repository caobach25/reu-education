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0" r:id="rId5"/>
    <p:sldId id="262" r:id="rId6"/>
    <p:sldId id="257" r:id="rId7"/>
    <p:sldId id="258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E3C51-620A-462F-9440-355F1F6DA83B}" v="12" dt="2025-11-24T10:58:41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Timofeev" userId="c563a5ce42dadbff" providerId="LiveId" clId="{5E66DC09-A050-4B76-B4C7-CAE75352BD7A}"/>
    <pc:docChg chg="undo custSel addSld modSld">
      <pc:chgData name="Alexander Timofeev" userId="c563a5ce42dadbff" providerId="LiveId" clId="{5E66DC09-A050-4B76-B4C7-CAE75352BD7A}" dt="2025-11-24T10:58:58.629" v="685" actId="1076"/>
      <pc:docMkLst>
        <pc:docMk/>
      </pc:docMkLst>
      <pc:sldChg chg="addSp delSp modSp new mod">
        <pc:chgData name="Alexander Timofeev" userId="c563a5ce42dadbff" providerId="LiveId" clId="{5E66DC09-A050-4B76-B4C7-CAE75352BD7A}" dt="2025-11-24T10:32:22.213" v="505" actId="13822"/>
        <pc:sldMkLst>
          <pc:docMk/>
          <pc:sldMk cId="2558017178" sldId="256"/>
        </pc:sldMkLst>
        <pc:spChg chg="del">
          <ac:chgData name="Alexander Timofeev" userId="c563a5ce42dadbff" providerId="LiveId" clId="{5E66DC09-A050-4B76-B4C7-CAE75352BD7A}" dt="2025-11-24T10:14:37.869" v="1" actId="478"/>
          <ac:spMkLst>
            <pc:docMk/>
            <pc:sldMk cId="2558017178" sldId="256"/>
            <ac:spMk id="2" creationId="{949BF606-C3B4-D474-C1FD-A4BE012AE44F}"/>
          </ac:spMkLst>
        </pc:spChg>
        <pc:spChg chg="add mod">
          <ac:chgData name="Alexander Timofeev" userId="c563a5ce42dadbff" providerId="LiveId" clId="{5E66DC09-A050-4B76-B4C7-CAE75352BD7A}" dt="2025-11-24T10:27:55.001" v="385" actId="14100"/>
          <ac:spMkLst>
            <pc:docMk/>
            <pc:sldMk cId="2558017178" sldId="256"/>
            <ac:spMk id="2" creationId="{DA4A4C11-D27B-CFD1-7645-8080604403DD}"/>
          </ac:spMkLst>
        </pc:spChg>
        <pc:spChg chg="del">
          <ac:chgData name="Alexander Timofeev" userId="c563a5ce42dadbff" providerId="LiveId" clId="{5E66DC09-A050-4B76-B4C7-CAE75352BD7A}" dt="2025-11-24T10:14:37.869" v="1" actId="478"/>
          <ac:spMkLst>
            <pc:docMk/>
            <pc:sldMk cId="2558017178" sldId="256"/>
            <ac:spMk id="3" creationId="{408C3919-95B5-1580-763A-43BE896A6D5D}"/>
          </ac:spMkLst>
        </pc:spChg>
        <pc:spChg chg="add mod">
          <ac:chgData name="Alexander Timofeev" userId="c563a5ce42dadbff" providerId="LiveId" clId="{5E66DC09-A050-4B76-B4C7-CAE75352BD7A}" dt="2025-11-24T10:16:23.788" v="169" actId="403"/>
          <ac:spMkLst>
            <pc:docMk/>
            <pc:sldMk cId="2558017178" sldId="256"/>
            <ac:spMk id="4" creationId="{2CA1D024-8753-E159-B8F0-ED76F7CC19DC}"/>
          </ac:spMkLst>
        </pc:spChg>
        <pc:spChg chg="add mod">
          <ac:chgData name="Alexander Timofeev" userId="c563a5ce42dadbff" providerId="LiveId" clId="{5E66DC09-A050-4B76-B4C7-CAE75352BD7A}" dt="2025-11-24T10:17:46.761" v="326" actId="1076"/>
          <ac:spMkLst>
            <pc:docMk/>
            <pc:sldMk cId="2558017178" sldId="256"/>
            <ac:spMk id="5" creationId="{2EB4C10D-3527-0695-FA98-547B80A54528}"/>
          </ac:spMkLst>
        </pc:spChg>
        <pc:spChg chg="add mod">
          <ac:chgData name="Alexander Timofeev" userId="c563a5ce42dadbff" providerId="LiveId" clId="{5E66DC09-A050-4B76-B4C7-CAE75352BD7A}" dt="2025-11-24T10:28:05.710" v="388" actId="6549"/>
          <ac:spMkLst>
            <pc:docMk/>
            <pc:sldMk cId="2558017178" sldId="256"/>
            <ac:spMk id="6" creationId="{13750BFF-6EBD-98F0-BD02-F9EF21919E14}"/>
          </ac:spMkLst>
        </pc:spChg>
        <pc:spChg chg="add mod">
          <ac:chgData name="Alexander Timofeev" userId="c563a5ce42dadbff" providerId="LiveId" clId="{5E66DC09-A050-4B76-B4C7-CAE75352BD7A}" dt="2025-11-24T10:30:31.315" v="493" actId="1076"/>
          <ac:spMkLst>
            <pc:docMk/>
            <pc:sldMk cId="2558017178" sldId="256"/>
            <ac:spMk id="7" creationId="{94125AC4-7ED9-222D-5668-338CD39ED24A}"/>
          </ac:spMkLst>
        </pc:spChg>
        <pc:spChg chg="add mod">
          <ac:chgData name="Alexander Timofeev" userId="c563a5ce42dadbff" providerId="LiveId" clId="{5E66DC09-A050-4B76-B4C7-CAE75352BD7A}" dt="2025-11-24T10:30:28.327" v="492" actId="14100"/>
          <ac:spMkLst>
            <pc:docMk/>
            <pc:sldMk cId="2558017178" sldId="256"/>
            <ac:spMk id="9" creationId="{306E3266-AC94-D8C8-9A49-D79916E1D914}"/>
          </ac:spMkLst>
        </pc:spChg>
        <pc:spChg chg="add mod">
          <ac:chgData name="Alexander Timofeev" userId="c563a5ce42dadbff" providerId="LiveId" clId="{5E66DC09-A050-4B76-B4C7-CAE75352BD7A}" dt="2025-11-24T10:31:11.705" v="495" actId="1076"/>
          <ac:spMkLst>
            <pc:docMk/>
            <pc:sldMk cId="2558017178" sldId="256"/>
            <ac:spMk id="11" creationId="{E7CE401B-65D2-3268-3B07-988C0DE0598D}"/>
          </ac:spMkLst>
        </pc:spChg>
        <pc:spChg chg="add mod">
          <ac:chgData name="Alexander Timofeev" userId="c563a5ce42dadbff" providerId="LiveId" clId="{5E66DC09-A050-4B76-B4C7-CAE75352BD7A}" dt="2025-11-24T10:31:23.250" v="497" actId="1076"/>
          <ac:spMkLst>
            <pc:docMk/>
            <pc:sldMk cId="2558017178" sldId="256"/>
            <ac:spMk id="13" creationId="{253A9DB3-9815-7426-6A87-8DFF8A6C7549}"/>
          </ac:spMkLst>
        </pc:spChg>
        <pc:spChg chg="add mod">
          <ac:chgData name="Alexander Timofeev" userId="c563a5ce42dadbff" providerId="LiveId" clId="{5E66DC09-A050-4B76-B4C7-CAE75352BD7A}" dt="2025-11-24T10:32:22.213" v="505" actId="13822"/>
          <ac:spMkLst>
            <pc:docMk/>
            <pc:sldMk cId="2558017178" sldId="256"/>
            <ac:spMk id="15" creationId="{2E6D4610-A6ED-D74B-CFAB-3EDB1BB78B37}"/>
          </ac:spMkLst>
        </pc:spChg>
      </pc:sldChg>
      <pc:sldChg chg="addSp delSp modSp new mod">
        <pc:chgData name="Alexander Timofeev" userId="c563a5ce42dadbff" providerId="LiveId" clId="{5E66DC09-A050-4B76-B4C7-CAE75352BD7A}" dt="2025-11-24T10:54:11.216" v="548" actId="1076"/>
        <pc:sldMkLst>
          <pc:docMk/>
          <pc:sldMk cId="2075244486" sldId="257"/>
        </pc:sldMkLst>
        <pc:spChg chg="add del mod">
          <ac:chgData name="Alexander Timofeev" userId="c563a5ce42dadbff" providerId="LiveId" clId="{5E66DC09-A050-4B76-B4C7-CAE75352BD7A}" dt="2025-11-24T10:52:17.319" v="531" actId="1076"/>
          <ac:spMkLst>
            <pc:docMk/>
            <pc:sldMk cId="2075244486" sldId="257"/>
            <ac:spMk id="2" creationId="{2A2561A9-DF04-79C9-2CE2-ACF2AA50CB7E}"/>
          </ac:spMkLst>
        </pc:spChg>
        <pc:spChg chg="del">
          <ac:chgData name="Alexander Timofeev" userId="c563a5ce42dadbff" providerId="LiveId" clId="{5E66DC09-A050-4B76-B4C7-CAE75352BD7A}" dt="2025-11-24T10:48:11.500" v="507" actId="478"/>
          <ac:spMkLst>
            <pc:docMk/>
            <pc:sldMk cId="2075244486" sldId="257"/>
            <ac:spMk id="3" creationId="{6BFEE37A-69B3-1F7F-6996-FE00E047798D}"/>
          </ac:spMkLst>
        </pc:spChg>
        <pc:spChg chg="add del mod">
          <ac:chgData name="Alexander Timofeev" userId="c563a5ce42dadbff" providerId="LiveId" clId="{5E66DC09-A050-4B76-B4C7-CAE75352BD7A}" dt="2025-11-24T10:52:08.028" v="528" actId="478"/>
          <ac:spMkLst>
            <pc:docMk/>
            <pc:sldMk cId="2075244486" sldId="257"/>
            <ac:spMk id="5" creationId="{562512A4-159C-6B6C-E999-3D02679E2374}"/>
          </ac:spMkLst>
        </pc:spChg>
        <pc:spChg chg="add mod">
          <ac:chgData name="Alexander Timofeev" userId="c563a5ce42dadbff" providerId="LiveId" clId="{5E66DC09-A050-4B76-B4C7-CAE75352BD7A}" dt="2025-11-24T10:53:18.290" v="539" actId="404"/>
          <ac:spMkLst>
            <pc:docMk/>
            <pc:sldMk cId="2075244486" sldId="257"/>
            <ac:spMk id="9" creationId="{E8A29894-8707-75B1-9115-970907A92FE0}"/>
          </ac:spMkLst>
        </pc:spChg>
        <pc:picChg chg="add mod">
          <ac:chgData name="Alexander Timofeev" userId="c563a5ce42dadbff" providerId="LiveId" clId="{5E66DC09-A050-4B76-B4C7-CAE75352BD7A}" dt="2025-11-24T10:52:22.147" v="533" actId="1076"/>
          <ac:picMkLst>
            <pc:docMk/>
            <pc:sldMk cId="2075244486" sldId="257"/>
            <ac:picMk id="6" creationId="{C9635AE9-45EC-9BFF-E4E5-B09DDF3751B9}"/>
          </ac:picMkLst>
        </pc:picChg>
        <pc:picChg chg="add">
          <ac:chgData name="Alexander Timofeev" userId="c563a5ce42dadbff" providerId="LiveId" clId="{5E66DC09-A050-4B76-B4C7-CAE75352BD7A}" dt="2025-11-24T10:53:05.807" v="534"/>
          <ac:picMkLst>
            <pc:docMk/>
            <pc:sldMk cId="2075244486" sldId="257"/>
            <ac:picMk id="7" creationId="{35223ABA-0C4B-987C-A02C-F3C9451EFE2A}"/>
          </ac:picMkLst>
        </pc:picChg>
        <pc:picChg chg="add del mod modCrop">
          <ac:chgData name="Alexander Timofeev" userId="c563a5ce42dadbff" providerId="LiveId" clId="{5E66DC09-A050-4B76-B4C7-CAE75352BD7A}" dt="2025-11-24T10:54:06.379" v="546" actId="21"/>
          <ac:picMkLst>
            <pc:docMk/>
            <pc:sldMk cId="2075244486" sldId="257"/>
            <ac:picMk id="11" creationId="{4CE71B36-ABB5-DB18-D248-1C7F11FEB4FA}"/>
          </ac:picMkLst>
        </pc:picChg>
        <pc:picChg chg="add mod">
          <ac:chgData name="Alexander Timofeev" userId="c563a5ce42dadbff" providerId="LiveId" clId="{5E66DC09-A050-4B76-B4C7-CAE75352BD7A}" dt="2025-11-24T10:54:11.216" v="548" actId="1076"/>
          <ac:picMkLst>
            <pc:docMk/>
            <pc:sldMk cId="2075244486" sldId="257"/>
            <ac:picMk id="12" creationId="{1E6C28F5-B8CC-8129-9BDE-8864F8966CB3}"/>
          </ac:picMkLst>
        </pc:picChg>
      </pc:sldChg>
      <pc:sldChg chg="addSp delSp modSp new mod">
        <pc:chgData name="Alexander Timofeev" userId="c563a5ce42dadbff" providerId="LiveId" clId="{5E66DC09-A050-4B76-B4C7-CAE75352BD7A}" dt="2025-11-24T10:58:58.629" v="685" actId="1076"/>
        <pc:sldMkLst>
          <pc:docMk/>
          <pc:sldMk cId="980281229" sldId="258"/>
        </pc:sldMkLst>
        <pc:spChg chg="del">
          <ac:chgData name="Alexander Timofeev" userId="c563a5ce42dadbff" providerId="LiveId" clId="{5E66DC09-A050-4B76-B4C7-CAE75352BD7A}" dt="2025-11-24T10:54:43.103" v="551" actId="478"/>
          <ac:spMkLst>
            <pc:docMk/>
            <pc:sldMk cId="980281229" sldId="258"/>
            <ac:spMk id="2" creationId="{250F6224-3E43-C3EC-753D-380F202B34BA}"/>
          </ac:spMkLst>
        </pc:spChg>
        <pc:spChg chg="del">
          <ac:chgData name="Alexander Timofeev" userId="c563a5ce42dadbff" providerId="LiveId" clId="{5E66DC09-A050-4B76-B4C7-CAE75352BD7A}" dt="2025-11-24T10:54:41.446" v="550" actId="478"/>
          <ac:spMkLst>
            <pc:docMk/>
            <pc:sldMk cId="980281229" sldId="258"/>
            <ac:spMk id="3" creationId="{EBC78888-1549-B55F-7A7A-37A9E535637C}"/>
          </ac:spMkLst>
        </pc:spChg>
        <pc:spChg chg="add mod">
          <ac:chgData name="Alexander Timofeev" userId="c563a5ce42dadbff" providerId="LiveId" clId="{5E66DC09-A050-4B76-B4C7-CAE75352BD7A}" dt="2025-11-24T10:54:51.499" v="561" actId="14100"/>
          <ac:spMkLst>
            <pc:docMk/>
            <pc:sldMk cId="980281229" sldId="258"/>
            <ac:spMk id="4" creationId="{B225DF40-3510-12C6-558C-0FE9B35CAA4C}"/>
          </ac:spMkLst>
        </pc:spChg>
        <pc:spChg chg="add mod">
          <ac:chgData name="Alexander Timofeev" userId="c563a5ce42dadbff" providerId="LiveId" clId="{5E66DC09-A050-4B76-B4C7-CAE75352BD7A}" dt="2025-11-24T10:56:01.154" v="577" actId="6549"/>
          <ac:spMkLst>
            <pc:docMk/>
            <pc:sldMk cId="980281229" sldId="258"/>
            <ac:spMk id="6" creationId="{F7C82F38-3656-43DE-8808-209C7ABA17D3}"/>
          </ac:spMkLst>
        </pc:spChg>
        <pc:spChg chg="add mod">
          <ac:chgData name="Alexander Timofeev" userId="c563a5ce42dadbff" providerId="LiveId" clId="{5E66DC09-A050-4B76-B4C7-CAE75352BD7A}" dt="2025-11-24T10:58:58.629" v="685" actId="1076"/>
          <ac:spMkLst>
            <pc:docMk/>
            <pc:sldMk cId="980281229" sldId="258"/>
            <ac:spMk id="10" creationId="{57484977-5588-18AE-44A8-A9D29FC73869}"/>
          </ac:spMkLst>
        </pc:spChg>
        <pc:picChg chg="add del mod modCrop">
          <ac:chgData name="Alexander Timofeev" userId="c563a5ce42dadbff" providerId="LiveId" clId="{5E66DC09-A050-4B76-B4C7-CAE75352BD7A}" dt="2025-11-24T10:55:31.784" v="571" actId="21"/>
          <ac:picMkLst>
            <pc:docMk/>
            <pc:sldMk cId="980281229" sldId="258"/>
            <ac:picMk id="8" creationId="{81DB2533-9538-153D-6724-DC1DB677C136}"/>
          </ac:picMkLst>
        </pc:picChg>
        <pc:picChg chg="add mod">
          <ac:chgData name="Alexander Timofeev" userId="c563a5ce42dadbff" providerId="LiveId" clId="{5E66DC09-A050-4B76-B4C7-CAE75352BD7A}" dt="2025-11-24T10:55:35.123" v="573" actId="1076"/>
          <ac:picMkLst>
            <pc:docMk/>
            <pc:sldMk cId="980281229" sldId="258"/>
            <ac:picMk id="9" creationId="{4890B89E-AC81-B501-9EFF-7E678A9D47F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C1579-432C-4FBD-EC6A-86B2CE8DC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EBCE49-B050-1972-24E9-22FF17F87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95822A-2762-FC16-4F8E-4C9C9B6B9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B2503A-EF3A-3D51-021C-E8D5726D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CFAAF3-5462-0B02-5205-BA804F0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69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07AA5-ABD8-758D-0750-18B3A11F5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C7AB0B-E64A-9C0E-D151-E245EA2E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BFD247-6838-9D7B-9422-37D2B4996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E7042B-2F0E-2FB9-4D83-9324BA99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D1DC9A-38E2-00B0-0A7C-8ADA25A7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694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3E83B-03DE-40D7-2924-E8D191682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0F4A43-5E2B-03BE-404A-71254ECBF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276CAC-BF4D-2F83-84B2-11DF04D80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106E79-A410-0E0D-96B6-AD0EC598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C6C44C-325C-CFB6-7543-1AA2472E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029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901D9-38C9-31BA-0F17-5F6F0F5B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90102F-5DBB-0C41-C76A-535910CBC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7F7F33-AEDB-CB19-1115-0369C94A1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75A2F5-17E2-E2E8-B371-A8A1A31C7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E7987E-EAB7-D768-DCBE-472FACC9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43EECB-D085-966C-1B66-3F7B1D1D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573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ADB045-021F-9B96-F0A8-732327378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27CF1C-3221-D7D1-18DA-4F61B1AC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427F62-C64C-1904-5AF1-F3A000D7F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DE3B7CB-8B51-0F30-A085-07CA32B01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9B6B04-96FE-5556-4BFB-5B15FC343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2537E4E-9D4B-E46C-3D2F-2A7931A3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E40652F-C820-FF0E-9380-CECAA0FD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48C5CA2-E164-F9F5-E376-6ACBA506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245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B9690-B38E-3BCF-B56D-A98EA2342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A188F8-DDDA-1997-D835-8A97050E4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1B59E59-E44E-7222-268D-12F3762A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50E6208-256E-68D2-1F77-6D28049D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2904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0608D24-3FDF-D2D0-008F-2DFC7A42D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7067061-213B-4093-6D07-BC3CD19F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A91132-4A06-C7FE-C0BB-6B5DC9C2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894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923480-B8F7-1E29-C038-3D7CDCD8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44EA97-7CC4-2AAA-6F09-D82DE899F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A06C62-1D22-C4F1-F694-43BA6EC9F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7160E2-3C47-A746-7202-BE77DCD0B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F86CBA-3C52-8F07-B696-E1C3E192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D92111-9375-9BED-B82A-026BACC8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322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22450-3791-A0D0-D466-3E683308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4098BE-CF3F-20E3-7289-78670EF5F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3F63D0-E84C-128D-AFDC-F1BC17657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CCC8B2-B354-D9C0-E77A-D5CB51B7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3C923-C9EA-C8C5-9F9F-E19B8C0E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C57705-37B1-DC05-A6F1-ECD78E8D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20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56847-31A1-19F0-C03C-6B3EF8E2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91ED19-5A32-CBDB-5282-A8C2920C6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6A5847-C441-B18C-F6D6-E09B693B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0A8173-F075-8D99-5619-9F771115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3BF356-703A-F716-2759-152EBAAC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58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6DB3226-EF28-F12F-DD25-3815787F8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758206-E624-13E4-2F3C-814DAC4E8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33ECA4-03D2-89FF-2C15-D9BCB644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A8F3AD-F461-CADE-007C-6AC8EF5C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6F9AE0-4264-6FE6-7B5E-05740F9A8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60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557785-1022-FEAF-9318-2D62CE115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13A537-59DA-E2F5-7E88-C590BA9C0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8CE7C9-08DE-ECC1-2595-1F1171DC2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AD776-269C-44C1-AB31-1D49F390C590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B83E3B-96B0-AA52-345D-E86B91B02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4555EA-EF8B-F44B-2AAF-14E11462B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113B3-F474-474F-990D-4F504438C6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54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stograf.ru/ru/blog/customer-loyalty-assessment-templat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A1D024-8753-E159-B8F0-ED76F7CC19DC}"/>
              </a:ext>
            </a:extLst>
          </p:cNvPr>
          <p:cNvSpPr txBox="1"/>
          <p:nvPr/>
        </p:nvSpPr>
        <p:spPr>
          <a:xfrm>
            <a:off x="745787" y="538264"/>
            <a:ext cx="10979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Уважаемые студенты Вам предлагается представить возможность лояльности компании по отношению к клиентам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4C10D-3527-0695-FA98-547B80A54528}"/>
              </a:ext>
            </a:extLst>
          </p:cNvPr>
          <p:cNvSpPr txBox="1"/>
          <p:nvPr/>
        </p:nvSpPr>
        <p:spPr>
          <a:xfrm>
            <a:off x="745787" y="1491574"/>
            <a:ext cx="9435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Например, компания заинтересована в получении выручки или постоянного дохода и готова сделать скидки или предложения клиентам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A4C11-D27B-CFD1-7645-8080604403DD}"/>
              </a:ext>
            </a:extLst>
          </p:cNvPr>
          <p:cNvSpPr txBox="1"/>
          <p:nvPr/>
        </p:nvSpPr>
        <p:spPr>
          <a:xfrm>
            <a:off x="745787" y="2354094"/>
            <a:ext cx="8054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Чтобы держать план по выручке компания идет на скидки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50BFF-6EBD-98F0-BD02-F9EF21919E14}"/>
              </a:ext>
            </a:extLst>
          </p:cNvPr>
          <p:cNvSpPr txBox="1"/>
          <p:nvPr/>
        </p:nvSpPr>
        <p:spPr>
          <a:xfrm>
            <a:off x="817124" y="2939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От 15 000 рублей — 5%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25AC4-7ED9-222D-5668-338CD39ED24A}"/>
              </a:ext>
            </a:extLst>
          </p:cNvPr>
          <p:cNvSpPr txBox="1"/>
          <p:nvPr/>
        </p:nvSpPr>
        <p:spPr>
          <a:xfrm>
            <a:off x="745787" y="3617469"/>
            <a:ext cx="5797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Повторная покупка (если покупается редко)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E3266-AC94-D8C8-9A49-D79916E1D914}"/>
              </a:ext>
            </a:extLst>
          </p:cNvPr>
          <p:cNvSpPr txBox="1"/>
          <p:nvPr/>
        </p:nvSpPr>
        <p:spPr>
          <a:xfrm>
            <a:off x="3715966" y="2939615"/>
            <a:ext cx="65499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Обычно тратил 1000-5000 рублей, а с участием в дисконтной программе начал тратить 10 000-15000 рублей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E401B-65D2-3268-3B07-988C0DE0598D}"/>
              </a:ext>
            </a:extLst>
          </p:cNvPr>
          <p:cNvSpPr txBox="1"/>
          <p:nvPr/>
        </p:nvSpPr>
        <p:spPr>
          <a:xfrm>
            <a:off x="745787" y="40183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Распродажа неликвидов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3A9DB3-9815-7426-6A87-8DFF8A6C7549}"/>
              </a:ext>
            </a:extLst>
          </p:cNvPr>
          <p:cNvSpPr txBox="1"/>
          <p:nvPr/>
        </p:nvSpPr>
        <p:spPr>
          <a:xfrm>
            <a:off x="745787" y="44191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Увеличение среднего чека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6D4610-A6ED-D74B-CFAB-3EDB1BB78B37}"/>
              </a:ext>
            </a:extLst>
          </p:cNvPr>
          <p:cNvSpPr txBox="1"/>
          <p:nvPr/>
        </p:nvSpPr>
        <p:spPr>
          <a:xfrm>
            <a:off x="6990944" y="3986801"/>
            <a:ext cx="4672636" cy="101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/>
              <a:t>Компаний с редкими продажами. </a:t>
            </a:r>
          </a:p>
          <a:p>
            <a:r>
              <a:rPr lang="ru-RU" sz="1400" dirty="0"/>
              <a:t>Например, при покупке мебели или бытовой техники, клиент не возвращается часто, и удобнее предложить ему скидку на отдельную покупку</a:t>
            </a:r>
          </a:p>
        </p:txBody>
      </p:sp>
    </p:spTree>
    <p:extLst>
      <p:ext uri="{BB962C8B-B14F-4D97-AF65-F5344CB8AC3E}">
        <p14:creationId xmlns:p14="http://schemas.microsoft.com/office/powerpoint/2010/main" val="2558017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E7885-C2FB-4BF0-83B9-EE30DA33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29217A-B4F9-4315-AAF7-458F709BC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Для формирования программы лояльности необходимо выделить четыре основных клиентских сегмента (Методика </a:t>
            </a:r>
            <a:r>
              <a:rPr lang="en-US" dirty="0"/>
              <a:t>ANA</a:t>
            </a:r>
            <a:r>
              <a:rPr lang="ru-RU" dirty="0"/>
              <a:t>):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Клиенты, которые не имеют возможности выбора и вынуждены приобретать продукт одной компании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Неудовлетворённые и отрицательно настроенные клиенты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Неопределившиеся клиенты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ru-RU" dirty="0"/>
              <a:t>Постоянные клиенты</a:t>
            </a:r>
          </a:p>
          <a:p>
            <a:pPr marL="0" indent="0">
              <a:buNone/>
            </a:pPr>
            <a:r>
              <a:rPr lang="ru-RU" dirty="0"/>
              <a:t>Для этого необходимо разработать анкету (5 вопросов)</a:t>
            </a:r>
          </a:p>
        </p:txBody>
      </p:sp>
    </p:spTree>
    <p:extLst>
      <p:ext uri="{BB962C8B-B14F-4D97-AF65-F5344CB8AC3E}">
        <p14:creationId xmlns:p14="http://schemas.microsoft.com/office/powerpoint/2010/main" val="9399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50184-8D57-4C4C-A0AA-0DED214B7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</a:t>
            </a:r>
            <a:r>
              <a:rPr lang="en-US" dirty="0"/>
              <a:t>NPS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956D27-E1D6-40A7-9169-2E3E49FB2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626864"/>
            <a:ext cx="5721096" cy="1866011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200" dirty="0"/>
              <a:t>Для того, что бы посчитать индекс NPS, необходимо из процента</a:t>
            </a:r>
            <a:r>
              <a:rPr lang="en-US" sz="1200" dirty="0"/>
              <a:t> </a:t>
            </a:r>
            <a:r>
              <a:rPr lang="ru-RU" sz="1200" dirty="0"/>
              <a:t>промоутеров вычесть процент критиков, то есть: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200" dirty="0"/>
              <a:t>NPS = </a:t>
            </a:r>
            <a:r>
              <a:rPr lang="ru-RU" sz="1200" dirty="0" err="1"/>
              <a:t>Колличество</a:t>
            </a:r>
            <a:r>
              <a:rPr lang="ru-RU" sz="1200" dirty="0"/>
              <a:t> промоутеров (%) − </a:t>
            </a:r>
            <a:r>
              <a:rPr lang="ru-RU" sz="1200" dirty="0" err="1"/>
              <a:t>Колличество</a:t>
            </a:r>
            <a:r>
              <a:rPr lang="ru-RU" sz="1200" dirty="0"/>
              <a:t> Критиков (%)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200" dirty="0"/>
              <a:t>Итак, если NPS: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200" dirty="0"/>
              <a:t>больше 50 – хороший результат, но есть к чему стремиться;</a:t>
            </a:r>
            <a:endParaRPr lang="en-US" sz="1200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200" dirty="0"/>
              <a:t>от 30 до 50 - приемлемо, но стоит повысить результат;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200" dirty="0"/>
              <a:t>менее 30 - неблагоприятная тенденция;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sz="1200" dirty="0"/>
              <a:t>меньше 0 - пора оперативно что-то менять.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200" dirty="0"/>
              <a:t>Важно проводить повторные опросы, с индивидуальным оптимальным</a:t>
            </a:r>
            <a:r>
              <a:rPr lang="en-US" sz="1200" dirty="0"/>
              <a:t> </a:t>
            </a:r>
            <a:r>
              <a:rPr lang="ru-RU" sz="1200" dirty="0"/>
              <a:t>временным диапазоном. Каждой компании имеет смысл проводить такие</a:t>
            </a:r>
            <a:r>
              <a:rPr lang="en-US" sz="1200" dirty="0"/>
              <a:t> </a:t>
            </a:r>
            <a:r>
              <a:rPr lang="ru-RU" sz="1200" dirty="0"/>
              <a:t>опросы со своей индивидуальной частотой.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2921B0-CC4D-4C42-839D-6EDAE188D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04" y="3340989"/>
            <a:ext cx="4724400" cy="257175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92D4BF3-02FE-4482-8F4F-253D62597EA5}"/>
              </a:ext>
            </a:extLst>
          </p:cNvPr>
          <p:cNvSpPr/>
          <p:nvPr/>
        </p:nvSpPr>
        <p:spPr>
          <a:xfrm>
            <a:off x="2051356" y="5992297"/>
            <a:ext cx="24382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Шкала лояльности </a:t>
            </a:r>
            <a:r>
              <a:rPr lang="en-US" dirty="0"/>
              <a:t>NPS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C2C71F-C0D8-46EA-9443-2BA69FDFC1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82" b="2452"/>
          <a:stretch/>
        </p:blipFill>
        <p:spPr>
          <a:xfrm>
            <a:off x="6172200" y="3163825"/>
            <a:ext cx="4876800" cy="1024128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69229F9-EDD4-44FC-94EE-C58646F8469B}"/>
              </a:ext>
            </a:extLst>
          </p:cNvPr>
          <p:cNvSpPr/>
          <p:nvPr/>
        </p:nvSpPr>
        <p:spPr>
          <a:xfrm>
            <a:off x="652272" y="1681448"/>
            <a:ext cx="1135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Net</a:t>
            </a:r>
            <a:r>
              <a:rPr lang="ru-RU" b="1" dirty="0"/>
              <a:t> </a:t>
            </a:r>
            <a:r>
              <a:rPr lang="ru-RU" b="1" dirty="0" err="1"/>
              <a:t>Promoter</a:t>
            </a:r>
            <a:r>
              <a:rPr lang="ru-RU" b="1" dirty="0"/>
              <a:t> </a:t>
            </a:r>
            <a:r>
              <a:rPr lang="ru-RU" b="1" dirty="0" err="1"/>
              <a:t>Score</a:t>
            </a:r>
            <a:r>
              <a:rPr lang="ru-RU" b="1" dirty="0"/>
              <a:t> (NPS), </a:t>
            </a:r>
            <a:r>
              <a:rPr lang="ru-RU" dirty="0"/>
              <a:t>или по другому индекс потребительской</a:t>
            </a:r>
            <a:r>
              <a:rPr lang="en-US" dirty="0"/>
              <a:t> </a:t>
            </a:r>
            <a:r>
              <a:rPr lang="ru-RU" dirty="0"/>
              <a:t>лояльности - величина, показывающая степень хорошего или плохого</a:t>
            </a:r>
            <a:r>
              <a:rPr lang="en-US" dirty="0"/>
              <a:t> </a:t>
            </a:r>
            <a:r>
              <a:rPr lang="ru-RU" dirty="0"/>
              <a:t>отношения потребителя к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939732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C3AF9-C592-49ED-BB59-20CF156D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9B094-6790-4140-815C-BBBD2A49B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Разработайте и оцените лояльность клиентов по методике </a:t>
            </a:r>
            <a:r>
              <a:rPr lang="en-US" dirty="0"/>
              <a:t>NPS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9BA6FF-C4BF-4456-985E-AB27E03356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804"/>
          <a:stretch/>
        </p:blipFill>
        <p:spPr>
          <a:xfrm>
            <a:off x="2404871" y="2395431"/>
            <a:ext cx="6978015" cy="151820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5AC132-ED23-45CD-94FC-CE7225F6D0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825"/>
          <a:stretch/>
        </p:blipFill>
        <p:spPr>
          <a:xfrm>
            <a:off x="2608896" y="4001294"/>
            <a:ext cx="6569964" cy="175865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DD6642-5E41-465E-B382-DD6E97631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847247"/>
            <a:ext cx="10296906" cy="74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931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F56ECF-CC79-4A9B-AC63-E25D2E58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Анкетирование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B9768F-33B5-4464-9CBA-DC25B8CE1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Воспользуйтесь помощью </a:t>
            </a:r>
            <a:r>
              <a:rPr lang="ru-RU" dirty="0" err="1"/>
              <a:t>тестографа</a:t>
            </a:r>
            <a:r>
              <a:rPr lang="ru-RU" dirty="0"/>
              <a:t> (</a:t>
            </a:r>
            <a:r>
              <a:rPr lang="en-US" dirty="0">
                <a:hlinkClick r:id="rId2"/>
              </a:rPr>
              <a:t>https://www.testograf.ru/ru/blog/customer-loyalty-assessment-template</a:t>
            </a:r>
            <a:r>
              <a:rPr lang="ru-RU" dirty="0"/>
              <a:t>) или создайте анкету самостоятельно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Сгенерируйте ответы респондентов (не менее 15)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Обработайте полученные результаты в виде таблиц в формате </a:t>
            </a:r>
            <a:r>
              <a:rPr lang="en-US" dirty="0" err="1"/>
              <a:t>Ecxel</a:t>
            </a:r>
            <a:endParaRPr lang="ru-RU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Рассчитайте показатель тесноты связи между желанием получить скидку и потенциалом роста спроса и товар (услугу) любым известным методом (можно из статистики) </a:t>
            </a:r>
            <a:r>
              <a:rPr lang="ru-RU" sz="1200" b="1" u="sng" dirty="0"/>
              <a:t>(подсказка: такой вопрос обязательно должен быть предусмотрен в анкете)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Проведите анализ возможности формирования программы лояльности</a:t>
            </a:r>
          </a:p>
        </p:txBody>
      </p:sp>
    </p:spTree>
    <p:extLst>
      <p:ext uri="{BB962C8B-B14F-4D97-AF65-F5344CB8AC3E}">
        <p14:creationId xmlns:p14="http://schemas.microsoft.com/office/powerpoint/2010/main" val="4170287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561A9-DF04-79C9-2CE2-ACF2AA50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98" y="-75861"/>
            <a:ext cx="10515600" cy="1325563"/>
          </a:xfrm>
        </p:spPr>
        <p:txBody>
          <a:bodyPr/>
          <a:lstStyle/>
          <a:p>
            <a:r>
              <a:rPr lang="ru-RU" dirty="0"/>
              <a:t>Скидка или дисконт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635AE9-45EC-9BFF-E4E5-B09DDF375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51" y="532082"/>
            <a:ext cx="5924550" cy="9429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A29894-8707-75B1-9115-970907A92FE0}"/>
              </a:ext>
            </a:extLst>
          </p:cNvPr>
          <p:cNvSpPr txBox="1"/>
          <p:nvPr/>
        </p:nvSpPr>
        <p:spPr>
          <a:xfrm>
            <a:off x="499353" y="1249702"/>
            <a:ext cx="6096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Пример 1</a:t>
            </a:r>
          </a:p>
          <a:p>
            <a:endParaRPr lang="ru-RU" sz="1200" dirty="0"/>
          </a:p>
          <a:p>
            <a:r>
              <a:rPr lang="ru-RU" sz="1200" dirty="0"/>
              <a:t>Клиент просит дополнительную скидку</a:t>
            </a:r>
          </a:p>
          <a:p>
            <a:endParaRPr lang="ru-RU" sz="1200" dirty="0"/>
          </a:p>
          <a:p>
            <a:r>
              <a:rPr lang="ru-RU" sz="1200" dirty="0"/>
              <a:t>Допустим, клиент ежемесячно закупает определенную категорию товаров на сумму 40 000 рублей с учетом предоставленной клиенту скидки 2%. То есть по прайс-листу такая партия стоит 40 816 рублей (40 000 </a:t>
            </a:r>
            <a:r>
              <a:rPr lang="ru-RU" sz="1200" dirty="0" err="1"/>
              <a:t>руб</a:t>
            </a:r>
            <a:r>
              <a:rPr lang="ru-RU" sz="1200" dirty="0"/>
              <a:t>/(1 – 2%/100%)). Средняя торговая наценка по данной товарной категории составляет 25%. Таким образом, закупочная цена рассматриваемой партии товара равна 32 653 рублей (40 816 </a:t>
            </a:r>
            <a:r>
              <a:rPr lang="ru-RU" sz="1200" dirty="0" err="1"/>
              <a:t>руб</a:t>
            </a:r>
            <a:r>
              <a:rPr lang="ru-RU" sz="1200" dirty="0"/>
              <a:t>/ (1 + 25%/100%)), а текущая маржа 7347 рублей (40 000 – 32 653).</a:t>
            </a:r>
          </a:p>
          <a:p>
            <a:endParaRPr lang="ru-RU" sz="1200" dirty="0"/>
          </a:p>
          <a:p>
            <a:r>
              <a:rPr lang="ru-RU" sz="1200" dirty="0"/>
              <a:t>Итак, клиент просит большую скидку. Например, 4% или 7%. Какие встречные условия должна предложить компания для того, чтобы сохранить уровень прибыли? Допустим, для уровня скидки в 7% и более компания установила желаемый прирост маржи в 1000 рублей по сравнению с предыдущим уровнем 7347 рублей. Рассчитаем по приведенной выше формуле необходимый объем продаж в денежном выражении для каждого уровня скидки (см. табл. 1).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E6C28F5-B8CC-8129-9BDE-8864F8966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008" y="1677320"/>
            <a:ext cx="5322269" cy="27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244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25DF40-3510-12C6-558C-0FE9B35CAA4C}"/>
              </a:ext>
            </a:extLst>
          </p:cNvPr>
          <p:cNvSpPr txBox="1"/>
          <p:nvPr/>
        </p:nvSpPr>
        <p:spPr>
          <a:xfrm>
            <a:off x="648511" y="732817"/>
            <a:ext cx="205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82F38-3656-43DE-8808-209C7ABA17D3}"/>
              </a:ext>
            </a:extLst>
          </p:cNvPr>
          <p:cNvSpPr txBox="1"/>
          <p:nvPr/>
        </p:nvSpPr>
        <p:spPr>
          <a:xfrm>
            <a:off x="648511" y="1223108"/>
            <a:ext cx="59922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1) определить начальный объем продаж, с которого начинаются скидки (допустим, 75 000 рублей);</a:t>
            </a:r>
          </a:p>
          <a:p>
            <a:r>
              <a:rPr lang="ru-RU" sz="1600" dirty="0"/>
              <a:t>2) установить приемлемую сумму маржи для каждого уровня скидки, которую компания хотела бы получить.</a:t>
            </a:r>
          </a:p>
          <a:p>
            <a:endParaRPr lang="ru-RU" sz="1600" dirty="0"/>
          </a:p>
          <a:p>
            <a:r>
              <a:rPr lang="ru-RU" sz="1600" dirty="0"/>
              <a:t>Для варианта, когда торговая наценка равна 20%, получим следующую таблицу (см. табл. 2).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890B89E-AC81-B501-9EFF-7E678A9D4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749" y="1416628"/>
            <a:ext cx="4456562" cy="24812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484977-5588-18AE-44A8-A9D29FC73869}"/>
              </a:ext>
            </a:extLst>
          </p:cNvPr>
          <p:cNvSpPr txBox="1"/>
          <p:nvPr/>
        </p:nvSpPr>
        <p:spPr>
          <a:xfrm>
            <a:off x="817123" y="5034727"/>
            <a:ext cx="65953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некоторых компаниях маржинальность очень низкая, поэтому, если маржинальность компании до 20%, максимальная скидка не может быть больше 5%. </a:t>
            </a:r>
            <a:br>
              <a:rPr lang="ru-RU" dirty="0"/>
            </a:br>
            <a:r>
              <a:rPr lang="ru-RU" dirty="0"/>
              <a:t>Если маржинальность до 50%, не более 10%.</a:t>
            </a:r>
          </a:p>
        </p:txBody>
      </p:sp>
    </p:spTree>
    <p:extLst>
      <p:ext uri="{BB962C8B-B14F-4D97-AF65-F5344CB8AC3E}">
        <p14:creationId xmlns:p14="http://schemas.microsoft.com/office/powerpoint/2010/main" val="9802812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622</Words>
  <Application>Microsoft Office PowerPoint</Application>
  <PresentationFormat>Широкоэкранный</PresentationFormat>
  <Paragraphs>48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Тема Office</vt:lpstr>
      <vt:lpstr>Презентация PowerPoint</vt:lpstr>
      <vt:lpstr>Презентация PowerPoint</vt:lpstr>
      <vt:lpstr>Метод NPS</vt:lpstr>
      <vt:lpstr>Презентация PowerPoint</vt:lpstr>
      <vt:lpstr>Анкетирование</vt:lpstr>
      <vt:lpstr>Скидка или дисконт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Alexander Timofeev</dc:creator>
  <cp:lastModifiedBy>Лебединская Ольга Гурьевна</cp:lastModifiedBy>
  <cp:revision>5</cp:revision>
  <dcterms:created xsi:type="dcterms:W3CDTF">2025-11-24T10:14:31Z</dcterms:created>
  <dcterms:modified xsi:type="dcterms:W3CDTF">2025-11-24T16:26:05Z</dcterms:modified>
</cp:coreProperties>
</file>