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1046" r:id="rId2"/>
    <p:sldId id="1090" r:id="rId3"/>
    <p:sldId id="1091" r:id="rId4"/>
    <p:sldId id="1081" r:id="rId5"/>
    <p:sldId id="1089" r:id="rId6"/>
    <p:sldId id="1080" r:id="rId7"/>
  </p:sldIdLst>
  <p:sldSz cx="9144000" cy="6858000" type="screen4x3"/>
  <p:notesSz cx="6846888" cy="9980613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15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66FF33"/>
    <a:srgbClr val="FFFFCC"/>
    <a:srgbClr val="E0FFD6"/>
    <a:srgbClr val="F2F3FF"/>
    <a:srgbClr val="E2E5FE"/>
    <a:srgbClr val="828282"/>
    <a:srgbClr val="6F6F6F"/>
    <a:srgbClr val="92929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6" autoAdjust="0"/>
    <p:restoredTop sz="78341" autoAdjust="0"/>
  </p:normalViewPr>
  <p:slideViewPr>
    <p:cSldViewPr>
      <p:cViewPr varScale="1">
        <p:scale>
          <a:sx n="83" d="100"/>
          <a:sy n="83" d="100"/>
        </p:scale>
        <p:origin x="148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notesViewPr>
    <p:cSldViewPr>
      <p:cViewPr>
        <p:scale>
          <a:sx n="75" d="100"/>
          <a:sy n="75" d="100"/>
        </p:scale>
        <p:origin x="-1452" y="-72"/>
      </p:cViewPr>
      <p:guideLst>
        <p:guide orient="horz" pos="3144"/>
        <p:guide pos="215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t" anchorCtr="0" compatLnSpc="1">
            <a:prstTxWarp prst="textNoShape">
              <a:avLst/>
            </a:prstTxWarp>
          </a:bodyPr>
          <a:lstStyle>
            <a:lvl1pPr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ИТ стратегии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9850" y="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t" anchorCtr="0" compatLnSpc="1">
            <a:prstTxWarp prst="textNoShape">
              <a:avLst/>
            </a:prstTxWarp>
          </a:bodyPr>
          <a:lstStyle>
            <a:lvl1pPr algn="r"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8771BA-6FF2-4383-A03C-1C9470EFFFEF}" type="datetime1">
              <a:rPr lang="en-US"/>
              <a:pPr>
                <a:defRPr/>
              </a:pPr>
              <a:t>11/18/2025</a:t>
            </a:fld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8055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b" anchorCtr="0" compatLnSpc="1">
            <a:prstTxWarp prst="textNoShape">
              <a:avLst/>
            </a:prstTxWarp>
          </a:bodyPr>
          <a:lstStyle>
            <a:lvl1pPr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9850" y="948055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b" anchorCtr="0" compatLnSpc="1">
            <a:prstTxWarp prst="textNoShape">
              <a:avLst/>
            </a:prstTxWarp>
          </a:bodyPr>
          <a:lstStyle>
            <a:lvl1pPr algn="r"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B512A45-BEC2-4C8A-BCDC-4AB7099839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34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54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>
            <a:lvl1pPr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ИТ стратегии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67037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>
            <a:lvl1pPr algn="r"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A7782EB-C898-4415-A822-887ABC219BD9}" type="datetime1">
              <a:rPr lang="en-US"/>
              <a:pPr>
                <a:defRPr/>
              </a:pPr>
              <a:t>11/18/2025</a:t>
            </a:fld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5013"/>
            <a:ext cx="5018088" cy="3763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45038"/>
            <a:ext cx="50419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8488"/>
            <a:ext cx="29654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b" anchorCtr="0" compatLnSpc="1">
            <a:prstTxWarp prst="textNoShape">
              <a:avLst/>
            </a:prstTxWarp>
          </a:bodyPr>
          <a:lstStyle>
            <a:lvl1pPr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88488"/>
            <a:ext cx="2967037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b" anchorCtr="0" compatLnSpc="1">
            <a:prstTxWarp prst="textNoShape">
              <a:avLst/>
            </a:prstTxWarp>
          </a:bodyPr>
          <a:lstStyle>
            <a:lvl1pPr algn="r"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07F00D-575F-4C6B-AC3C-9DDE250C6F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3702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1924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1925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54037166-9B93-4CBF-BF8B-6E6E0FCF9074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11/18/2025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1926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01F408EA-D651-4B2C-B048-90EE0A4DC439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3972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3973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8E563EC-6E36-4B10-9BE0-24A25C5F4DB2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11/18/2025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3974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0E79909-18FC-4ADC-A61B-FBE1BE409A78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4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2947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41A5275-9373-4F50-A3A4-92299C663FB8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11/18/2025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294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8E6A791-0374-40DB-9820-3E549F9C86C2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4996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4997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AA346186-79CA-41BD-B79B-824D4EBA72B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11/18/2025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4998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5B21E5E2-3AE5-4A83-9544-828A38F11AF5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6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hidden">
          <a:xfrm>
            <a:off x="0" y="5257800"/>
            <a:ext cx="9144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hidden">
          <a:xfrm>
            <a:off x="0" y="0"/>
            <a:ext cx="9144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endParaRPr lang="ru-RU" sz="2400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0" y="1600200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0" y="52578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3443288" y="1295400"/>
            <a:ext cx="35560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8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/>
            </a:pPr>
            <a:r>
              <a:rPr lang="en-US" sz="1600">
                <a:solidFill>
                  <a:schemeClr val="bg1"/>
                </a:solidFill>
                <a:cs typeface="Arial" pitchFamily="34" charset="0"/>
              </a:rPr>
              <a:t>   </a:t>
            </a:r>
            <a:endParaRPr lang="ru-RU" sz="16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267200"/>
            <a:ext cx="4343400" cy="914400"/>
          </a:xfrm>
        </p:spPr>
        <p:txBody>
          <a:bodyPr lIns="91440" tIns="18000" rIns="91440"/>
          <a:lstStyle>
            <a:lvl1pPr marL="0" indent="0">
              <a:buFont typeface="Wingdings" pitchFamily="2" charset="2"/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/>
              <a:t>Presentation subtitle</a:t>
            </a:r>
            <a:br>
              <a:rPr lang="en-US" altLang="en-US" noProof="0"/>
            </a:br>
            <a:r>
              <a:rPr lang="en-US" altLang="en-US" noProof="0"/>
              <a:t>or sectional title information</a:t>
            </a:r>
          </a:p>
          <a:p>
            <a:pPr lvl="0"/>
            <a:endParaRPr lang="en-US" noProof="0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2667000"/>
            <a:ext cx="5334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 anchor="t"/>
          <a:lstStyle>
            <a:lvl1pPr>
              <a:defRPr sz="2500" b="1"/>
            </a:lvl1pPr>
          </a:lstStyle>
          <a:p>
            <a:pPr lvl="0"/>
            <a:r>
              <a:rPr lang="ru-RU" altLang="en-US" noProof="0"/>
              <a:t>…</a:t>
            </a:r>
            <a:endParaRPr lang="en-US" noProof="0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ftr" sz="quarter" idx="10"/>
          </p:nvPr>
        </p:nvSpPr>
        <p:spPr>
          <a:xfrm>
            <a:off x="2362200" y="5867400"/>
            <a:ext cx="411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ru-RU" sz="1200"/>
              <a:t>Москва,</a:t>
            </a:r>
            <a:r>
              <a:rPr lang="en-US" sz="1200"/>
              <a:t>  2008</a:t>
            </a: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3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30060-187A-4A87-9E77-DDA0303DCB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74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4A0C8-D2EC-4C6F-8216-1B9C965C36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8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78856-0C06-4715-B545-50A1BC762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5744B-E6AC-49D9-9235-E824CFECAC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9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6CB45-17F4-4F43-823F-B86D2C45A7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7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53724-3E35-4872-A8C9-CB6C570694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5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B305B-95D3-49E7-BCEA-9E2AE0C03F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7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B7843-21FB-43F2-B1BD-BFDFF0DFC9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7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0CE7C-1F3C-4FC3-9EC3-C281CC6D81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5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943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9436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FF51E5-894C-4509-A5AC-1818F3F27A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32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919746-05DB-405A-818A-766FE0CC1B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0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hidden">
          <a:xfrm>
            <a:off x="0" y="6477000"/>
            <a:ext cx="9144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hidden"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Main Slide Title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Level One</a:t>
            </a:r>
          </a:p>
          <a:p>
            <a:pPr lvl="1"/>
            <a:r>
              <a:rPr lang="en-US"/>
              <a:t>Level Two</a:t>
            </a:r>
          </a:p>
          <a:p>
            <a:pPr lvl="2"/>
            <a:r>
              <a:rPr lang="en-US"/>
              <a:t>Level Three</a:t>
            </a:r>
          </a:p>
          <a:p>
            <a:pPr lvl="3"/>
            <a:r>
              <a:rPr lang="en-US"/>
              <a:t>Level Four</a:t>
            </a:r>
          </a:p>
          <a:p>
            <a:pPr lvl="4"/>
            <a:r>
              <a:rPr lang="en-US"/>
              <a:t>Level Five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6534150"/>
            <a:ext cx="12192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4000" tIns="68400" rIns="91440" bIns="45720" numCol="1" anchor="t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000">
                <a:solidFill>
                  <a:schemeClr val="bg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095391D-11AB-4FFA-B478-0547194A7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Line 12"/>
          <p:cNvSpPr>
            <a:spLocks noChangeShapeType="1"/>
          </p:cNvSpPr>
          <p:nvPr/>
        </p:nvSpPr>
        <p:spPr bwMode="auto">
          <a:xfrm flipV="1">
            <a:off x="1524000" y="6477000"/>
            <a:ext cx="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32" name="Line 13"/>
          <p:cNvSpPr>
            <a:spLocks noChangeShapeType="1"/>
          </p:cNvSpPr>
          <p:nvPr/>
        </p:nvSpPr>
        <p:spPr bwMode="auto">
          <a:xfrm>
            <a:off x="0" y="3810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033" name="Line 14"/>
          <p:cNvSpPr>
            <a:spLocks noChangeShapeType="1"/>
          </p:cNvSpPr>
          <p:nvPr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034" name="Line 15"/>
          <p:cNvSpPr>
            <a:spLocks noChangeShapeType="1"/>
          </p:cNvSpPr>
          <p:nvPr/>
        </p:nvSpPr>
        <p:spPr bwMode="auto">
          <a:xfrm>
            <a:off x="457200" y="1295400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534150"/>
            <a:ext cx="41148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6840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FontTx/>
              <a:buNone/>
              <a:defRPr sz="1000">
                <a:solidFill>
                  <a:schemeClr val="bg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036" name="Text Box 17"/>
          <p:cNvSpPr txBox="1">
            <a:spLocks noChangeArrowheads="1"/>
          </p:cNvSpPr>
          <p:nvPr/>
        </p:nvSpPr>
        <p:spPr bwMode="auto">
          <a:xfrm>
            <a:off x="6705600" y="6540500"/>
            <a:ext cx="2438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buFontTx/>
              <a:buNone/>
              <a:defRPr/>
            </a:pPr>
            <a:r>
              <a:rPr lang="en-US" altLang="en-US" sz="1200">
                <a:solidFill>
                  <a:schemeClr val="bg1"/>
                </a:solidFill>
                <a:cs typeface="Arial" pitchFamily="34" charset="0"/>
              </a:rPr>
              <a:t>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9pPr>
    </p:titleStyle>
    <p:bodyStyle>
      <a:lvl1pPr marL="192088" indent="-192088" algn="l" rtl="0" eaLnBrk="0" fontAlgn="base" hangingPunct="0">
        <a:spcBef>
          <a:spcPct val="4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63550" indent="-185738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600">
          <a:solidFill>
            <a:schemeClr val="tx1"/>
          </a:solidFill>
          <a:latin typeface="+mn-lt"/>
          <a:cs typeface="+mn-cs"/>
        </a:defRPr>
      </a:lvl2pPr>
      <a:lvl3pPr marL="768350" indent="-193675" algn="l" rtl="0" eaLnBrk="0" fontAlgn="base" hangingPunct="0">
        <a:spcBef>
          <a:spcPct val="4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052513" indent="-180975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600">
          <a:solidFill>
            <a:schemeClr val="tx1"/>
          </a:solidFill>
          <a:latin typeface="+mn-lt"/>
          <a:cs typeface="+mn-cs"/>
        </a:defRPr>
      </a:lvl4pPr>
      <a:lvl5pPr marL="1381125" indent="-146050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5pPr>
      <a:lvl6pPr marL="18383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6pPr>
      <a:lvl7pPr marL="22955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7pPr>
      <a:lvl8pPr marL="27527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8pPr>
      <a:lvl9pPr marL="32099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89FD1B-3315-4C05-9F32-3DFD36F1C4C7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21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1813"/>
            <a:ext cx="8229600" cy="712787"/>
          </a:xfrm>
        </p:spPr>
        <p:txBody>
          <a:bodyPr/>
          <a:lstStyle/>
          <a:p>
            <a:pPr eaLnBrk="1" hangingPunct="1"/>
            <a:r>
              <a:rPr lang="ru-RU" dirty="0"/>
              <a:t>5. ИТ проекты</a:t>
            </a:r>
            <a:br>
              <a:rPr lang="ru-RU" dirty="0"/>
            </a:br>
            <a:r>
              <a:rPr lang="ru-RU" sz="1600" dirty="0"/>
              <a:t>5.1. Сравнение ИТ проектов</a:t>
            </a:r>
            <a:endParaRPr lang="ru-RU" dirty="0"/>
          </a:p>
        </p:txBody>
      </p:sp>
      <p:sp>
        <p:nvSpPr>
          <p:cNvPr id="35845" name="Line 3"/>
          <p:cNvSpPr>
            <a:spLocks noChangeShapeType="1"/>
          </p:cNvSpPr>
          <p:nvPr/>
        </p:nvSpPr>
        <p:spPr bwMode="auto">
          <a:xfrm>
            <a:off x="1247775" y="2590800"/>
            <a:ext cx="1143000" cy="53340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35846" name="Text Box 4"/>
          <p:cNvSpPr txBox="1">
            <a:spLocks noChangeArrowheads="1"/>
          </p:cNvSpPr>
          <p:nvPr/>
        </p:nvSpPr>
        <p:spPr bwMode="auto">
          <a:xfrm>
            <a:off x="6715125" y="1276350"/>
            <a:ext cx="1798638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tIns="10800" rIns="1800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ru-RU" sz="1200" b="1" i="1">
                <a:solidFill>
                  <a:schemeClr val="accent1"/>
                </a:solidFill>
                <a:cs typeface="Arial" charset="0"/>
              </a:rPr>
              <a:t>Примерный плана</a:t>
            </a:r>
            <a:br>
              <a:rPr lang="ru-RU" sz="1200" b="1" i="1">
                <a:solidFill>
                  <a:schemeClr val="accent1"/>
                </a:solidFill>
                <a:cs typeface="Arial" charset="0"/>
              </a:rPr>
            </a:br>
            <a:r>
              <a:rPr lang="ru-RU" sz="1200" b="1" i="1">
                <a:solidFill>
                  <a:schemeClr val="accent1"/>
                </a:solidFill>
                <a:cs typeface="Arial" charset="0"/>
              </a:rPr>
              <a:t>выполнения проектов</a:t>
            </a:r>
          </a:p>
        </p:txBody>
      </p:sp>
      <p:sp>
        <p:nvSpPr>
          <p:cNvPr id="35847" name="Text Box 5"/>
          <p:cNvSpPr txBox="1">
            <a:spLocks noChangeArrowheads="1"/>
          </p:cNvSpPr>
          <p:nvPr/>
        </p:nvSpPr>
        <p:spPr bwMode="auto">
          <a:xfrm>
            <a:off x="3278188" y="1828800"/>
            <a:ext cx="2208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ru-RU" sz="1200" b="1" i="1">
                <a:solidFill>
                  <a:schemeClr val="accent1"/>
                </a:solidFill>
                <a:cs typeface="Arial" charset="0"/>
              </a:rPr>
              <a:t>Оценка и приоретизация </a:t>
            </a:r>
            <a:br>
              <a:rPr lang="en-US" sz="1200" b="1" i="1">
                <a:solidFill>
                  <a:schemeClr val="accent1"/>
                </a:solidFill>
                <a:cs typeface="Arial" charset="0"/>
              </a:rPr>
            </a:br>
            <a:r>
              <a:rPr lang="ru-RU" sz="1200" b="1" i="1">
                <a:solidFill>
                  <a:schemeClr val="accent1"/>
                </a:solidFill>
                <a:cs typeface="Arial" charset="0"/>
              </a:rPr>
              <a:t>возможных проектов</a:t>
            </a:r>
          </a:p>
        </p:txBody>
      </p:sp>
      <p:sp>
        <p:nvSpPr>
          <p:cNvPr id="35848" name="Text Box 6"/>
          <p:cNvSpPr txBox="1">
            <a:spLocks noChangeArrowheads="1"/>
          </p:cNvSpPr>
          <p:nvPr/>
        </p:nvSpPr>
        <p:spPr bwMode="auto">
          <a:xfrm>
            <a:off x="4530725" y="1244600"/>
            <a:ext cx="22447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ru-RU" sz="1100" b="1" u="sng">
                <a:cs typeface="Arial" charset="0"/>
              </a:rPr>
              <a:t>Этап планирования</a:t>
            </a:r>
          </a:p>
        </p:txBody>
      </p:sp>
      <p:sp>
        <p:nvSpPr>
          <p:cNvPr id="35849" name="AutoShape 7"/>
          <p:cNvSpPr>
            <a:spLocks noChangeArrowheads="1"/>
          </p:cNvSpPr>
          <p:nvPr/>
        </p:nvSpPr>
        <p:spPr bwMode="auto">
          <a:xfrm>
            <a:off x="228600" y="2057400"/>
            <a:ext cx="1143000" cy="8382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rIns="18000" anchor="ctr"/>
          <a:lstStyle/>
          <a:p>
            <a:pPr algn="ctr">
              <a:lnSpc>
                <a:spcPct val="90000"/>
              </a:lnSpc>
              <a:buSzPct val="75000"/>
              <a:buFont typeface="Wingdings" pitchFamily="2" charset="2"/>
              <a:buNone/>
            </a:pPr>
            <a:r>
              <a:rPr lang="ru-RU" sz="1200" dirty="0">
                <a:cs typeface="Arial" charset="0"/>
              </a:rPr>
              <a:t>Уже выполняемые проекты</a:t>
            </a:r>
          </a:p>
        </p:txBody>
      </p:sp>
      <p:pic>
        <p:nvPicPr>
          <p:cNvPr id="35850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00575"/>
            <a:ext cx="28956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51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660525"/>
            <a:ext cx="2667000" cy="248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52" name="Line 10"/>
          <p:cNvSpPr>
            <a:spLocks noChangeShapeType="1"/>
          </p:cNvSpPr>
          <p:nvPr/>
        </p:nvSpPr>
        <p:spPr bwMode="auto">
          <a:xfrm flipV="1">
            <a:off x="5943600" y="3124200"/>
            <a:ext cx="568325" cy="38100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35853" name="Line 11"/>
          <p:cNvSpPr>
            <a:spLocks noChangeShapeType="1"/>
          </p:cNvSpPr>
          <p:nvPr/>
        </p:nvSpPr>
        <p:spPr bwMode="auto">
          <a:xfrm>
            <a:off x="5943600" y="4191000"/>
            <a:ext cx="533400" cy="38100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35854" name="Text Box 12"/>
          <p:cNvSpPr txBox="1">
            <a:spLocks noChangeArrowheads="1"/>
          </p:cNvSpPr>
          <p:nvPr/>
        </p:nvSpPr>
        <p:spPr bwMode="auto">
          <a:xfrm>
            <a:off x="7062788" y="4337050"/>
            <a:ext cx="15922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tIns="10800" rIns="1800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ru-RU" sz="1200" b="1" i="1">
                <a:solidFill>
                  <a:schemeClr val="accent1"/>
                </a:solidFill>
                <a:cs typeface="Arial" charset="0"/>
              </a:rPr>
              <a:t>Описания проектов</a:t>
            </a:r>
          </a:p>
        </p:txBody>
      </p:sp>
      <p:sp>
        <p:nvSpPr>
          <p:cNvPr id="35855" name="AutoShape 13"/>
          <p:cNvSpPr>
            <a:spLocks noChangeArrowheads="1"/>
          </p:cNvSpPr>
          <p:nvPr/>
        </p:nvSpPr>
        <p:spPr bwMode="auto">
          <a:xfrm>
            <a:off x="620713" y="3214688"/>
            <a:ext cx="981075" cy="9144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rIns="18000" anchor="ctr"/>
          <a:lstStyle/>
          <a:p>
            <a:pPr algn="ctr">
              <a:lnSpc>
                <a:spcPct val="90000"/>
              </a:lnSpc>
              <a:buSzPct val="75000"/>
              <a:buFont typeface="Wingdings" pitchFamily="2" charset="2"/>
              <a:buNone/>
            </a:pPr>
            <a:r>
              <a:rPr lang="ru-RU" sz="1200" dirty="0">
                <a:cs typeface="Arial" charset="0"/>
              </a:rPr>
              <a:t>Проекты по устранению найденных проблем</a:t>
            </a:r>
          </a:p>
        </p:txBody>
      </p:sp>
      <p:sp>
        <p:nvSpPr>
          <p:cNvPr id="35856" name="Line 14"/>
          <p:cNvSpPr>
            <a:spLocks noChangeShapeType="1"/>
          </p:cNvSpPr>
          <p:nvPr/>
        </p:nvSpPr>
        <p:spPr bwMode="auto">
          <a:xfrm flipV="1">
            <a:off x="1611313" y="3671888"/>
            <a:ext cx="779462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35857" name="AutoShape 15"/>
          <p:cNvSpPr>
            <a:spLocks noChangeArrowheads="1"/>
          </p:cNvSpPr>
          <p:nvPr/>
        </p:nvSpPr>
        <p:spPr bwMode="auto">
          <a:xfrm>
            <a:off x="1533525" y="5029200"/>
            <a:ext cx="981075" cy="9144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rIns="18000" anchor="ctr"/>
          <a:lstStyle/>
          <a:p>
            <a:pPr algn="ctr">
              <a:lnSpc>
                <a:spcPct val="90000"/>
              </a:lnSpc>
              <a:buSzPct val="75000"/>
              <a:buFont typeface="Wingdings" pitchFamily="2" charset="2"/>
              <a:buNone/>
            </a:pPr>
            <a:r>
              <a:rPr lang="ru-RU" sz="1200" dirty="0">
                <a:cs typeface="Arial" charset="0"/>
              </a:rPr>
              <a:t>Проекты по переходу в требуемое состояние</a:t>
            </a:r>
          </a:p>
        </p:txBody>
      </p:sp>
      <p:sp>
        <p:nvSpPr>
          <p:cNvPr id="35858" name="Line 16"/>
          <p:cNvSpPr>
            <a:spLocks noChangeShapeType="1"/>
          </p:cNvSpPr>
          <p:nvPr/>
        </p:nvSpPr>
        <p:spPr bwMode="auto">
          <a:xfrm flipV="1">
            <a:off x="2057400" y="4041775"/>
            <a:ext cx="304800" cy="99060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pic>
        <p:nvPicPr>
          <p:cNvPr id="35859" name="Picture 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325688"/>
            <a:ext cx="4400550" cy="280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60" name="Text Box 18"/>
          <p:cNvSpPr txBox="1">
            <a:spLocks noChangeArrowheads="1"/>
          </p:cNvSpPr>
          <p:nvPr/>
        </p:nvSpPr>
        <p:spPr bwMode="auto">
          <a:xfrm>
            <a:off x="185738" y="1308100"/>
            <a:ext cx="13652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ru-RU" sz="1100" b="1" u="sng">
                <a:cs typeface="Arial" charset="0"/>
              </a:rPr>
              <a:t>Анализ текущего состояния ИТ</a:t>
            </a:r>
          </a:p>
        </p:txBody>
      </p:sp>
      <p:sp>
        <p:nvSpPr>
          <p:cNvPr id="35861" name="Text Box 19"/>
          <p:cNvSpPr txBox="1">
            <a:spLocks noChangeArrowheads="1"/>
          </p:cNvSpPr>
          <p:nvPr/>
        </p:nvSpPr>
        <p:spPr bwMode="auto">
          <a:xfrm>
            <a:off x="1676400" y="1308100"/>
            <a:ext cx="2057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ru-RU" sz="1100" b="1" u="sng">
                <a:cs typeface="Arial" charset="0"/>
              </a:rPr>
              <a:t>Проектирование  требуемого состояния ИТ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8A9156-D021-102B-381E-CEC348D8A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4800" y="6534150"/>
            <a:ext cx="1219200" cy="3238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30919746-05DB-405A-818A-766FE0CC1BF4}" type="slidenum">
              <a:rPr lang="en-US" smtClean="0"/>
              <a:pPr>
                <a:spcAft>
                  <a:spcPts val="600"/>
                </a:spcAft>
                <a:defRPr/>
              </a:pPr>
              <a:t>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C4CAA5-8E2F-66C6-7341-7ECE5E04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6534150"/>
            <a:ext cx="4114800" cy="3238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9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90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2361A51D-6E78-DCAD-3AA7-738ACCB39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893362"/>
              </p:ext>
            </p:extLst>
          </p:nvPr>
        </p:nvGraphicFramePr>
        <p:xfrm>
          <a:off x="483256" y="762000"/>
          <a:ext cx="8177488" cy="545855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93913">
                  <a:extLst>
                    <a:ext uri="{9D8B030D-6E8A-4147-A177-3AD203B41FA5}">
                      <a16:colId xmlns:a16="http://schemas.microsoft.com/office/drawing/2014/main" val="3073753931"/>
                    </a:ext>
                  </a:extLst>
                </a:gridCol>
                <a:gridCol w="1693310">
                  <a:extLst>
                    <a:ext uri="{9D8B030D-6E8A-4147-A177-3AD203B41FA5}">
                      <a16:colId xmlns:a16="http://schemas.microsoft.com/office/drawing/2014/main" val="3426999754"/>
                    </a:ext>
                  </a:extLst>
                </a:gridCol>
                <a:gridCol w="1525679">
                  <a:extLst>
                    <a:ext uri="{9D8B030D-6E8A-4147-A177-3AD203B41FA5}">
                      <a16:colId xmlns:a16="http://schemas.microsoft.com/office/drawing/2014/main" val="347880253"/>
                    </a:ext>
                  </a:extLst>
                </a:gridCol>
                <a:gridCol w="1007266">
                  <a:extLst>
                    <a:ext uri="{9D8B030D-6E8A-4147-A177-3AD203B41FA5}">
                      <a16:colId xmlns:a16="http://schemas.microsoft.com/office/drawing/2014/main" val="2457755954"/>
                    </a:ext>
                  </a:extLst>
                </a:gridCol>
                <a:gridCol w="1392196">
                  <a:extLst>
                    <a:ext uri="{9D8B030D-6E8A-4147-A177-3AD203B41FA5}">
                      <a16:colId xmlns:a16="http://schemas.microsoft.com/office/drawing/2014/main" val="1118722105"/>
                    </a:ext>
                  </a:extLst>
                </a:gridCol>
                <a:gridCol w="2265124">
                  <a:extLst>
                    <a:ext uri="{9D8B030D-6E8A-4147-A177-3AD203B41FA5}">
                      <a16:colId xmlns:a16="http://schemas.microsoft.com/office/drawing/2014/main" val="788382308"/>
                    </a:ext>
                  </a:extLst>
                </a:gridCol>
              </a:tblGrid>
              <a:tr h="53258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№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Проект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Выгоды для бизнеса и ИТ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Затраты (деньги, время)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Риски проекта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Результат оценки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extLst>
                  <a:ext uri="{0D108BD9-81ED-4DB2-BD59-A6C34878D82A}">
                    <a16:rowId xmlns:a16="http://schemas.microsoft.com/office/drawing/2014/main" val="3679332405"/>
                  </a:ext>
                </a:extLst>
              </a:tr>
              <a:tr h="532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Внедрение </a:t>
                      </a:r>
                      <a:r>
                        <a:rPr lang="en-US" sz="1000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Mundfish</a:t>
                      </a: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sz="1000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DevManager</a:t>
                      </a:r>
                      <a:endParaRPr lang="en-US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Централизация, прозрачность, скорость)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E0FF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Высокие)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E0FF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Средние, интеграционные)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Высокий приоритет. Выгоды &gt;&gt; Затрат. Требует управления рисками.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30705" marT="25588" marB="25588" anchor="ctr"/>
                </a:tc>
                <a:extLst>
                  <a:ext uri="{0D108BD9-81ED-4DB2-BD59-A6C34878D82A}">
                    <a16:rowId xmlns:a16="http://schemas.microsoft.com/office/drawing/2014/main" val="2343944756"/>
                  </a:ext>
                </a:extLst>
              </a:tr>
              <a:tr h="532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2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Автоматизация </a:t>
                      </a:r>
                      <a:r>
                        <a:rPr lang="en-US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CI/CD</a:t>
                      </a:r>
                      <a:endParaRPr lang="en-US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 (Сокращение времени выхода релизов)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E0FF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Низкие, технологии отработаны)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Высокий приоритет. Выгоды &gt; Затрат. Низкие риски.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30705" marT="25588" marB="25588" anchor="ctr"/>
                </a:tc>
                <a:extLst>
                  <a:ext uri="{0D108BD9-81ED-4DB2-BD59-A6C34878D82A}">
                    <a16:rowId xmlns:a16="http://schemas.microsoft.com/office/drawing/2014/main" val="2880869259"/>
                  </a:ext>
                </a:extLst>
              </a:tr>
              <a:tr h="532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Интеграция </a:t>
                      </a:r>
                      <a:r>
                        <a:rPr lang="en-US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Jira, TestRail, Zendesk</a:t>
                      </a:r>
                      <a:endParaRPr lang="en-US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 (Скорость реакции, контроль качества)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E0FF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Средние, организационные)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Высокий приоритет. Выгоды &gt; Затрат.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30705" marT="25588" marB="25588" anchor="ctr"/>
                </a:tc>
                <a:extLst>
                  <a:ext uri="{0D108BD9-81ED-4DB2-BD59-A6C34878D82A}">
                    <a16:rowId xmlns:a16="http://schemas.microsoft.com/office/drawing/2014/main" val="2151598006"/>
                  </a:ext>
                </a:extLst>
              </a:tr>
              <a:tr h="532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4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Модуль аналитики отзывов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Улучшение качества продукта)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Низкие)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Низкие)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Средний приоритет. Хорошее соотношение выгоды/затраты.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30705" marT="25588" marB="25588" anchor="ctr"/>
                </a:tc>
                <a:extLst>
                  <a:ext uri="{0D108BD9-81ED-4DB2-BD59-A6C34878D82A}">
                    <a16:rowId xmlns:a16="http://schemas.microsoft.com/office/drawing/2014/main" val="2642071565"/>
                  </a:ext>
                </a:extLst>
              </a:tr>
              <a:tr h="532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5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База знаний (</a:t>
                      </a:r>
                      <a:r>
                        <a:rPr lang="en-US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Confluence)</a:t>
                      </a:r>
                      <a:endParaRPr lang="en-US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Стандартизация, </a:t>
                      </a: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onboarding)</a:t>
                      </a:r>
                      <a:endParaRPr lang="en-US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Низкие)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Низкие)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Средний приоритет. Низкие затраты и риски.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30705" marT="25588" marB="25588" anchor="ctr"/>
                </a:tc>
                <a:extLst>
                  <a:ext uri="{0D108BD9-81ED-4DB2-BD59-A6C34878D82A}">
                    <a16:rowId xmlns:a16="http://schemas.microsoft.com/office/drawing/2014/main" val="241311127"/>
                  </a:ext>
                </a:extLst>
              </a:tr>
              <a:tr h="532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6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Система мониторинга (</a:t>
                      </a:r>
                      <a:r>
                        <a:rPr lang="en-US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Grafana, Prometheus)</a:t>
                      </a:r>
                      <a:endParaRPr lang="en-US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Стабильность, уменьшение </a:t>
                      </a: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downtime)</a:t>
                      </a:r>
                      <a:endParaRPr lang="en-US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Низкие)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Низкие)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Высокий приоритет. Критично для поддержки.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30705" marT="25588" marB="25588" anchor="ctr"/>
                </a:tc>
                <a:extLst>
                  <a:ext uri="{0D108BD9-81ED-4DB2-BD59-A6C34878D82A}">
                    <a16:rowId xmlns:a16="http://schemas.microsoft.com/office/drawing/2014/main" val="4149211065"/>
                  </a:ext>
                </a:extLst>
              </a:tr>
              <a:tr h="7685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7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Модернизация ИТ-инфраструктуры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Масштабируемость, гибкость)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66FF3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 (</a:t>
                      </a: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Высокие)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66FF3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Высокие, сложность перехода)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66FF3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Средний/Низкий приоритет. Затраты и риски высоки. Требует осторожного планирования.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30705" marT="25588" marB="25588" anchor="ctr"/>
                </a:tc>
                <a:extLst>
                  <a:ext uri="{0D108BD9-81ED-4DB2-BD59-A6C34878D82A}">
                    <a16:rowId xmlns:a16="http://schemas.microsoft.com/office/drawing/2014/main" val="3030513249"/>
                  </a:ext>
                </a:extLst>
              </a:tr>
              <a:tr h="532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8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30705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Разработка внутреннего </a:t>
                      </a:r>
                      <a:r>
                        <a:rPr lang="en-US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API</a:t>
                      </a:r>
                      <a:endParaRPr lang="en-US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Гибкость интеграций)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Средние)</a:t>
                      </a:r>
                      <a:endParaRPr lang="ru-RU" sz="10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 (</a:t>
                      </a: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Средние)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40941" marT="25588" marB="25588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Средний приоритет. Зависит от успеха проекта №1.</a:t>
                      </a:r>
                      <a:endParaRPr lang="ru-RU" sz="1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quote-cjk-patch"/>
                      </a:endParaRPr>
                    </a:p>
                  </a:txBody>
                  <a:tcPr marL="40941" marR="30705" marT="25588" marB="25588" anchor="ctr"/>
                </a:tc>
                <a:extLst>
                  <a:ext uri="{0D108BD9-81ED-4DB2-BD59-A6C34878D82A}">
                    <a16:rowId xmlns:a16="http://schemas.microsoft.com/office/drawing/2014/main" val="399622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34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3126D04-620A-5454-FAAD-C17473241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6CB45-17F4-4F43-823F-B86D2C45A7C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94FDCA-8038-4307-F47E-27F7E536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3E76709-6902-B4DD-DDAD-C406AB294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219441"/>
              </p:ext>
            </p:extLst>
          </p:nvPr>
        </p:nvGraphicFramePr>
        <p:xfrm>
          <a:off x="1874520" y="1524000"/>
          <a:ext cx="4221476" cy="213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0340">
                  <a:extLst>
                    <a:ext uri="{9D8B030D-6E8A-4147-A177-3AD203B41FA5}">
                      <a16:colId xmlns:a16="http://schemas.microsoft.com/office/drawing/2014/main" val="955356436"/>
                    </a:ext>
                  </a:extLst>
                </a:gridCol>
                <a:gridCol w="240340">
                  <a:extLst>
                    <a:ext uri="{9D8B030D-6E8A-4147-A177-3AD203B41FA5}">
                      <a16:colId xmlns:a16="http://schemas.microsoft.com/office/drawing/2014/main" val="3605465896"/>
                    </a:ext>
                  </a:extLst>
                </a:gridCol>
                <a:gridCol w="240340">
                  <a:extLst>
                    <a:ext uri="{9D8B030D-6E8A-4147-A177-3AD203B41FA5}">
                      <a16:colId xmlns:a16="http://schemas.microsoft.com/office/drawing/2014/main" val="2798563002"/>
                    </a:ext>
                  </a:extLst>
                </a:gridCol>
                <a:gridCol w="240340">
                  <a:extLst>
                    <a:ext uri="{9D8B030D-6E8A-4147-A177-3AD203B41FA5}">
                      <a16:colId xmlns:a16="http://schemas.microsoft.com/office/drawing/2014/main" val="4169018760"/>
                    </a:ext>
                  </a:extLst>
                </a:gridCol>
                <a:gridCol w="240340">
                  <a:extLst>
                    <a:ext uri="{9D8B030D-6E8A-4147-A177-3AD203B41FA5}">
                      <a16:colId xmlns:a16="http://schemas.microsoft.com/office/drawing/2014/main" val="3813851937"/>
                    </a:ext>
                  </a:extLst>
                </a:gridCol>
                <a:gridCol w="240340">
                  <a:extLst>
                    <a:ext uri="{9D8B030D-6E8A-4147-A177-3AD203B41FA5}">
                      <a16:colId xmlns:a16="http://schemas.microsoft.com/office/drawing/2014/main" val="2305201067"/>
                    </a:ext>
                  </a:extLst>
                </a:gridCol>
                <a:gridCol w="240340">
                  <a:extLst>
                    <a:ext uri="{9D8B030D-6E8A-4147-A177-3AD203B41FA5}">
                      <a16:colId xmlns:a16="http://schemas.microsoft.com/office/drawing/2014/main" val="3007569021"/>
                    </a:ext>
                  </a:extLst>
                </a:gridCol>
                <a:gridCol w="240340">
                  <a:extLst>
                    <a:ext uri="{9D8B030D-6E8A-4147-A177-3AD203B41FA5}">
                      <a16:colId xmlns:a16="http://schemas.microsoft.com/office/drawing/2014/main" val="805327838"/>
                    </a:ext>
                  </a:extLst>
                </a:gridCol>
                <a:gridCol w="240340">
                  <a:extLst>
                    <a:ext uri="{9D8B030D-6E8A-4147-A177-3AD203B41FA5}">
                      <a16:colId xmlns:a16="http://schemas.microsoft.com/office/drawing/2014/main" val="2702201916"/>
                    </a:ext>
                  </a:extLst>
                </a:gridCol>
                <a:gridCol w="322085">
                  <a:extLst>
                    <a:ext uri="{9D8B030D-6E8A-4147-A177-3AD203B41FA5}">
                      <a16:colId xmlns:a16="http://schemas.microsoft.com/office/drawing/2014/main" val="2301164702"/>
                    </a:ext>
                  </a:extLst>
                </a:gridCol>
                <a:gridCol w="322085">
                  <a:extLst>
                    <a:ext uri="{9D8B030D-6E8A-4147-A177-3AD203B41FA5}">
                      <a16:colId xmlns:a16="http://schemas.microsoft.com/office/drawing/2014/main" val="3508737688"/>
                    </a:ext>
                  </a:extLst>
                </a:gridCol>
                <a:gridCol w="322085">
                  <a:extLst>
                    <a:ext uri="{9D8B030D-6E8A-4147-A177-3AD203B41FA5}">
                      <a16:colId xmlns:a16="http://schemas.microsoft.com/office/drawing/2014/main" val="603121314"/>
                    </a:ext>
                  </a:extLst>
                </a:gridCol>
                <a:gridCol w="322085">
                  <a:extLst>
                    <a:ext uri="{9D8B030D-6E8A-4147-A177-3AD203B41FA5}">
                      <a16:colId xmlns:a16="http://schemas.microsoft.com/office/drawing/2014/main" val="3121488553"/>
                    </a:ext>
                  </a:extLst>
                </a:gridCol>
                <a:gridCol w="322085">
                  <a:extLst>
                    <a:ext uri="{9D8B030D-6E8A-4147-A177-3AD203B41FA5}">
                      <a16:colId xmlns:a16="http://schemas.microsoft.com/office/drawing/2014/main" val="886179129"/>
                    </a:ext>
                  </a:extLst>
                </a:gridCol>
                <a:gridCol w="447991">
                  <a:extLst>
                    <a:ext uri="{9D8B030D-6E8A-4147-A177-3AD203B41FA5}">
                      <a16:colId xmlns:a16="http://schemas.microsoft.com/office/drawing/2014/main" val="49928441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rPr lang="vi-VN" sz="800" dirty="0"/>
                        <a:t>1</a:t>
                      </a:r>
                      <a:endParaRPr lang="ru-RU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2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3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4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5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6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7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8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9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10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11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12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13</a:t>
                      </a:r>
                      <a:endParaRPr lang="ru-RU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14</a:t>
                      </a:r>
                      <a:endParaRPr lang="ru-RU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15</a:t>
                      </a:r>
                      <a:endParaRPr lang="ru-RU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625014"/>
                  </a:ext>
                </a:extLst>
              </a:tr>
            </a:tbl>
          </a:graphicData>
        </a:graphic>
      </p:graphicFrame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0C37BE41-D8E1-18B5-C902-A86EB8450314}"/>
              </a:ext>
            </a:extLst>
          </p:cNvPr>
          <p:cNvSpPr/>
          <p:nvPr/>
        </p:nvSpPr>
        <p:spPr bwMode="auto">
          <a:xfrm>
            <a:off x="6090916" y="1440180"/>
            <a:ext cx="381004" cy="381000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endParaRPr kumimoji="0" lang="ru-RU" sz="1800" i="0" u="none" strike="noStrike" normalizeH="0" baseline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cs typeface="Times New Roman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34CFD22-E51A-B230-9B59-A15DA76D2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755911"/>
              </p:ext>
            </p:extLst>
          </p:nvPr>
        </p:nvGraphicFramePr>
        <p:xfrm>
          <a:off x="1874520" y="6077036"/>
          <a:ext cx="4216395" cy="213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0051">
                  <a:extLst>
                    <a:ext uri="{9D8B030D-6E8A-4147-A177-3AD203B41FA5}">
                      <a16:colId xmlns:a16="http://schemas.microsoft.com/office/drawing/2014/main" val="955356436"/>
                    </a:ext>
                  </a:extLst>
                </a:gridCol>
                <a:gridCol w="240051">
                  <a:extLst>
                    <a:ext uri="{9D8B030D-6E8A-4147-A177-3AD203B41FA5}">
                      <a16:colId xmlns:a16="http://schemas.microsoft.com/office/drawing/2014/main" val="3605465896"/>
                    </a:ext>
                  </a:extLst>
                </a:gridCol>
                <a:gridCol w="240051">
                  <a:extLst>
                    <a:ext uri="{9D8B030D-6E8A-4147-A177-3AD203B41FA5}">
                      <a16:colId xmlns:a16="http://schemas.microsoft.com/office/drawing/2014/main" val="2798563002"/>
                    </a:ext>
                  </a:extLst>
                </a:gridCol>
                <a:gridCol w="240051">
                  <a:extLst>
                    <a:ext uri="{9D8B030D-6E8A-4147-A177-3AD203B41FA5}">
                      <a16:colId xmlns:a16="http://schemas.microsoft.com/office/drawing/2014/main" val="4169018760"/>
                    </a:ext>
                  </a:extLst>
                </a:gridCol>
                <a:gridCol w="240051">
                  <a:extLst>
                    <a:ext uri="{9D8B030D-6E8A-4147-A177-3AD203B41FA5}">
                      <a16:colId xmlns:a16="http://schemas.microsoft.com/office/drawing/2014/main" val="3813851937"/>
                    </a:ext>
                  </a:extLst>
                </a:gridCol>
                <a:gridCol w="240051">
                  <a:extLst>
                    <a:ext uri="{9D8B030D-6E8A-4147-A177-3AD203B41FA5}">
                      <a16:colId xmlns:a16="http://schemas.microsoft.com/office/drawing/2014/main" val="2305201067"/>
                    </a:ext>
                  </a:extLst>
                </a:gridCol>
                <a:gridCol w="240051">
                  <a:extLst>
                    <a:ext uri="{9D8B030D-6E8A-4147-A177-3AD203B41FA5}">
                      <a16:colId xmlns:a16="http://schemas.microsoft.com/office/drawing/2014/main" val="3007569021"/>
                    </a:ext>
                  </a:extLst>
                </a:gridCol>
                <a:gridCol w="240051">
                  <a:extLst>
                    <a:ext uri="{9D8B030D-6E8A-4147-A177-3AD203B41FA5}">
                      <a16:colId xmlns:a16="http://schemas.microsoft.com/office/drawing/2014/main" val="805327838"/>
                    </a:ext>
                  </a:extLst>
                </a:gridCol>
                <a:gridCol w="240051">
                  <a:extLst>
                    <a:ext uri="{9D8B030D-6E8A-4147-A177-3AD203B41FA5}">
                      <a16:colId xmlns:a16="http://schemas.microsoft.com/office/drawing/2014/main" val="2702201916"/>
                    </a:ext>
                  </a:extLst>
                </a:gridCol>
                <a:gridCol w="321697">
                  <a:extLst>
                    <a:ext uri="{9D8B030D-6E8A-4147-A177-3AD203B41FA5}">
                      <a16:colId xmlns:a16="http://schemas.microsoft.com/office/drawing/2014/main" val="2301164702"/>
                    </a:ext>
                  </a:extLst>
                </a:gridCol>
                <a:gridCol w="321697">
                  <a:extLst>
                    <a:ext uri="{9D8B030D-6E8A-4147-A177-3AD203B41FA5}">
                      <a16:colId xmlns:a16="http://schemas.microsoft.com/office/drawing/2014/main" val="3508737688"/>
                    </a:ext>
                  </a:extLst>
                </a:gridCol>
                <a:gridCol w="321697">
                  <a:extLst>
                    <a:ext uri="{9D8B030D-6E8A-4147-A177-3AD203B41FA5}">
                      <a16:colId xmlns:a16="http://schemas.microsoft.com/office/drawing/2014/main" val="603121314"/>
                    </a:ext>
                  </a:extLst>
                </a:gridCol>
                <a:gridCol w="321697">
                  <a:extLst>
                    <a:ext uri="{9D8B030D-6E8A-4147-A177-3AD203B41FA5}">
                      <a16:colId xmlns:a16="http://schemas.microsoft.com/office/drawing/2014/main" val="3121488553"/>
                    </a:ext>
                  </a:extLst>
                </a:gridCol>
                <a:gridCol w="321697">
                  <a:extLst>
                    <a:ext uri="{9D8B030D-6E8A-4147-A177-3AD203B41FA5}">
                      <a16:colId xmlns:a16="http://schemas.microsoft.com/office/drawing/2014/main" val="886179129"/>
                    </a:ext>
                  </a:extLst>
                </a:gridCol>
                <a:gridCol w="447451">
                  <a:extLst>
                    <a:ext uri="{9D8B030D-6E8A-4147-A177-3AD203B41FA5}">
                      <a16:colId xmlns:a16="http://schemas.microsoft.com/office/drawing/2014/main" val="49928441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rPr lang="vi-VN" sz="800" dirty="0"/>
                        <a:t>1</a:t>
                      </a:r>
                      <a:endParaRPr lang="ru-RU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2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3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4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5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6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7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8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9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10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11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12</a:t>
                      </a:r>
                      <a:endParaRPr lang="ru-RU" sz="8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13</a:t>
                      </a:r>
                      <a:endParaRPr lang="ru-RU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14</a:t>
                      </a:r>
                      <a:endParaRPr lang="ru-RU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800" dirty="0"/>
                        <a:t>15</a:t>
                      </a:r>
                      <a:endParaRPr lang="ru-RU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625014"/>
                  </a:ext>
                </a:extLst>
              </a:tr>
            </a:tbl>
          </a:graphicData>
        </a:graphic>
      </p:graphicFrame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CC2314E2-A4A0-1DC5-3843-813E94C6FB3F}"/>
              </a:ext>
            </a:extLst>
          </p:cNvPr>
          <p:cNvSpPr/>
          <p:nvPr/>
        </p:nvSpPr>
        <p:spPr bwMode="auto">
          <a:xfrm>
            <a:off x="6090916" y="5985424"/>
            <a:ext cx="381004" cy="381000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endParaRPr kumimoji="0" lang="ru-RU" sz="1800" i="0" u="none" strike="noStrike" normalizeH="0" baseline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cs typeface="Times New Roman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2FD13FE-9B6D-3724-61E0-B7AEA9F316CC}"/>
              </a:ext>
            </a:extLst>
          </p:cNvPr>
          <p:cNvSpPr/>
          <p:nvPr/>
        </p:nvSpPr>
        <p:spPr bwMode="auto">
          <a:xfrm>
            <a:off x="1874520" y="1863434"/>
            <a:ext cx="4419600" cy="413757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imes New Roman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FF69F6-ABE1-8AD8-1DEF-2AE348252510}"/>
              </a:ext>
            </a:extLst>
          </p:cNvPr>
          <p:cNvSpPr/>
          <p:nvPr/>
        </p:nvSpPr>
        <p:spPr bwMode="auto">
          <a:xfrm>
            <a:off x="1982470" y="2264420"/>
            <a:ext cx="836930" cy="369332"/>
          </a:xfrm>
          <a:prstGeom prst="rect">
            <a:avLst/>
          </a:prstGeom>
          <a:solidFill>
            <a:srgbClr val="FF7C8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Организационные мероприятия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25536FA-7B33-AFA3-C36F-842863663607}"/>
              </a:ext>
            </a:extLst>
          </p:cNvPr>
          <p:cNvSpPr/>
          <p:nvPr/>
        </p:nvSpPr>
        <p:spPr bwMode="auto">
          <a:xfrm>
            <a:off x="4173221" y="2088406"/>
            <a:ext cx="797558" cy="369332"/>
          </a:xfrm>
          <a:prstGeom prst="rect">
            <a:avLst/>
          </a:prstGeom>
          <a:solidFill>
            <a:srgbClr val="E0FFD6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Реорганизация оргструктуры ИТ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8E1D16-7BDC-B1EC-6A07-69E9BBC08026}"/>
              </a:ext>
            </a:extLst>
          </p:cNvPr>
          <p:cNvSpPr/>
          <p:nvPr/>
        </p:nvSpPr>
        <p:spPr bwMode="auto">
          <a:xfrm>
            <a:off x="3034030" y="2706142"/>
            <a:ext cx="1372866" cy="369332"/>
          </a:xfrm>
          <a:prstGeom prst="rect">
            <a:avLst/>
          </a:prstGeom>
          <a:solidFill>
            <a:srgbClr val="66FF33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Внедрение ролевой модели и матрицы ответственности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11E3C1C-E0B1-94B7-9C06-7A9CDC3440AE}"/>
              </a:ext>
            </a:extLst>
          </p:cNvPr>
          <p:cNvSpPr/>
          <p:nvPr/>
        </p:nvSpPr>
        <p:spPr bwMode="auto">
          <a:xfrm>
            <a:off x="4701546" y="2706142"/>
            <a:ext cx="1442718" cy="369332"/>
          </a:xfrm>
          <a:prstGeom prst="rect">
            <a:avLst/>
          </a:prstGeom>
          <a:solidFill>
            <a:srgbClr val="66FF33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Финализация новой оргструктуры и регламентов</a:t>
            </a:r>
          </a:p>
        </p:txBody>
      </p: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97A2FFA4-639D-2C5E-AEE7-80A208649AE0}"/>
              </a:ext>
            </a:extLst>
          </p:cNvPr>
          <p:cNvCxnSpPr>
            <a:stCxn id="11" idx="3"/>
            <a:endCxn id="13" idx="1"/>
          </p:cNvCxnSpPr>
          <p:nvPr/>
        </p:nvCxnSpPr>
        <p:spPr bwMode="auto">
          <a:xfrm flipV="1">
            <a:off x="2819400" y="2273072"/>
            <a:ext cx="1353821" cy="1760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A908563A-9AC8-F703-4544-71663BD36415}"/>
              </a:ext>
            </a:extLst>
          </p:cNvPr>
          <p:cNvCxnSpPr>
            <a:stCxn id="11" idx="3"/>
            <a:endCxn id="16" idx="1"/>
          </p:cNvCxnSpPr>
          <p:nvPr/>
        </p:nvCxnSpPr>
        <p:spPr bwMode="auto">
          <a:xfrm>
            <a:off x="2819400" y="2449086"/>
            <a:ext cx="214630" cy="4417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1C9AE118-13E2-226E-3B7D-0C8C13E2F9B9}"/>
              </a:ext>
            </a:extLst>
          </p:cNvPr>
          <p:cNvCxnSpPr>
            <a:stCxn id="16" idx="3"/>
            <a:endCxn id="17" idx="1"/>
          </p:cNvCxnSpPr>
          <p:nvPr/>
        </p:nvCxnSpPr>
        <p:spPr bwMode="auto">
          <a:xfrm>
            <a:off x="4406896" y="2890808"/>
            <a:ext cx="294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ED16D7F-07DF-0FAD-373A-D306D3F7C946}"/>
              </a:ext>
            </a:extLst>
          </p:cNvPr>
          <p:cNvSpPr/>
          <p:nvPr/>
        </p:nvSpPr>
        <p:spPr bwMode="auto">
          <a:xfrm>
            <a:off x="2438400" y="3564023"/>
            <a:ext cx="1219200" cy="369332"/>
          </a:xfrm>
          <a:prstGeom prst="rect">
            <a:avLst/>
          </a:prstGeom>
          <a:solidFill>
            <a:srgbClr val="FFC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Повышение квалификации персонала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C9E31E4-9425-2780-3F25-A4DBDAB6DCDB}"/>
              </a:ext>
            </a:extLst>
          </p:cNvPr>
          <p:cNvSpPr/>
          <p:nvPr/>
        </p:nvSpPr>
        <p:spPr bwMode="auto">
          <a:xfrm>
            <a:off x="4069080" y="3564023"/>
            <a:ext cx="1662430" cy="369332"/>
          </a:xfrm>
          <a:prstGeom prst="rect">
            <a:avLst/>
          </a:prstGeom>
          <a:solidFill>
            <a:srgbClr val="FFFFCC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Оценка и сертификация компетенций персонала</a:t>
            </a: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624E3FF1-E78A-4932-1CF7-C84DD54F6096}"/>
              </a:ext>
            </a:extLst>
          </p:cNvPr>
          <p:cNvCxnSpPr>
            <a:stCxn id="34" idx="3"/>
            <a:endCxn id="35" idx="1"/>
          </p:cNvCxnSpPr>
          <p:nvPr/>
        </p:nvCxnSpPr>
        <p:spPr bwMode="auto">
          <a:xfrm>
            <a:off x="3657600" y="3748689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2576C346-D91C-858B-839A-5DD8C975041D}"/>
              </a:ext>
            </a:extLst>
          </p:cNvPr>
          <p:cNvSpPr/>
          <p:nvPr/>
        </p:nvSpPr>
        <p:spPr bwMode="auto">
          <a:xfrm>
            <a:off x="2062480" y="4404122"/>
            <a:ext cx="1066800" cy="369332"/>
          </a:xfrm>
          <a:prstGeom prst="rect">
            <a:avLst/>
          </a:prstGeom>
          <a:solidFill>
            <a:srgbClr val="FFFFCC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Разработка и внедрение базовых процессов ИТ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B0E10F9-FBA4-E004-1C01-C81C44EB20E0}"/>
              </a:ext>
            </a:extLst>
          </p:cNvPr>
          <p:cNvSpPr/>
          <p:nvPr/>
        </p:nvSpPr>
        <p:spPr bwMode="auto">
          <a:xfrm>
            <a:off x="2772409" y="4941180"/>
            <a:ext cx="1062980" cy="369332"/>
          </a:xfrm>
          <a:prstGeom prst="rect">
            <a:avLst/>
          </a:prstGeom>
          <a:solidFill>
            <a:srgbClr val="FFFFCC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Уточнение и оптимизация процессов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20EB0EAD-64AD-B6A3-685E-629F3E1A766C}"/>
              </a:ext>
            </a:extLst>
          </p:cNvPr>
          <p:cNvSpPr/>
          <p:nvPr/>
        </p:nvSpPr>
        <p:spPr bwMode="auto">
          <a:xfrm>
            <a:off x="3788421" y="4287510"/>
            <a:ext cx="1470654" cy="369332"/>
          </a:xfrm>
          <a:prstGeom prst="rect">
            <a:avLst/>
          </a:prstGeom>
          <a:solidFill>
            <a:srgbClr val="66FF33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Автоматизация ключевых процессов (</a:t>
            </a:r>
            <a:r>
              <a:rPr lang="ru-RU" sz="600" dirty="0" err="1"/>
              <a:t>DevManager</a:t>
            </a:r>
            <a:r>
              <a:rPr lang="ru-RU" sz="600" dirty="0"/>
              <a:t>, этапы 1–2)</a:t>
            </a:r>
            <a:endParaRPr lang="ru-RU" sz="600" dirty="0">
              <a:effectLst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39B6599-1A6D-181C-EAC6-6607277CDC5B}"/>
              </a:ext>
            </a:extLst>
          </p:cNvPr>
          <p:cNvSpPr/>
          <p:nvPr/>
        </p:nvSpPr>
        <p:spPr bwMode="auto">
          <a:xfrm>
            <a:off x="3129279" y="5400305"/>
            <a:ext cx="1066800" cy="461665"/>
          </a:xfrm>
          <a:prstGeom prst="rect">
            <a:avLst/>
          </a:prstGeom>
          <a:solidFill>
            <a:srgbClr val="66FF33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Интеграция и настройка системы мониторинга и аналитики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876F55FE-CC1B-E717-C3F9-EC8A12A90BD1}"/>
              </a:ext>
            </a:extLst>
          </p:cNvPr>
          <p:cNvSpPr/>
          <p:nvPr/>
        </p:nvSpPr>
        <p:spPr bwMode="auto">
          <a:xfrm>
            <a:off x="4267199" y="4893647"/>
            <a:ext cx="1266191" cy="461665"/>
          </a:xfrm>
          <a:prstGeom prst="rect">
            <a:avLst/>
          </a:prstGeom>
          <a:solidFill>
            <a:srgbClr val="66FF33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Запуск в промышленную эксплуатацию и стабилизация всей системы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8EEC2AD5-A784-C5FF-2559-328094C287C5}"/>
              </a:ext>
            </a:extLst>
          </p:cNvPr>
          <p:cNvSpPr/>
          <p:nvPr/>
        </p:nvSpPr>
        <p:spPr bwMode="auto">
          <a:xfrm>
            <a:off x="4593268" y="5446924"/>
            <a:ext cx="1290960" cy="369332"/>
          </a:xfrm>
          <a:prstGeom prst="rect">
            <a:avLst/>
          </a:prstGeom>
          <a:solidFill>
            <a:srgbClr val="FF7C8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ru-RU" sz="600" dirty="0"/>
              <a:t>Поддержка и непрерывное улучшение процессов</a:t>
            </a:r>
          </a:p>
        </p:txBody>
      </p:sp>
      <p:cxnSp>
        <p:nvCxnSpPr>
          <p:cNvPr id="53" name="Соединитель: уступ 52">
            <a:extLst>
              <a:ext uri="{FF2B5EF4-FFF2-40B4-BE49-F238E27FC236}">
                <a16:creationId xmlns:a16="http://schemas.microsoft.com/office/drawing/2014/main" id="{800E0133-0217-8B1A-B4E7-AE6194982EA1}"/>
              </a:ext>
            </a:extLst>
          </p:cNvPr>
          <p:cNvCxnSpPr>
            <a:endCxn id="39" idx="0"/>
          </p:cNvCxnSpPr>
          <p:nvPr/>
        </p:nvCxnSpPr>
        <p:spPr bwMode="auto">
          <a:xfrm rot="16200000" flipH="1">
            <a:off x="3040393" y="4677674"/>
            <a:ext cx="352392" cy="1746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Соединитель: уступ 54">
            <a:extLst>
              <a:ext uri="{FF2B5EF4-FFF2-40B4-BE49-F238E27FC236}">
                <a16:creationId xmlns:a16="http://schemas.microsoft.com/office/drawing/2014/main" id="{3F8F11F1-66D3-B65E-13CF-0919FF1B52B8}"/>
              </a:ext>
            </a:extLst>
          </p:cNvPr>
          <p:cNvCxnSpPr>
            <a:stCxn id="38" idx="3"/>
            <a:endCxn id="40" idx="1"/>
          </p:cNvCxnSpPr>
          <p:nvPr/>
        </p:nvCxnSpPr>
        <p:spPr bwMode="auto">
          <a:xfrm flipV="1">
            <a:off x="3129280" y="4472176"/>
            <a:ext cx="659141" cy="1166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6622E941-9EEB-68D1-A4C3-29783CE48F02}"/>
              </a:ext>
            </a:extLst>
          </p:cNvPr>
          <p:cNvCxnSpPr>
            <a:stCxn id="39" idx="3"/>
            <a:endCxn id="42" idx="1"/>
          </p:cNvCxnSpPr>
          <p:nvPr/>
        </p:nvCxnSpPr>
        <p:spPr bwMode="auto">
          <a:xfrm flipV="1">
            <a:off x="3835389" y="5124480"/>
            <a:ext cx="431810" cy="13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C01875AB-8EE7-427A-A098-94786E7BD8AE}"/>
              </a:ext>
            </a:extLst>
          </p:cNvPr>
          <p:cNvCxnSpPr>
            <a:stCxn id="41" idx="3"/>
            <a:endCxn id="42" idx="1"/>
          </p:cNvCxnSpPr>
          <p:nvPr/>
        </p:nvCxnSpPr>
        <p:spPr bwMode="auto">
          <a:xfrm flipV="1">
            <a:off x="4196079" y="5124480"/>
            <a:ext cx="71120" cy="5066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Соединитель: уступ 67">
            <a:extLst>
              <a:ext uri="{FF2B5EF4-FFF2-40B4-BE49-F238E27FC236}">
                <a16:creationId xmlns:a16="http://schemas.microsoft.com/office/drawing/2014/main" id="{2435341D-8CF1-F325-34AC-BA2340286302}"/>
              </a:ext>
            </a:extLst>
          </p:cNvPr>
          <p:cNvCxnSpPr>
            <a:stCxn id="41" idx="3"/>
            <a:endCxn id="43" idx="1"/>
          </p:cNvCxnSpPr>
          <p:nvPr/>
        </p:nvCxnSpPr>
        <p:spPr bwMode="auto">
          <a:xfrm>
            <a:off x="4196079" y="5631138"/>
            <a:ext cx="397189" cy="4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CE726A97-D919-6CBD-7712-A150FB2290C7}"/>
              </a:ext>
            </a:extLst>
          </p:cNvPr>
          <p:cNvCxnSpPr>
            <a:cxnSpLocks/>
          </p:cNvCxnSpPr>
          <p:nvPr/>
        </p:nvCxnSpPr>
        <p:spPr bwMode="auto">
          <a:xfrm flipH="1">
            <a:off x="2434577" y="1821180"/>
            <a:ext cx="3823" cy="416424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>
            <a:extLst>
              <a:ext uri="{FF2B5EF4-FFF2-40B4-BE49-F238E27FC236}">
                <a16:creationId xmlns:a16="http://schemas.microsoft.com/office/drawing/2014/main" id="{0AC4DEF9-B9FA-3348-FBCE-D23D8779A5F2}"/>
              </a:ext>
            </a:extLst>
          </p:cNvPr>
          <p:cNvCxnSpPr>
            <a:cxnSpLocks/>
          </p:cNvCxnSpPr>
          <p:nvPr/>
        </p:nvCxnSpPr>
        <p:spPr bwMode="auto">
          <a:xfrm flipH="1">
            <a:off x="3030072" y="1821180"/>
            <a:ext cx="3958" cy="41798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A513BC26-2403-D7F8-755A-3510C2AD4747}"/>
              </a:ext>
            </a:extLst>
          </p:cNvPr>
          <p:cNvCxnSpPr>
            <a:cxnSpLocks/>
          </p:cNvCxnSpPr>
          <p:nvPr/>
        </p:nvCxnSpPr>
        <p:spPr bwMode="auto">
          <a:xfrm>
            <a:off x="4173221" y="1737360"/>
            <a:ext cx="52713" cy="426364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16BE968-ED37-F0FE-9C06-92E246BE4CBF}"/>
              </a:ext>
            </a:extLst>
          </p:cNvPr>
          <p:cNvSpPr txBox="1"/>
          <p:nvPr/>
        </p:nvSpPr>
        <p:spPr>
          <a:xfrm>
            <a:off x="3219125" y="1873319"/>
            <a:ext cx="4577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800" dirty="0">
                <a:effectLst/>
              </a:rPr>
              <a:t>Подготовительные работы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390099F-9A22-DFF8-464B-81C4FCDDC51E}"/>
              </a:ext>
            </a:extLst>
          </p:cNvPr>
          <p:cNvSpPr txBox="1"/>
          <p:nvPr/>
        </p:nvSpPr>
        <p:spPr>
          <a:xfrm>
            <a:off x="3169920" y="2505800"/>
            <a:ext cx="4577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800" dirty="0">
                <a:effectLst/>
              </a:rPr>
              <a:t>Основной этап реорганизации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22E994E-63D5-BB5F-272D-AEFDFCD8BBE5}"/>
              </a:ext>
            </a:extLst>
          </p:cNvPr>
          <p:cNvSpPr txBox="1"/>
          <p:nvPr/>
        </p:nvSpPr>
        <p:spPr>
          <a:xfrm>
            <a:off x="4551685" y="3135856"/>
            <a:ext cx="4577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800" dirty="0">
                <a:effectLst/>
              </a:rPr>
              <a:t>Финальный блок по оргструктуре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34B91E1-66FD-5D03-43A3-241179BF592B}"/>
              </a:ext>
            </a:extLst>
          </p:cNvPr>
          <p:cNvSpPr txBox="1"/>
          <p:nvPr/>
        </p:nvSpPr>
        <p:spPr>
          <a:xfrm>
            <a:off x="3593952" y="4036810"/>
            <a:ext cx="4577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800" dirty="0">
                <a:effectLst/>
              </a:rPr>
              <a:t>Самый большой центральный блок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1CD5E43-B9D5-8802-6705-5B465FC03A77}"/>
              </a:ext>
            </a:extLst>
          </p:cNvPr>
          <p:cNvSpPr txBox="1"/>
          <p:nvPr/>
        </p:nvSpPr>
        <p:spPr>
          <a:xfrm>
            <a:off x="3886200" y="4694634"/>
            <a:ext cx="4577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800" dirty="0">
                <a:effectLst/>
              </a:rPr>
              <a:t>Итоговый результат всей ИТ-стратегии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5B58EA0-7273-551F-CBA4-E12BF568A1CD}"/>
              </a:ext>
            </a:extLst>
          </p:cNvPr>
          <p:cNvSpPr txBox="1"/>
          <p:nvPr/>
        </p:nvSpPr>
        <p:spPr>
          <a:xfrm>
            <a:off x="4196079" y="5787410"/>
            <a:ext cx="4577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800" dirty="0">
                <a:effectLst/>
              </a:rPr>
              <a:t>После завершения основных работ</a:t>
            </a:r>
          </a:p>
        </p:txBody>
      </p:sp>
      <p:cxnSp>
        <p:nvCxnSpPr>
          <p:cNvPr id="106" name="Прямая соединительная линия 105">
            <a:extLst>
              <a:ext uri="{FF2B5EF4-FFF2-40B4-BE49-F238E27FC236}">
                <a16:creationId xmlns:a16="http://schemas.microsoft.com/office/drawing/2014/main" id="{EB789621-9AC9-3391-F591-03993E8D4A75}"/>
              </a:ext>
            </a:extLst>
          </p:cNvPr>
          <p:cNvCxnSpPr>
            <a:cxnSpLocks/>
          </p:cNvCxnSpPr>
          <p:nvPr/>
        </p:nvCxnSpPr>
        <p:spPr bwMode="auto">
          <a:xfrm>
            <a:off x="1874520" y="3429000"/>
            <a:ext cx="44196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Прямая соединительная линия 108">
            <a:extLst>
              <a:ext uri="{FF2B5EF4-FFF2-40B4-BE49-F238E27FC236}">
                <a16:creationId xmlns:a16="http://schemas.microsoft.com/office/drawing/2014/main" id="{E68D217F-EBA3-0DAE-8389-BB9C2EC3D524}"/>
              </a:ext>
            </a:extLst>
          </p:cNvPr>
          <p:cNvCxnSpPr>
            <a:cxnSpLocks/>
          </p:cNvCxnSpPr>
          <p:nvPr/>
        </p:nvCxnSpPr>
        <p:spPr bwMode="auto">
          <a:xfrm>
            <a:off x="1874520" y="4036810"/>
            <a:ext cx="44196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24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5. ИТ проекты</a:t>
            </a:r>
            <a:br>
              <a:rPr lang="ru-RU"/>
            </a:br>
            <a:r>
              <a:rPr lang="ru-RU"/>
              <a:t>5.3. Описание проектов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981136-380C-49C8-82CF-2392C796B4E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B1F275E-4540-95A8-D457-3F9AA3B8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308891"/>
              </p:ext>
            </p:extLst>
          </p:nvPr>
        </p:nvGraphicFramePr>
        <p:xfrm>
          <a:off x="1524000" y="1288473"/>
          <a:ext cx="5661241" cy="50549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241">
                  <a:extLst>
                    <a:ext uri="{9D8B030D-6E8A-4147-A177-3AD203B41FA5}">
                      <a16:colId xmlns:a16="http://schemas.microsoft.com/office/drawing/2014/main" val="337223234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49955337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3056816"/>
                    </a:ext>
                  </a:extLst>
                </a:gridCol>
              </a:tblGrid>
              <a:tr h="1696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№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Название проекта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Краткое описание и цель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3099387262"/>
                  </a:ext>
                </a:extLst>
              </a:tr>
              <a:tr h="9010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1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Внедрение Mundfish DevManager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Центральная интеграционная платформа собственной разработки (объединяет Jira, TestRail, Zendesk, CI/CD, аналитику)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3061264377"/>
                  </a:ext>
                </a:extLst>
              </a:tr>
              <a:tr h="535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2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Автоматизация CI/CD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Полная автоматизация сборок и деплоя (Jenkins/GitHub Actions + внутренние скрипты)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1800146886"/>
                  </a:ext>
                </a:extLst>
              </a:tr>
              <a:tr h="535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3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Интеграция Jira – TestRail – Zendesk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Двусторонняя автоматическая синхронизация задач, тест-кейсов и тикетов поддержки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270279498"/>
                  </a:ext>
                </a:extLst>
              </a:tr>
              <a:tr h="535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4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Модуль аналитики отзывов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Сбор и анализ отзывов из Steam, VK Play, Metacritic в реальном времени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3490884749"/>
                  </a:ext>
                </a:extLst>
              </a:tr>
              <a:tr h="535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5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База знаний на Confluence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Централизованная стандартизированная база знаний + ускорение онбординга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2767469227"/>
                  </a:ext>
                </a:extLst>
              </a:tr>
              <a:tr h="5221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6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Система мониторинга (Grafana + Prometheus)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Мониторинг всей инфраструктуры, алертинг, снижение downtime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3652816841"/>
                  </a:ext>
                </a:extLst>
              </a:tr>
              <a:tr h="535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7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Модернизация ИТ-инфраструктуры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Полный переход на облако (Kubernetes в VK Cloud/AWS), отказ от локальных серверов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3193664189"/>
                  </a:ext>
                </a:extLst>
              </a:tr>
              <a:tr h="5221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8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Разработка внутреннего API DevManager</a:t>
                      </a:r>
                      <a:endParaRPr lang="ru-RU" sz="9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>
                          <a:effectLst/>
                        </a:rPr>
                        <a:t>Открытый REST API для будущих внутренних и внешних интеграций</a:t>
                      </a:r>
                      <a:endParaRPr lang="ru-RU" sz="9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58" marR="57258" marT="0" marB="0"/>
                </a:tc>
                <a:extLst>
                  <a:ext uri="{0D108BD9-81ED-4DB2-BD59-A6C34878D82A}">
                    <a16:rowId xmlns:a16="http://schemas.microsoft.com/office/drawing/2014/main" val="25979386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1D3CF7-F77B-4750-9F99-DF2990EC0530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4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5. ИТ проекты</a:t>
            </a:r>
            <a:br>
              <a:rPr lang="ru-RU" dirty="0"/>
            </a:br>
            <a:r>
              <a:rPr lang="ru-RU" dirty="0"/>
              <a:t>5.4. Портфель проектов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E314ED6-75CE-99A5-74D8-CDF0D105C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97085"/>
              </p:ext>
            </p:extLst>
          </p:nvPr>
        </p:nvGraphicFramePr>
        <p:xfrm>
          <a:off x="971931" y="2286000"/>
          <a:ext cx="7047738" cy="2738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1038">
                  <a:extLst>
                    <a:ext uri="{9D8B030D-6E8A-4147-A177-3AD203B41FA5}">
                      <a16:colId xmlns:a16="http://schemas.microsoft.com/office/drawing/2014/main" val="2789170822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3778186435"/>
                    </a:ext>
                  </a:extLst>
                </a:gridCol>
              </a:tblGrid>
              <a:tr h="2387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Группа проектов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Состав проектов (2025–2027)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124201"/>
                  </a:ext>
                </a:extLst>
              </a:tr>
              <a:tr h="7535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1. Обязательные проекты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Внедрение Mundfish DevManager (все фазы), Автоматизация CI/CD, Система мониторинга (Grafana + Prometheus)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898139"/>
                  </a:ext>
                </a:extLst>
              </a:tr>
              <a:tr h="4961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2. Базовый портфель проектов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Интеграция Jira-TestRail-Zendesk, Модуль аналитики отзывов, База знаний Confluence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431560"/>
                  </a:ext>
                </a:extLst>
              </a:tr>
              <a:tr h="4961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3. Расширенный портфель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Разработка внутреннего API, Мобильные клиенты DevManager, AI-инструменты для QA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6758133"/>
                  </a:ext>
                </a:extLst>
              </a:tr>
              <a:tr h="7535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4. Портфель потенциальных</a:t>
                      </a:r>
                      <a:endParaRPr lang="ru-RU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Полная миграция инфраструктуры в облако, Внедрение Service Desk и каталога услуг с SLA, ERP/CRM система</a:t>
                      </a:r>
                      <a:endParaRPr lang="ru-RU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292593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6. Пересмотр ИТ стратегии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038D73-2D21-4910-822A-54C79EF597F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81000" y="1295400"/>
            <a:ext cx="8305800" cy="518160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tIns="36000" rIns="36000" bIns="36000"/>
          <a:lstStyle/>
          <a:p>
            <a:endParaRPr lang="en-US" b="1" dirty="0"/>
          </a:p>
          <a:p>
            <a:r>
              <a:rPr lang="ru-RU" b="1" dirty="0"/>
              <a:t>Частота пересмотра: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Плановый – раз в квартал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Внеплановый – при существенных изменениях в бизнесе и/или ИТ</a:t>
            </a: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ru-RU" dirty="0"/>
          </a:p>
          <a:p>
            <a:r>
              <a:rPr lang="ru-RU" b="1" dirty="0"/>
              <a:t>Причины внепланового пересмотра (примеры из документа):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Кризис (финансовый, репутационный)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Смена генерального директора или ключевых руководителей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Запуск нового крупного проекта (например, Atomic Heart 2)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Появление новых технологий, существенно меняющих ландшафт (например, массовое внедрение AI в геймдев)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1400" dirty="0"/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  <a:defRPr/>
            </a:pPr>
            <a:endParaRPr lang="ru-RU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d Edison ESM">
  <a:themeElements>
    <a:clrScheme name="Ford Edison ESM 1">
      <a:dk1>
        <a:srgbClr val="000000"/>
      </a:dk1>
      <a:lt1>
        <a:srgbClr val="FFFFFF"/>
      </a:lt1>
      <a:dk2>
        <a:srgbClr val="061DC8"/>
      </a:dk2>
      <a:lt2>
        <a:srgbClr val="727272"/>
      </a:lt2>
      <a:accent1>
        <a:srgbClr val="7889FB"/>
      </a:accent1>
      <a:accent2>
        <a:srgbClr val="C7CDFD"/>
      </a:accent2>
      <a:accent3>
        <a:srgbClr val="FFFFFF"/>
      </a:accent3>
      <a:accent4>
        <a:srgbClr val="000000"/>
      </a:accent4>
      <a:accent5>
        <a:srgbClr val="BEC4FD"/>
      </a:accent5>
      <a:accent6>
        <a:srgbClr val="B4BAE5"/>
      </a:accent6>
      <a:hlink>
        <a:srgbClr val="669900"/>
      </a:hlink>
      <a:folHlink>
        <a:srgbClr val="8CC800"/>
      </a:folHlink>
    </a:clrScheme>
    <a:fontScheme name="Ford Edison ESM">
      <a:majorFont>
        <a:latin typeface="Arial"/>
        <a:ea typeface="Arial Unicode MS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Char char="ü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Char char="ü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lnDef>
  </a:objectDefaults>
  <a:extraClrSchemeLst>
    <a:extraClrScheme>
      <a:clrScheme name="Ford Edison ESM 1">
        <a:dk1>
          <a:srgbClr val="000000"/>
        </a:dk1>
        <a:lt1>
          <a:srgbClr val="FFFFFF"/>
        </a:lt1>
        <a:dk2>
          <a:srgbClr val="061DC8"/>
        </a:dk2>
        <a:lt2>
          <a:srgbClr val="727272"/>
        </a:lt2>
        <a:accent1>
          <a:srgbClr val="7889FB"/>
        </a:accent1>
        <a:accent2>
          <a:srgbClr val="C7CDFD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B4BAE5"/>
        </a:accent6>
        <a:hlink>
          <a:srgbClr val="669900"/>
        </a:hlink>
        <a:folHlink>
          <a:srgbClr val="8CC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22771</TotalTime>
  <Words>760</Words>
  <Application>Microsoft Office PowerPoint</Application>
  <PresentationFormat>Экран (4:3)</PresentationFormat>
  <Paragraphs>182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quote-cjk-patch</vt:lpstr>
      <vt:lpstr>Times New Roman</vt:lpstr>
      <vt:lpstr>Wingdings</vt:lpstr>
      <vt:lpstr>Ford Edison ESM</vt:lpstr>
      <vt:lpstr>5. ИТ проекты 5.1. Сравнение ИТ проектов</vt:lpstr>
      <vt:lpstr>Презентация PowerPoint</vt:lpstr>
      <vt:lpstr>Презентация PowerPoint</vt:lpstr>
      <vt:lpstr>5. ИТ проекты 5.3. Описание проектов</vt:lpstr>
      <vt:lpstr>5. ИТ проекты 5.4. Портфель проектов</vt:lpstr>
      <vt:lpstr>6. Пересмотр ИТ стратегии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ИТ стратегий</dc:title>
  <dc:creator>MAG</dc:creator>
  <cp:lastModifiedBy>Чан Куанг Тханг</cp:lastModifiedBy>
  <cp:revision>1961</cp:revision>
  <cp:lastPrinted>2012-05-24T03:10:41Z</cp:lastPrinted>
  <dcterms:created xsi:type="dcterms:W3CDTF">1601-01-01T00:00:00Z</dcterms:created>
  <dcterms:modified xsi:type="dcterms:W3CDTF">2025-11-18T07:24:05Z</dcterms:modified>
</cp:coreProperties>
</file>