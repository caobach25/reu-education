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4"/>
  </p:notesMasterIdLst>
  <p:handoutMasterIdLst>
    <p:handoutMasterId r:id="rId25"/>
  </p:handoutMasterIdLst>
  <p:sldIdLst>
    <p:sldId id="362" r:id="rId2"/>
    <p:sldId id="1057" r:id="rId3"/>
    <p:sldId id="1073" r:id="rId4"/>
    <p:sldId id="1095" r:id="rId5"/>
    <p:sldId id="1092" r:id="rId6"/>
    <p:sldId id="1093" r:id="rId7"/>
    <p:sldId id="1096" r:id="rId8"/>
    <p:sldId id="1094" r:id="rId9"/>
    <p:sldId id="1091" r:id="rId10"/>
    <p:sldId id="1075" r:id="rId11"/>
    <p:sldId id="1074" r:id="rId12"/>
    <p:sldId id="1028" r:id="rId13"/>
    <p:sldId id="1088" r:id="rId14"/>
    <p:sldId id="1076" r:id="rId15"/>
    <p:sldId id="1089" r:id="rId16"/>
    <p:sldId id="1077" r:id="rId17"/>
    <p:sldId id="1055" r:id="rId18"/>
    <p:sldId id="1078" r:id="rId19"/>
    <p:sldId id="1036" r:id="rId20"/>
    <p:sldId id="1090" r:id="rId21"/>
    <p:sldId id="1087" r:id="rId22"/>
    <p:sldId id="1079" r:id="rId23"/>
  </p:sldIdLst>
  <p:sldSz cx="9144000" cy="6858000" type="screen4x3"/>
  <p:notesSz cx="6846888" cy="9980613"/>
  <p:defaultTextStyle>
    <a:defPPr>
      <a:defRPr lang="en-US"/>
    </a:defPPr>
    <a:lvl1pPr algn="l" rtl="0" fontAlgn="base">
      <a:spcBef>
        <a:spcPct val="0"/>
      </a:spcBef>
      <a:spcAft>
        <a:spcPct val="0"/>
      </a:spcAft>
      <a:buFont typeface="Wingdings" pitchFamily="2" charset="2"/>
      <a:buChar char="ü"/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buFont typeface="Wingdings" pitchFamily="2" charset="2"/>
      <a:buChar char="ü"/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buFont typeface="Wingdings" pitchFamily="2" charset="2"/>
      <a:buChar char="ü"/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buFont typeface="Wingdings" pitchFamily="2" charset="2"/>
      <a:buChar char="ü"/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buFont typeface="Wingdings" pitchFamily="2" charset="2"/>
      <a:buChar char="ü"/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4">
          <p15:clr>
            <a:srgbClr val="A4A3A4"/>
          </p15:clr>
        </p15:guide>
        <p15:guide id="2" pos="215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E5FE"/>
    <a:srgbClr val="828282"/>
    <a:srgbClr val="6F6F6F"/>
    <a:srgbClr val="929292"/>
    <a:srgbClr val="262626"/>
    <a:srgbClr val="CFFDFC"/>
    <a:srgbClr val="B6FCFA"/>
    <a:srgbClr val="F354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06" autoAdjust="0"/>
    <p:restoredTop sz="78341" autoAdjust="0"/>
  </p:normalViewPr>
  <p:slideViewPr>
    <p:cSldViewPr>
      <p:cViewPr varScale="1">
        <p:scale>
          <a:sx n="95" d="100"/>
          <a:sy n="95" d="100"/>
        </p:scale>
        <p:origin x="112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6"/>
    </p:cViewPr>
  </p:sorterViewPr>
  <p:notesViewPr>
    <p:cSldViewPr>
      <p:cViewPr>
        <p:scale>
          <a:sx n="75" d="100"/>
          <a:sy n="75" d="100"/>
        </p:scale>
        <p:origin x="-1452" y="-72"/>
      </p:cViewPr>
      <p:guideLst>
        <p:guide orient="horz" pos="3144"/>
        <p:guide pos="215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76" tIns="47838" rIns="95676" bIns="47838" numCol="1" anchor="t" anchorCtr="0" compatLnSpc="1">
            <a:prstTxWarp prst="textNoShape">
              <a:avLst/>
            </a:prstTxWarp>
          </a:bodyPr>
          <a:lstStyle>
            <a:lvl1pPr defTabSz="957049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ИТ стратегии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9850" y="0"/>
            <a:ext cx="2967038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76" tIns="47838" rIns="95676" bIns="47838" numCol="1" anchor="t" anchorCtr="0" compatLnSpc="1">
            <a:prstTxWarp prst="textNoShape">
              <a:avLst/>
            </a:prstTxWarp>
          </a:bodyPr>
          <a:lstStyle>
            <a:lvl1pPr algn="r" defTabSz="957049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18771BA-6FF2-4383-A03C-1C9470EFFFEF}" type="datetime1">
              <a:rPr lang="en-US"/>
              <a:pPr>
                <a:defRPr/>
              </a:pPr>
              <a:t>12/29/2025</a:t>
            </a:fld>
            <a:endParaRPr lang="en-US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80550"/>
            <a:ext cx="2967038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76" tIns="47838" rIns="95676" bIns="47838" numCol="1" anchor="b" anchorCtr="0" compatLnSpc="1">
            <a:prstTxWarp prst="textNoShape">
              <a:avLst/>
            </a:prstTxWarp>
          </a:bodyPr>
          <a:lstStyle>
            <a:lvl1pPr defTabSz="957049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9850" y="9480550"/>
            <a:ext cx="2967038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76" tIns="47838" rIns="95676" bIns="47838" numCol="1" anchor="b" anchorCtr="0" compatLnSpc="1">
            <a:prstTxWarp prst="textNoShape">
              <a:avLst/>
            </a:prstTxWarp>
          </a:bodyPr>
          <a:lstStyle>
            <a:lvl1pPr algn="r" defTabSz="957049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B512A45-BEC2-4C8A-BCDC-4AB7099839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34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54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45" tIns="46872" rIns="93745" bIns="46872" numCol="1" anchor="t" anchorCtr="0" compatLnSpc="1">
            <a:prstTxWarp prst="textNoShape">
              <a:avLst/>
            </a:prstTxWarp>
          </a:bodyPr>
          <a:lstStyle>
            <a:lvl1pPr defTabSz="937617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ИТ стратегии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038" y="0"/>
            <a:ext cx="2967037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45" tIns="46872" rIns="93745" bIns="46872" numCol="1" anchor="t" anchorCtr="0" compatLnSpc="1">
            <a:prstTxWarp prst="textNoShape">
              <a:avLst/>
            </a:prstTxWarp>
          </a:bodyPr>
          <a:lstStyle>
            <a:lvl1pPr algn="r" defTabSz="937617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A7782EB-C898-4415-A822-887ABC219BD9}" type="datetime1">
              <a:rPr lang="en-US"/>
              <a:pPr>
                <a:defRPr/>
              </a:pPr>
              <a:t>12/29/2025</a:t>
            </a:fld>
            <a:endParaRPr lang="en-US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35013"/>
            <a:ext cx="5018088" cy="3763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45038"/>
            <a:ext cx="50419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45" tIns="46872" rIns="93745" bIns="468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88488"/>
            <a:ext cx="29654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45" tIns="46872" rIns="93745" bIns="46872" numCol="1" anchor="b" anchorCtr="0" compatLnSpc="1">
            <a:prstTxWarp prst="textNoShape">
              <a:avLst/>
            </a:prstTxWarp>
          </a:bodyPr>
          <a:lstStyle>
            <a:lvl1pPr defTabSz="937617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038" y="9488488"/>
            <a:ext cx="2967037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45" tIns="46872" rIns="93745" bIns="46872" numCol="1" anchor="b" anchorCtr="0" compatLnSpc="1">
            <a:prstTxWarp prst="textNoShape">
              <a:avLst/>
            </a:prstTxWarp>
          </a:bodyPr>
          <a:lstStyle>
            <a:lvl1pPr algn="r" defTabSz="937617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107F00D-575F-4C6B-AC3C-9DDE250C6F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37022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817D7804-23CD-465C-9C70-376AF869F2C4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491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F0FE4B09-426D-4713-9FC7-064434F8EA78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491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66564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66565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BF7E722D-5753-4152-8B6C-DB7A423D2E5D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66566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2CFDDDEC-29AB-4C16-86D6-A4821D72507E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2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67588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67589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9CBEBFA2-E30B-420B-A21C-3BB3A43F4A4A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67590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FAB886E2-3C86-493F-AFEB-CC0D92BE7787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3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BD416-B5B4-1955-E28F-9D76357C5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Образ слайда 1">
            <a:extLst>
              <a:ext uri="{FF2B5EF4-FFF2-40B4-BE49-F238E27FC236}">
                <a16:creationId xmlns:a16="http://schemas.microsoft.com/office/drawing/2014/main" id="{43FE9594-DB21-BDA7-B675-10752FC565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Заметки 2">
            <a:extLst>
              <a:ext uri="{FF2B5EF4-FFF2-40B4-BE49-F238E27FC236}">
                <a16:creationId xmlns:a16="http://schemas.microsoft.com/office/drawing/2014/main" id="{FEA68007-3A07-F6C3-0735-4B2EDB137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67588" name="Верхний колонтитул 3">
            <a:extLst>
              <a:ext uri="{FF2B5EF4-FFF2-40B4-BE49-F238E27FC236}">
                <a16:creationId xmlns:a16="http://schemas.microsoft.com/office/drawing/2014/main" id="{E1CEA415-2D84-5BF1-9E44-1191223D9D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67589" name="Дата 4">
            <a:extLst>
              <a:ext uri="{FF2B5EF4-FFF2-40B4-BE49-F238E27FC236}">
                <a16:creationId xmlns:a16="http://schemas.microsoft.com/office/drawing/2014/main" id="{B055B512-3A81-4405-B7D3-920BE48671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9CBEBFA2-E30B-420B-A21C-3BB3A43F4A4A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67590" name="Номер слайда 5">
            <a:extLst>
              <a:ext uri="{FF2B5EF4-FFF2-40B4-BE49-F238E27FC236}">
                <a16:creationId xmlns:a16="http://schemas.microsoft.com/office/drawing/2014/main" id="{0A9D4560-C77E-6C93-6C5A-13C331B9D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FAB886E2-3C86-493F-AFEB-CC0D92BE7787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4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541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F1C7F-C65C-4547-111C-3C269E731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Образ слайда 1">
            <a:extLst>
              <a:ext uri="{FF2B5EF4-FFF2-40B4-BE49-F238E27FC236}">
                <a16:creationId xmlns:a16="http://schemas.microsoft.com/office/drawing/2014/main" id="{8BD5F255-9671-7A1C-01DC-422482B0C9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Заметки 2">
            <a:extLst>
              <a:ext uri="{FF2B5EF4-FFF2-40B4-BE49-F238E27FC236}">
                <a16:creationId xmlns:a16="http://schemas.microsoft.com/office/drawing/2014/main" id="{A99770C7-7D4F-384F-2DBE-BE2CDFAD2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67588" name="Верхний колонтитул 3">
            <a:extLst>
              <a:ext uri="{FF2B5EF4-FFF2-40B4-BE49-F238E27FC236}">
                <a16:creationId xmlns:a16="http://schemas.microsoft.com/office/drawing/2014/main" id="{1947E214-B5B0-3695-26B0-1811CF221F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67589" name="Дата 4">
            <a:extLst>
              <a:ext uri="{FF2B5EF4-FFF2-40B4-BE49-F238E27FC236}">
                <a16:creationId xmlns:a16="http://schemas.microsoft.com/office/drawing/2014/main" id="{AE4A3FB8-5946-97BD-E4BE-65F3DF661E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9CBEBFA2-E30B-420B-A21C-3BB3A43F4A4A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67590" name="Номер слайда 5">
            <a:extLst>
              <a:ext uri="{FF2B5EF4-FFF2-40B4-BE49-F238E27FC236}">
                <a16:creationId xmlns:a16="http://schemas.microsoft.com/office/drawing/2014/main" id="{A3F52F8F-3219-40DB-3BBD-C90B73AD4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FAB886E2-3C86-493F-AFEB-CC0D92BE7787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072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2D6FF-FB40-6B6E-A71B-6825054A7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Образ слайда 1">
            <a:extLst>
              <a:ext uri="{FF2B5EF4-FFF2-40B4-BE49-F238E27FC236}">
                <a16:creationId xmlns:a16="http://schemas.microsoft.com/office/drawing/2014/main" id="{C45746C2-B709-D0D0-812B-0D57E50007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Заметки 2">
            <a:extLst>
              <a:ext uri="{FF2B5EF4-FFF2-40B4-BE49-F238E27FC236}">
                <a16:creationId xmlns:a16="http://schemas.microsoft.com/office/drawing/2014/main" id="{00B352D8-DC28-830E-46A9-2E4EE1B29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67588" name="Верхний колонтитул 3">
            <a:extLst>
              <a:ext uri="{FF2B5EF4-FFF2-40B4-BE49-F238E27FC236}">
                <a16:creationId xmlns:a16="http://schemas.microsoft.com/office/drawing/2014/main" id="{6E741CF2-AAC4-B61C-4127-B2EAD70D55D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67589" name="Дата 4">
            <a:extLst>
              <a:ext uri="{FF2B5EF4-FFF2-40B4-BE49-F238E27FC236}">
                <a16:creationId xmlns:a16="http://schemas.microsoft.com/office/drawing/2014/main" id="{A5ABC0F3-0B2D-E106-CC81-384CFBD120E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9CBEBFA2-E30B-420B-A21C-3BB3A43F4A4A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67590" name="Номер слайда 5">
            <a:extLst>
              <a:ext uri="{FF2B5EF4-FFF2-40B4-BE49-F238E27FC236}">
                <a16:creationId xmlns:a16="http://schemas.microsoft.com/office/drawing/2014/main" id="{663F48C6-CAE8-DFD0-E517-BD15EEE64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FAB886E2-3C86-493F-AFEB-CC0D92BE7787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6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703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D3933-E0DF-1BBD-AB92-834EE5144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Образ слайда 1">
            <a:extLst>
              <a:ext uri="{FF2B5EF4-FFF2-40B4-BE49-F238E27FC236}">
                <a16:creationId xmlns:a16="http://schemas.microsoft.com/office/drawing/2014/main" id="{6EBDC373-1845-42F7-DC56-36E4637C52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Заметки 2">
            <a:extLst>
              <a:ext uri="{FF2B5EF4-FFF2-40B4-BE49-F238E27FC236}">
                <a16:creationId xmlns:a16="http://schemas.microsoft.com/office/drawing/2014/main" id="{22419E14-3950-E55D-B403-E7FB24005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67588" name="Верхний колонтитул 3">
            <a:extLst>
              <a:ext uri="{FF2B5EF4-FFF2-40B4-BE49-F238E27FC236}">
                <a16:creationId xmlns:a16="http://schemas.microsoft.com/office/drawing/2014/main" id="{911C35C5-DA5D-9405-E73D-16BEC22B3C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67589" name="Дата 4">
            <a:extLst>
              <a:ext uri="{FF2B5EF4-FFF2-40B4-BE49-F238E27FC236}">
                <a16:creationId xmlns:a16="http://schemas.microsoft.com/office/drawing/2014/main" id="{A6C8A99B-9CC4-CF3F-D00F-D3CC24135B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9CBEBFA2-E30B-420B-A21C-3BB3A43F4A4A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67590" name="Номер слайда 5">
            <a:extLst>
              <a:ext uri="{FF2B5EF4-FFF2-40B4-BE49-F238E27FC236}">
                <a16:creationId xmlns:a16="http://schemas.microsoft.com/office/drawing/2014/main" id="{7617B3EE-6BFB-6722-9594-B19E07C2E7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FAB886E2-3C86-493F-AFEB-CC0D92BE7787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7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782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76E58-FAFF-5BFE-570F-ADD10A7A9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Образ слайда 1">
            <a:extLst>
              <a:ext uri="{FF2B5EF4-FFF2-40B4-BE49-F238E27FC236}">
                <a16:creationId xmlns:a16="http://schemas.microsoft.com/office/drawing/2014/main" id="{015843AD-0FF9-FF35-DA19-D88888784A7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Заметки 2">
            <a:extLst>
              <a:ext uri="{FF2B5EF4-FFF2-40B4-BE49-F238E27FC236}">
                <a16:creationId xmlns:a16="http://schemas.microsoft.com/office/drawing/2014/main" id="{07E6A034-43B1-076E-780D-4C068A681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67588" name="Верхний колонтитул 3">
            <a:extLst>
              <a:ext uri="{FF2B5EF4-FFF2-40B4-BE49-F238E27FC236}">
                <a16:creationId xmlns:a16="http://schemas.microsoft.com/office/drawing/2014/main" id="{7E212AFA-8298-DB62-11EC-DC42F4171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67589" name="Дата 4">
            <a:extLst>
              <a:ext uri="{FF2B5EF4-FFF2-40B4-BE49-F238E27FC236}">
                <a16:creationId xmlns:a16="http://schemas.microsoft.com/office/drawing/2014/main" id="{07F7EEC3-B877-4A93-8ECA-5C65C08A193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9CBEBFA2-E30B-420B-A21C-3BB3A43F4A4A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67590" name="Номер слайда 5">
            <a:extLst>
              <a:ext uri="{FF2B5EF4-FFF2-40B4-BE49-F238E27FC236}">
                <a16:creationId xmlns:a16="http://schemas.microsoft.com/office/drawing/2014/main" id="{BE843816-1379-D327-5DF4-FD227FEB5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FAB886E2-3C86-493F-AFEB-CC0D92BE7787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8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740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B7D0C-5D28-81AC-77B8-610C38167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Образ слайда 1">
            <a:extLst>
              <a:ext uri="{FF2B5EF4-FFF2-40B4-BE49-F238E27FC236}">
                <a16:creationId xmlns:a16="http://schemas.microsoft.com/office/drawing/2014/main" id="{4BB629AE-3542-8970-AA72-0D40B24A28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Заметки 2">
            <a:extLst>
              <a:ext uri="{FF2B5EF4-FFF2-40B4-BE49-F238E27FC236}">
                <a16:creationId xmlns:a16="http://schemas.microsoft.com/office/drawing/2014/main" id="{559FCEF7-8618-F212-8481-9077610D0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67588" name="Верхний колонтитул 3">
            <a:extLst>
              <a:ext uri="{FF2B5EF4-FFF2-40B4-BE49-F238E27FC236}">
                <a16:creationId xmlns:a16="http://schemas.microsoft.com/office/drawing/2014/main" id="{E205CF6B-A9F0-E668-E304-6B3C260634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67589" name="Дата 4">
            <a:extLst>
              <a:ext uri="{FF2B5EF4-FFF2-40B4-BE49-F238E27FC236}">
                <a16:creationId xmlns:a16="http://schemas.microsoft.com/office/drawing/2014/main" id="{A72B096C-63A2-A3D3-CB05-EA5A949A29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9CBEBFA2-E30B-420B-A21C-3BB3A43F4A4A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67590" name="Номер слайда 5">
            <a:extLst>
              <a:ext uri="{FF2B5EF4-FFF2-40B4-BE49-F238E27FC236}">
                <a16:creationId xmlns:a16="http://schemas.microsoft.com/office/drawing/2014/main" id="{F0319451-76C5-816E-BC73-74295640ED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FAB886E2-3C86-493F-AFEB-CC0D92BE7787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9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4796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69636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69637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8897E94A-AD52-4C46-A9A5-2750D66ACCF0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69638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53A8B5E9-2072-4917-A63D-0DBCFFB4937A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10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68612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68613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9295DA29-821E-4385-9EC3-DA151050B89C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68614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4E86F120-09D7-49B5-91EA-EBC0945C4BDE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11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70660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70661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3FC36687-C85A-4A44-9C7E-2E8446543DA0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70662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8171661F-07B5-4139-BC55-5D87AFA28C04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1D8DE-7BEA-CC49-1701-D0A323715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Образ слайда 1">
            <a:extLst>
              <a:ext uri="{FF2B5EF4-FFF2-40B4-BE49-F238E27FC236}">
                <a16:creationId xmlns:a16="http://schemas.microsoft.com/office/drawing/2014/main" id="{80484E56-CB31-BD28-9512-0F0B8C8083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Заметки 2">
            <a:extLst>
              <a:ext uri="{FF2B5EF4-FFF2-40B4-BE49-F238E27FC236}">
                <a16:creationId xmlns:a16="http://schemas.microsoft.com/office/drawing/2014/main" id="{22E1F9B4-DE8F-DEF7-75AF-CD3E6CA34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70660" name="Верхний колонтитул 3">
            <a:extLst>
              <a:ext uri="{FF2B5EF4-FFF2-40B4-BE49-F238E27FC236}">
                <a16:creationId xmlns:a16="http://schemas.microsoft.com/office/drawing/2014/main" id="{DB64623A-3269-324B-1E7B-284BC1DAD5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70661" name="Дата 4">
            <a:extLst>
              <a:ext uri="{FF2B5EF4-FFF2-40B4-BE49-F238E27FC236}">
                <a16:creationId xmlns:a16="http://schemas.microsoft.com/office/drawing/2014/main" id="{EA54EF32-8571-E1B6-A441-A7CA7670F1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3FC36687-C85A-4A44-9C7E-2E8446543DA0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70662" name="Номер слайда 5">
            <a:extLst>
              <a:ext uri="{FF2B5EF4-FFF2-40B4-BE49-F238E27FC236}">
                <a16:creationId xmlns:a16="http://schemas.microsoft.com/office/drawing/2014/main" id="{F0DAA385-5862-B566-841C-3815AC095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8171661F-07B5-4139-BC55-5D87AFA28C04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13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6281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72708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72709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905925B4-3ED8-4024-A6B5-DFA1E71A6BA0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72710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B691D3C5-FC63-4528-911D-16F39D12A3CB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14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1C989-A76A-9B10-B416-31124FE1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026">
            <a:extLst>
              <a:ext uri="{FF2B5EF4-FFF2-40B4-BE49-F238E27FC236}">
                <a16:creationId xmlns:a16="http://schemas.microsoft.com/office/drawing/2014/main" id="{B467EBAF-985A-4D8E-9CEC-69B89BA76D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73731" name="Rectangle 1027">
            <a:extLst>
              <a:ext uri="{FF2B5EF4-FFF2-40B4-BE49-F238E27FC236}">
                <a16:creationId xmlns:a16="http://schemas.microsoft.com/office/drawing/2014/main" id="{4ECE58AB-931A-7A33-41F6-D55C72D3240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14C8A4B7-C172-40BA-8150-52A7E76AF083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73732" name="Rectangle 1031">
            <a:extLst>
              <a:ext uri="{FF2B5EF4-FFF2-40B4-BE49-F238E27FC236}">
                <a16:creationId xmlns:a16="http://schemas.microsoft.com/office/drawing/2014/main" id="{53723569-A80B-3C36-EA68-A4DC8CB164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D42F9C53-1913-4CE7-8D5D-CB999CA01262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73733" name="Rectangle 2">
            <a:extLst>
              <a:ext uri="{FF2B5EF4-FFF2-40B4-BE49-F238E27FC236}">
                <a16:creationId xmlns:a16="http://schemas.microsoft.com/office/drawing/2014/main" id="{F1498C71-6188-403E-6DD1-DC3F18B606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5038" y="750888"/>
            <a:ext cx="4986337" cy="3740150"/>
          </a:xfrm>
          <a:ln/>
        </p:spPr>
      </p:sp>
      <p:sp>
        <p:nvSpPr>
          <p:cNvPr id="73734" name="Rectangle 3">
            <a:extLst>
              <a:ext uri="{FF2B5EF4-FFF2-40B4-BE49-F238E27FC236}">
                <a16:creationId xmlns:a16="http://schemas.microsoft.com/office/drawing/2014/main" id="{CC26F6C9-9E44-87D2-25B0-558C520F21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4678363"/>
            <a:ext cx="6213475" cy="4751387"/>
          </a:xfrm>
          <a:noFill/>
        </p:spPr>
        <p:txBody>
          <a:bodyPr/>
          <a:lstStyle/>
          <a:p>
            <a:pPr eaLnBrk="1" hangingPunct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5262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75780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75781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9C941502-69D3-4F23-A02A-F51C44176588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75782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1D02B371-7F4D-4386-A8C6-1C3B4E0C2AA4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16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76804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76805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F624B310-ED08-43F0-92E7-10EB74422DD7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76806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DA8B5E24-7552-4F92-BC8C-B1C55C8D56DC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17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77828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77829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2352136C-AE5B-4FCB-AEE0-E29F4B62633D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77830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403991FF-49B8-4BD0-A467-E55087CB9259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18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026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80899" name="Rectangle 1027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049CFC04-FEB8-4CF1-BE4C-8752E94B3F16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090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30B08084-F927-47AA-8F2A-819CC5DDA1CA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19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09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5013"/>
            <a:ext cx="5018088" cy="3763962"/>
          </a:xfrm>
          <a:ln/>
        </p:spPr>
      </p:sp>
      <p:sp>
        <p:nvSpPr>
          <p:cNvPr id="8090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1009A-3A88-7D89-2596-7EB72543E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026">
            <a:extLst>
              <a:ext uri="{FF2B5EF4-FFF2-40B4-BE49-F238E27FC236}">
                <a16:creationId xmlns:a16="http://schemas.microsoft.com/office/drawing/2014/main" id="{BBCE1F31-A657-4AE7-D091-79666F1CE00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80899" name="Rectangle 1027">
            <a:extLst>
              <a:ext uri="{FF2B5EF4-FFF2-40B4-BE49-F238E27FC236}">
                <a16:creationId xmlns:a16="http://schemas.microsoft.com/office/drawing/2014/main" id="{253C5D93-42D3-D581-DC6B-5BB0BD686B4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049CFC04-FEB8-4CF1-BE4C-8752E94B3F16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0900" name="Rectangle 1031">
            <a:extLst>
              <a:ext uri="{FF2B5EF4-FFF2-40B4-BE49-F238E27FC236}">
                <a16:creationId xmlns:a16="http://schemas.microsoft.com/office/drawing/2014/main" id="{CBD9E443-9D75-042B-2F8B-0B09CD6CA4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30B08084-F927-47AA-8F2A-819CC5DDA1CA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20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0901" name="Rectangle 2">
            <a:extLst>
              <a:ext uri="{FF2B5EF4-FFF2-40B4-BE49-F238E27FC236}">
                <a16:creationId xmlns:a16="http://schemas.microsoft.com/office/drawing/2014/main" id="{94A41D58-495B-32C5-904D-EF8B225248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5013"/>
            <a:ext cx="5018088" cy="3763962"/>
          </a:xfrm>
          <a:ln/>
        </p:spPr>
      </p:sp>
      <p:sp>
        <p:nvSpPr>
          <p:cNvPr id="80902" name="Rectangle 3">
            <a:extLst>
              <a:ext uri="{FF2B5EF4-FFF2-40B4-BE49-F238E27FC236}">
                <a16:creationId xmlns:a16="http://schemas.microsoft.com/office/drawing/2014/main" id="{21C0941E-2744-33ED-3613-C5E7757B13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48510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79876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79877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D689382E-EA0E-48D4-8CB6-B4287BFB2A34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79878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D91813FB-EAB3-4EFC-9019-55BDB87A14ED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21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78852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78853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B4BB2567-33D8-4B20-86DC-D025559F1C5C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12/29/2025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78854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1A449B58-D040-47BA-98AF-8DA07F8E1834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22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hidden">
          <a:xfrm>
            <a:off x="0" y="5257800"/>
            <a:ext cx="9144000" cy="1600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hidden">
          <a:xfrm>
            <a:off x="0" y="0"/>
            <a:ext cx="9144000" cy="1600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</a:pPr>
            <a:endParaRPr lang="ru-RU" sz="2400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0" y="1600200"/>
            <a:ext cx="9144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>
            <a:off x="0" y="5257800"/>
            <a:ext cx="9144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3443288" y="1295400"/>
            <a:ext cx="355600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8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/>
            </a:pPr>
            <a:r>
              <a:rPr lang="en-US" sz="1600">
                <a:solidFill>
                  <a:schemeClr val="bg1"/>
                </a:solidFill>
                <a:cs typeface="Arial" pitchFamily="34" charset="0"/>
              </a:rPr>
              <a:t>   </a:t>
            </a:r>
            <a:endParaRPr lang="ru-RU" sz="160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267200"/>
            <a:ext cx="4343400" cy="914400"/>
          </a:xfrm>
        </p:spPr>
        <p:txBody>
          <a:bodyPr lIns="91440" tIns="18000" rIns="91440"/>
          <a:lstStyle>
            <a:lvl1pPr marL="0" indent="0">
              <a:buFont typeface="Wingdings" pitchFamily="2" charset="2"/>
              <a:buNone/>
              <a:defRPr sz="2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en-US" noProof="0"/>
              <a:t>Presentation subtitle</a:t>
            </a:r>
            <a:br>
              <a:rPr lang="en-US" altLang="en-US" noProof="0"/>
            </a:br>
            <a:r>
              <a:rPr lang="en-US" altLang="en-US" noProof="0"/>
              <a:t>or sectional title information</a:t>
            </a:r>
          </a:p>
          <a:p>
            <a:pPr lvl="0"/>
            <a:endParaRPr lang="en-US" noProof="0"/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ctrTitle" sz="quarter"/>
          </p:nvPr>
        </p:nvSpPr>
        <p:spPr>
          <a:xfrm>
            <a:off x="838200" y="2667000"/>
            <a:ext cx="5334000" cy="9144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 anchor="t"/>
          <a:lstStyle>
            <a:lvl1pPr>
              <a:defRPr sz="2500" b="1"/>
            </a:lvl1pPr>
          </a:lstStyle>
          <a:p>
            <a:pPr lvl="0"/>
            <a:r>
              <a:rPr lang="ru-RU" altLang="en-US" noProof="0"/>
              <a:t>…</a:t>
            </a:r>
            <a:endParaRPr lang="en-US" noProof="0"/>
          </a:p>
        </p:txBody>
      </p:sp>
      <p:sp>
        <p:nvSpPr>
          <p:cNvPr id="9" name="Rectangle 19"/>
          <p:cNvSpPr>
            <a:spLocks noGrp="1" noChangeArrowheads="1"/>
          </p:cNvSpPr>
          <p:nvPr>
            <p:ph type="ftr" sz="quarter" idx="10"/>
          </p:nvPr>
        </p:nvSpPr>
        <p:spPr>
          <a:xfrm>
            <a:off x="2362200" y="5867400"/>
            <a:ext cx="4114800" cy="323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ru-RU" sz="1200"/>
              <a:t>Москва,</a:t>
            </a:r>
            <a:r>
              <a:rPr lang="en-US" sz="1200"/>
              <a:t>  2008</a:t>
            </a: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139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230060-187A-4A87-9E77-DDA0303DCB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174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24A0C8-D2EC-4C6F-8216-1B9C965C36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86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78856-0C06-4715-B545-50A1BC7622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95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85744B-E6AC-49D9-9235-E824CFECAC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9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26CB45-17F4-4F43-823F-B86D2C45A7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76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C53724-3E35-4872-A8C9-CB6C570694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50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7B305B-95D3-49E7-BCEA-9E2AE0C03F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71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5B7843-21FB-43F2-B1BD-BFDFF0DFC9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7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60CE7C-1F3C-4FC3-9EC3-C281CC6D81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750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9436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9436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FF51E5-894C-4509-A5AC-1818F3F27A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432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382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371600"/>
            <a:ext cx="8229600" cy="5029200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919746-05DB-405A-818A-766FE0CC1B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08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hidden">
          <a:xfrm>
            <a:off x="0" y="6477000"/>
            <a:ext cx="9144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hidden">
          <a:xfrm>
            <a:off x="0" y="0"/>
            <a:ext cx="9144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Main Slide Title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Level One</a:t>
            </a:r>
          </a:p>
          <a:p>
            <a:pPr lvl="1"/>
            <a:r>
              <a:rPr lang="en-US"/>
              <a:t>Level Two</a:t>
            </a:r>
          </a:p>
          <a:p>
            <a:pPr lvl="2"/>
            <a:r>
              <a:rPr lang="en-US"/>
              <a:t>Level Three</a:t>
            </a:r>
          </a:p>
          <a:p>
            <a:pPr lvl="3"/>
            <a:r>
              <a:rPr lang="en-US"/>
              <a:t>Level Four</a:t>
            </a:r>
          </a:p>
          <a:p>
            <a:pPr lvl="4"/>
            <a:r>
              <a:rPr lang="en-US"/>
              <a:t>Level Five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" y="6534150"/>
            <a:ext cx="12192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4000" tIns="68400" rIns="91440" bIns="45720" numCol="1" anchor="t" anchorCtr="0" compatLnSpc="1">
            <a:prstTxWarp prst="textNoShape">
              <a:avLst/>
            </a:prstTxWarp>
          </a:bodyPr>
          <a:lstStyle>
            <a:lvl1pPr>
              <a:buFontTx/>
              <a:buNone/>
              <a:defRPr sz="1000">
                <a:solidFill>
                  <a:schemeClr val="bg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6095391D-11AB-4FFA-B478-0547194A73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Line 12"/>
          <p:cNvSpPr>
            <a:spLocks noChangeShapeType="1"/>
          </p:cNvSpPr>
          <p:nvPr/>
        </p:nvSpPr>
        <p:spPr bwMode="auto">
          <a:xfrm flipV="1">
            <a:off x="1524000" y="6477000"/>
            <a:ext cx="0" cy="228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32" name="Line 13"/>
          <p:cNvSpPr>
            <a:spLocks noChangeShapeType="1"/>
          </p:cNvSpPr>
          <p:nvPr/>
        </p:nvSpPr>
        <p:spPr bwMode="auto">
          <a:xfrm>
            <a:off x="0" y="381000"/>
            <a:ext cx="9144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1033" name="Line 14"/>
          <p:cNvSpPr>
            <a:spLocks noChangeShapeType="1"/>
          </p:cNvSpPr>
          <p:nvPr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1034" name="Line 15"/>
          <p:cNvSpPr>
            <a:spLocks noChangeShapeType="1"/>
          </p:cNvSpPr>
          <p:nvPr/>
        </p:nvSpPr>
        <p:spPr bwMode="auto">
          <a:xfrm>
            <a:off x="457200" y="1295400"/>
            <a:ext cx="8229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38400" y="6534150"/>
            <a:ext cx="41148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68400" rIns="91440" bIns="45720" numCol="1" anchor="t" anchorCtr="0" compatLnSpc="1">
            <a:prstTxWarp prst="textNoShape">
              <a:avLst/>
            </a:prstTxWarp>
          </a:bodyPr>
          <a:lstStyle>
            <a:lvl1pPr algn="ctr">
              <a:buFontTx/>
              <a:buNone/>
              <a:defRPr sz="1000">
                <a:solidFill>
                  <a:schemeClr val="bg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1036" name="Text Box 17"/>
          <p:cNvSpPr txBox="1">
            <a:spLocks noChangeArrowheads="1"/>
          </p:cNvSpPr>
          <p:nvPr/>
        </p:nvSpPr>
        <p:spPr bwMode="auto">
          <a:xfrm>
            <a:off x="6705600" y="6540500"/>
            <a:ext cx="2438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>
              <a:buFontTx/>
              <a:buNone/>
              <a:defRPr/>
            </a:pPr>
            <a:r>
              <a:rPr lang="en-US" altLang="en-US" sz="1200">
                <a:solidFill>
                  <a:schemeClr val="bg1"/>
                </a:solidFill>
                <a:cs typeface="Arial" pitchFamily="34" charset="0"/>
              </a:rPr>
              <a:t> 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9pPr>
    </p:titleStyle>
    <p:bodyStyle>
      <a:lvl1pPr marL="192088" indent="-192088" algn="l" rtl="0" eaLnBrk="0" fontAlgn="base" hangingPunct="0">
        <a:spcBef>
          <a:spcPct val="40000"/>
        </a:spcBef>
        <a:spcAft>
          <a:spcPct val="0"/>
        </a:spcAft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63550" indent="-185738" algn="l" rtl="0" eaLnBrk="0" fontAlgn="base" hangingPunct="0">
        <a:spcBef>
          <a:spcPct val="40000"/>
        </a:spcBef>
        <a:spcAft>
          <a:spcPct val="0"/>
        </a:spcAft>
        <a:buFont typeface="Arial" charset="0"/>
        <a:buChar char="-"/>
        <a:defRPr sz="1600">
          <a:solidFill>
            <a:schemeClr val="tx1"/>
          </a:solidFill>
          <a:latin typeface="+mn-lt"/>
          <a:cs typeface="+mn-cs"/>
        </a:defRPr>
      </a:lvl2pPr>
      <a:lvl3pPr marL="768350" indent="-193675" algn="l" rtl="0" eaLnBrk="0" fontAlgn="base" hangingPunct="0">
        <a:spcBef>
          <a:spcPct val="4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cs typeface="+mn-cs"/>
        </a:defRPr>
      </a:lvl3pPr>
      <a:lvl4pPr marL="1052513" indent="-180975" algn="l" rtl="0" eaLnBrk="0" fontAlgn="base" hangingPunct="0">
        <a:spcBef>
          <a:spcPct val="40000"/>
        </a:spcBef>
        <a:spcAft>
          <a:spcPct val="0"/>
        </a:spcAft>
        <a:buFont typeface="Arial" charset="0"/>
        <a:buChar char="-"/>
        <a:defRPr sz="1600">
          <a:solidFill>
            <a:schemeClr val="tx1"/>
          </a:solidFill>
          <a:latin typeface="+mn-lt"/>
          <a:cs typeface="+mn-cs"/>
        </a:defRPr>
      </a:lvl4pPr>
      <a:lvl5pPr marL="1381125" indent="-146050" algn="l" rtl="0" eaLnBrk="0" fontAlgn="base" hangingPunct="0">
        <a:spcBef>
          <a:spcPct val="40000"/>
        </a:spcBef>
        <a:spcAft>
          <a:spcPct val="0"/>
        </a:spcAft>
        <a:buFont typeface="Arial" charset="0"/>
        <a:buChar char="-"/>
        <a:defRPr sz="1400">
          <a:solidFill>
            <a:schemeClr val="tx1"/>
          </a:solidFill>
          <a:latin typeface="+mn-lt"/>
          <a:cs typeface="+mn-cs"/>
        </a:defRPr>
      </a:lvl5pPr>
      <a:lvl6pPr marL="1838325" indent="-146050" algn="l" rtl="0" fontAlgn="base">
        <a:spcBef>
          <a:spcPct val="40000"/>
        </a:spcBef>
        <a:spcAft>
          <a:spcPct val="0"/>
        </a:spcAft>
        <a:buFont typeface="Arial" charset="0"/>
        <a:buChar char="-"/>
        <a:defRPr sz="1400">
          <a:solidFill>
            <a:schemeClr val="tx1"/>
          </a:solidFill>
          <a:latin typeface="+mn-lt"/>
          <a:cs typeface="+mn-cs"/>
        </a:defRPr>
      </a:lvl6pPr>
      <a:lvl7pPr marL="2295525" indent="-146050" algn="l" rtl="0" fontAlgn="base">
        <a:spcBef>
          <a:spcPct val="40000"/>
        </a:spcBef>
        <a:spcAft>
          <a:spcPct val="0"/>
        </a:spcAft>
        <a:buFont typeface="Arial" charset="0"/>
        <a:buChar char="-"/>
        <a:defRPr sz="1400">
          <a:solidFill>
            <a:schemeClr val="tx1"/>
          </a:solidFill>
          <a:latin typeface="+mn-lt"/>
          <a:cs typeface="+mn-cs"/>
        </a:defRPr>
      </a:lvl7pPr>
      <a:lvl8pPr marL="2752725" indent="-146050" algn="l" rtl="0" fontAlgn="base">
        <a:spcBef>
          <a:spcPct val="40000"/>
        </a:spcBef>
        <a:spcAft>
          <a:spcPct val="0"/>
        </a:spcAft>
        <a:buFont typeface="Arial" charset="0"/>
        <a:buChar char="-"/>
        <a:defRPr sz="1400">
          <a:solidFill>
            <a:schemeClr val="tx1"/>
          </a:solidFill>
          <a:latin typeface="+mn-lt"/>
          <a:cs typeface="+mn-cs"/>
        </a:defRPr>
      </a:lvl8pPr>
      <a:lvl9pPr marL="3209925" indent="-146050" algn="l" rtl="0" fontAlgn="base">
        <a:spcBef>
          <a:spcPct val="40000"/>
        </a:spcBef>
        <a:spcAft>
          <a:spcPct val="0"/>
        </a:spcAft>
        <a:buFont typeface="Arial" charset="0"/>
        <a:buChar char="-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304800" y="4800600"/>
            <a:ext cx="39624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8000">
            <a:spAutoFit/>
          </a:bodyPr>
          <a:lstStyle/>
          <a:p>
            <a:pPr algn="ctr" eaLnBrk="0" hangingPunct="0">
              <a:lnSpc>
                <a:spcPct val="12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ru-RU">
                <a:ea typeface="Arial Unicode MS" pitchFamily="34" charset="-128"/>
                <a:cs typeface="Arial Unicode MS" pitchFamily="34" charset="-128"/>
              </a:rPr>
              <a:t>   </a:t>
            </a:r>
            <a:endParaRPr lang="en-US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026" name="Picture 2" descr="Компания Mundfish — о компании, фотографии офиса, контакты — Хабр Карьера">
            <a:extLst>
              <a:ext uri="{FF2B5EF4-FFF2-40B4-BE49-F238E27FC236}">
                <a16:creationId xmlns:a16="http://schemas.microsoft.com/office/drawing/2014/main" id="{7BCE92F7-B0B6-3F3B-561A-DFD7A1D1C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943100"/>
            <a:ext cx="2857500" cy="2857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A55486-CE03-8BF2-DF11-A6940E722B12}"/>
              </a:ext>
            </a:extLst>
          </p:cNvPr>
          <p:cNvSpPr txBox="1"/>
          <p:nvPr/>
        </p:nvSpPr>
        <p:spPr>
          <a:xfrm>
            <a:off x="914400" y="2971800"/>
            <a:ext cx="39624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</a:rPr>
              <a:t>IT </a:t>
            </a:r>
            <a:r>
              <a:rPr lang="ru-RU" sz="3200" b="1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</a:rPr>
              <a:t>Стратегия</a:t>
            </a:r>
          </a:p>
          <a:p>
            <a:pPr algn="ctr">
              <a:buNone/>
            </a:pPr>
            <a:r>
              <a:rPr lang="ru-RU" sz="3200" b="1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</a:rPr>
              <a:t>«</a:t>
            </a:r>
            <a:r>
              <a:rPr lang="vi-VN" sz="3200" b="1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</a:rPr>
              <a:t>Mundfish</a:t>
            </a:r>
            <a:r>
              <a:rPr lang="ru-RU" sz="3200" b="1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</a:rPr>
              <a:t>»</a:t>
            </a:r>
          </a:p>
          <a:p>
            <a:pPr algn="ctr">
              <a:buNone/>
            </a:pP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Основные слайды простой ИТ стратегии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94B30D-93F5-4B0D-ADEE-B9A06A82FF0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20485" name="Объект 2"/>
          <p:cNvSpPr txBox="1">
            <a:spLocks/>
          </p:cNvSpPr>
          <p:nvPr/>
        </p:nvSpPr>
        <p:spPr bwMode="auto">
          <a:xfrm>
            <a:off x="457200" y="1371600"/>
            <a:ext cx="4419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26987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ru-RU" sz="1500">
                <a:cs typeface="Arial" charset="0"/>
              </a:rPr>
              <a:t>1. Требования бизнеса к ИТ, цели ИТ</a:t>
            </a:r>
          </a:p>
          <a:p>
            <a:pPr lvl="1">
              <a:buFont typeface="Arial" charset="0"/>
              <a:buNone/>
            </a:pPr>
            <a:r>
              <a:rPr lang="ru-RU" sz="1500">
                <a:cs typeface="Arial" charset="0"/>
              </a:rPr>
              <a:t>1.1. Цели бизнеса</a:t>
            </a:r>
          </a:p>
          <a:p>
            <a:pPr lvl="1">
              <a:buFont typeface="Arial" charset="0"/>
              <a:buNone/>
            </a:pPr>
            <a:r>
              <a:rPr lang="ru-RU" sz="1500">
                <a:cs typeface="Arial" charset="0"/>
              </a:rPr>
              <a:t>1.2. Требования бизнеса к ИТ</a:t>
            </a:r>
          </a:p>
          <a:p>
            <a:pPr lvl="1">
              <a:buNone/>
            </a:pPr>
            <a:r>
              <a:rPr lang="ru-RU" sz="1500">
                <a:cs typeface="Arial" charset="0"/>
              </a:rPr>
              <a:t>1.3. Недостатки в текущем состоянии ИТ</a:t>
            </a:r>
          </a:p>
          <a:p>
            <a:pPr lvl="1">
              <a:buFont typeface="Arial" charset="0"/>
              <a:buNone/>
            </a:pPr>
            <a:r>
              <a:rPr lang="ru-RU" sz="1500">
                <a:cs typeface="Arial" charset="0"/>
              </a:rPr>
              <a:t>1.4. Видение и миссия ИТ</a:t>
            </a:r>
          </a:p>
          <a:p>
            <a:pPr lvl="1">
              <a:buFont typeface="Arial" charset="0"/>
              <a:buNone/>
            </a:pPr>
            <a:r>
              <a:rPr lang="ru-RU" sz="1500">
                <a:cs typeface="Arial" charset="0"/>
              </a:rPr>
              <a:t>1.5. Стратегические цели ИТ</a:t>
            </a:r>
          </a:p>
          <a:p>
            <a:pPr>
              <a:buFont typeface="Wingdings" pitchFamily="2" charset="2"/>
              <a:buNone/>
            </a:pPr>
            <a:r>
              <a:rPr lang="ru-RU" sz="1500">
                <a:cs typeface="Arial" charset="0"/>
              </a:rPr>
              <a:t>2. Приложения и данные</a:t>
            </a:r>
          </a:p>
          <a:p>
            <a:pPr lvl="1">
              <a:buFont typeface="Arial" charset="0"/>
              <a:buNone/>
            </a:pPr>
            <a:r>
              <a:rPr lang="ru-RU" sz="1500">
                <a:cs typeface="Arial" charset="0"/>
              </a:rPr>
              <a:t>2.</a:t>
            </a:r>
            <a:r>
              <a:rPr lang="en-US" sz="1500">
                <a:cs typeface="Arial" charset="0"/>
              </a:rPr>
              <a:t>1</a:t>
            </a:r>
            <a:r>
              <a:rPr lang="ru-RU" sz="1500">
                <a:cs typeface="Arial" charset="0"/>
              </a:rPr>
              <a:t>. ИТ сервисы (или приложения)</a:t>
            </a:r>
          </a:p>
          <a:p>
            <a:pPr>
              <a:buFont typeface="Wingdings" pitchFamily="2" charset="2"/>
              <a:buNone/>
            </a:pPr>
            <a:r>
              <a:rPr lang="ru-RU" sz="1500">
                <a:cs typeface="Arial" charset="0"/>
              </a:rPr>
              <a:t>3. Инфраструктура ИТ</a:t>
            </a:r>
          </a:p>
          <a:p>
            <a:pPr lvl="1">
              <a:buFont typeface="Arial" charset="0"/>
              <a:buNone/>
            </a:pPr>
            <a:r>
              <a:rPr lang="ru-RU" sz="1500">
                <a:cs typeface="Arial" charset="0"/>
              </a:rPr>
              <a:t>3.1. ЦОДы</a:t>
            </a:r>
          </a:p>
          <a:p>
            <a:pPr lvl="1">
              <a:buFont typeface="Arial" charset="0"/>
              <a:buNone/>
            </a:pPr>
            <a:r>
              <a:rPr lang="ru-RU" sz="1500">
                <a:cs typeface="Arial" charset="0"/>
              </a:rPr>
              <a:t>3.2. Коммуникации</a:t>
            </a:r>
          </a:p>
          <a:p>
            <a:pPr>
              <a:buFont typeface="Wingdings" pitchFamily="2" charset="2"/>
              <a:buNone/>
            </a:pPr>
            <a:r>
              <a:rPr lang="ru-RU" sz="1500">
                <a:cs typeface="Arial" charset="0"/>
              </a:rPr>
              <a:t>4. Управление ИТ</a:t>
            </a:r>
          </a:p>
          <a:p>
            <a:pPr lvl="1">
              <a:buFont typeface="Arial" charset="0"/>
              <a:buNone/>
            </a:pPr>
            <a:r>
              <a:rPr lang="ru-RU" sz="1500">
                <a:cs typeface="Arial" charset="0"/>
              </a:rPr>
              <a:t>4.1. Аутсорсинг</a:t>
            </a:r>
          </a:p>
          <a:p>
            <a:pPr lvl="1">
              <a:buNone/>
            </a:pPr>
            <a:r>
              <a:rPr lang="ru-RU" sz="1500">
                <a:cs typeface="Arial" charset="0"/>
              </a:rPr>
              <a:t>4.2. ИТ процессы</a:t>
            </a:r>
          </a:p>
          <a:p>
            <a:pPr lvl="1">
              <a:buFont typeface="Arial" charset="0"/>
              <a:buNone/>
            </a:pPr>
            <a:r>
              <a:rPr lang="ru-RU" sz="1500">
                <a:cs typeface="Arial" charset="0"/>
              </a:rPr>
              <a:t>4.3. Численность сотрудников ИТ</a:t>
            </a:r>
          </a:p>
          <a:p>
            <a:pPr lvl="1">
              <a:buNone/>
            </a:pPr>
            <a:r>
              <a:rPr lang="ru-RU" sz="1500">
                <a:cs typeface="Arial" charset="0"/>
              </a:rPr>
              <a:t>4.4. Оргструктура ИТ службы</a:t>
            </a:r>
          </a:p>
          <a:p>
            <a:pPr>
              <a:buFont typeface="Arial" charset="0"/>
              <a:buNone/>
            </a:pPr>
            <a:r>
              <a:rPr lang="ru-RU" sz="1500">
                <a:cs typeface="Arial" charset="0"/>
              </a:rPr>
              <a:t>5. ИТ проекты</a:t>
            </a:r>
          </a:p>
          <a:p>
            <a:pPr lvl="1">
              <a:buFont typeface="Arial" charset="0"/>
              <a:buNone/>
            </a:pPr>
            <a:r>
              <a:rPr lang="ru-RU" sz="1500">
                <a:cs typeface="Arial" charset="0"/>
              </a:rPr>
              <a:t>5.1. Сравнение проектов</a:t>
            </a:r>
          </a:p>
          <a:p>
            <a:pPr lvl="1">
              <a:buFont typeface="Arial" charset="0"/>
              <a:buNone/>
            </a:pPr>
            <a:r>
              <a:rPr lang="ru-RU" sz="1500">
                <a:cs typeface="Arial" charset="0"/>
              </a:rPr>
              <a:t>5.2. План проектов</a:t>
            </a:r>
          </a:p>
          <a:p>
            <a:pPr lvl="1">
              <a:buFont typeface="Arial" charset="0"/>
              <a:buNone/>
            </a:pPr>
            <a:r>
              <a:rPr lang="ru-RU" sz="1500">
                <a:cs typeface="Arial" charset="0"/>
              </a:rPr>
              <a:t>5.3. Описание проектов</a:t>
            </a:r>
          </a:p>
          <a:p>
            <a:pPr>
              <a:buFont typeface="Wingdings" pitchFamily="2" charset="2"/>
              <a:buNone/>
            </a:pPr>
            <a:r>
              <a:rPr lang="ru-RU" sz="1500">
                <a:cs typeface="Arial" charset="0"/>
              </a:rPr>
              <a:t>6. Пересмотр ИТ стратегии</a:t>
            </a:r>
          </a:p>
          <a:p>
            <a:pPr>
              <a:buFont typeface="Wingdings" pitchFamily="2" charset="2"/>
              <a:buNone/>
            </a:pPr>
            <a:endParaRPr lang="ru-RU" sz="1500" dirty="0">
              <a:cs typeface="Arial" charset="0"/>
            </a:endParaRPr>
          </a:p>
        </p:txBody>
      </p:sp>
      <p:pic>
        <p:nvPicPr>
          <p:cNvPr id="1026" name="Picture 2" descr="Mundfish">
            <a:extLst>
              <a:ext uri="{FF2B5EF4-FFF2-40B4-BE49-F238E27FC236}">
                <a16:creationId xmlns:a16="http://schemas.microsoft.com/office/drawing/2014/main" id="{7FA48FA3-E677-37E6-6278-CA486A607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486" y="3276600"/>
            <a:ext cx="3875314" cy="16954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0. Бизнес-стратегия компании </a:t>
            </a:r>
            <a:r>
              <a:rPr lang="en-US" dirty="0" err="1"/>
              <a:t>Mundfish</a:t>
            </a:r>
            <a:br>
              <a:rPr lang="ru-RU" dirty="0"/>
            </a:br>
            <a:r>
              <a:rPr lang="ru-RU" dirty="0"/>
              <a:t>0.1. Базовая стратегия развития компании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55E992-B1E2-423B-96F9-78549BD89F2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197E2-8188-D690-C4BB-C755C6627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32" y="1666875"/>
            <a:ext cx="8229600" cy="502920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Базовая стратегия компании </a:t>
            </a:r>
            <a:r>
              <a:rPr lang="ru-RU" dirty="0" err="1"/>
              <a:t>Mundfish</a:t>
            </a:r>
            <a:r>
              <a:rPr lang="ru-RU" dirty="0"/>
              <a:t> определяется как </a:t>
            </a:r>
            <a:r>
              <a:rPr lang="ru-RU" b="1" dirty="0"/>
              <a:t>стратегия роста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Деятельность компании ориентирована на расширение продуктовой линейки, развитие собственных игровых франшиз и укрепление позиций на международном рынке видеоигр.</a:t>
            </a:r>
          </a:p>
          <a:p>
            <a:r>
              <a:rPr lang="ru-RU" dirty="0"/>
              <a:t>Стратегия роста реализуется за счёт:</a:t>
            </a:r>
          </a:p>
          <a:p>
            <a:r>
              <a:rPr lang="ru-RU" dirty="0"/>
              <a:t>развития и масштабирования ключевого продукта </a:t>
            </a:r>
            <a:r>
              <a:rPr lang="ru-RU" i="1" dirty="0"/>
              <a:t>Atomic Heart</a:t>
            </a:r>
            <a:r>
              <a:rPr lang="ru-RU" dirty="0"/>
              <a:t>;</a:t>
            </a:r>
          </a:p>
          <a:p>
            <a:r>
              <a:rPr lang="ru-RU" dirty="0"/>
              <a:t>выпуска дополнений (DLC) и последующих частей игры;</a:t>
            </a:r>
          </a:p>
          <a:p>
            <a:r>
              <a:rPr lang="ru-RU" dirty="0"/>
              <a:t>расширения присутствия на глобальных цифровых платформах (</a:t>
            </a:r>
            <a:r>
              <a:rPr lang="ru-RU" dirty="0" err="1"/>
              <a:t>Steam</a:t>
            </a:r>
            <a:r>
              <a:rPr lang="ru-RU" dirty="0"/>
              <a:t>, Game </a:t>
            </a:r>
            <a:r>
              <a:rPr lang="ru-RU" dirty="0" err="1"/>
              <a:t>Pass</a:t>
            </a:r>
            <a:r>
              <a:rPr lang="ru-RU" dirty="0"/>
              <a:t>);</a:t>
            </a:r>
          </a:p>
          <a:p>
            <a:r>
              <a:rPr lang="ru-RU" dirty="0"/>
              <a:t>привлечения новых аудиторий и партнёров за пределами локального рынка.</a:t>
            </a:r>
          </a:p>
          <a:p>
            <a:pPr marL="0" indent="0">
              <a:buNone/>
            </a:pPr>
            <a:r>
              <a:rPr lang="ru-RU" dirty="0"/>
              <a:t>Выбор стратегии роста обусловлен высокой конкуренцией в индустрии видеоигр и необходимостью постоянного обновления контента и технологий для сохранения интереса пользователей.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3949E-DD33-C88A-2622-4D9C0802D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Заголовок 1">
            <a:extLst>
              <a:ext uri="{FF2B5EF4-FFF2-40B4-BE49-F238E27FC236}">
                <a16:creationId xmlns:a16="http://schemas.microsoft.com/office/drawing/2014/main" id="{9A23ACFA-EC36-FE62-DFE4-AE13B57BF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0.2. Матрица </a:t>
            </a:r>
            <a:r>
              <a:rPr lang="ru-RU" dirty="0" err="1"/>
              <a:t>Ансоффа</a:t>
            </a:r>
            <a:r>
              <a:rPr lang="ru-RU" dirty="0"/>
              <a:t> (бизнес-стратегия </a:t>
            </a:r>
            <a:r>
              <a:rPr lang="en-US" dirty="0" err="1"/>
              <a:t>Mundfish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0CB637-6F78-8CAF-725C-F1C1F43872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55E992-B1E2-423B-96F9-78549BD89F2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A0BEC8-941D-ADC7-29C5-CF15AAE13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E869C8-4385-FA96-1C55-EB8F17D2E657}"/>
              </a:ext>
            </a:extLst>
          </p:cNvPr>
          <p:cNvSpPr/>
          <p:nvPr/>
        </p:nvSpPr>
        <p:spPr bwMode="auto">
          <a:xfrm>
            <a:off x="2819400" y="2438400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Times New Roman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00E8C3-22F3-F310-F117-FFE34687F1E2}"/>
              </a:ext>
            </a:extLst>
          </p:cNvPr>
          <p:cNvSpPr/>
          <p:nvPr/>
        </p:nvSpPr>
        <p:spPr bwMode="auto">
          <a:xfrm>
            <a:off x="2667000" y="2133600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Times New Roman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A796B4-1897-F4BA-7AE9-13692C85A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1318"/>
            <a:ext cx="5234506" cy="4414724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284BE75-D870-98AE-8A0D-E7815EA02B50}"/>
              </a:ext>
            </a:extLst>
          </p:cNvPr>
          <p:cNvSpPr txBox="1">
            <a:spLocks/>
          </p:cNvSpPr>
          <p:nvPr/>
        </p:nvSpPr>
        <p:spPr bwMode="auto">
          <a:xfrm>
            <a:off x="5562600" y="2209800"/>
            <a:ext cx="2807368" cy="1990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2088" indent="-192088" algn="l" rtl="0" eaLnBrk="0" fontAlgn="base" hangingPunct="0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3550" indent="-185738" algn="l" rtl="0" eaLnBrk="0" fontAlgn="base" hangingPunct="0">
              <a:spcBef>
                <a:spcPct val="40000"/>
              </a:spcBef>
              <a:spcAft>
                <a:spcPct val="0"/>
              </a:spcAft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  <a:cs typeface="+mn-cs"/>
              </a:defRPr>
            </a:lvl2pPr>
            <a:lvl3pPr marL="768350" indent="-193675" algn="l" rtl="0" eaLnBrk="0" fontAlgn="base" hangingPunct="0">
              <a:spcBef>
                <a:spcPct val="4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cs typeface="+mn-cs"/>
              </a:defRPr>
            </a:lvl3pPr>
            <a:lvl4pPr marL="1052513" indent="-180975" algn="l" rtl="0" eaLnBrk="0" fontAlgn="base" hangingPunct="0">
              <a:spcBef>
                <a:spcPct val="40000"/>
              </a:spcBef>
              <a:spcAft>
                <a:spcPct val="0"/>
              </a:spcAft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381125" indent="-146050" algn="l" rtl="0" eaLnBrk="0" fontAlgn="base" hangingPunct="0">
              <a:spcBef>
                <a:spcPct val="40000"/>
              </a:spcBef>
              <a:spcAft>
                <a:spcPct val="0"/>
              </a:spcAft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5pPr>
            <a:lvl6pPr marL="1838325" indent="-146050" algn="l" rtl="0" fontAlgn="base">
              <a:spcBef>
                <a:spcPct val="40000"/>
              </a:spcBef>
              <a:spcAft>
                <a:spcPct val="0"/>
              </a:spcAft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6pPr>
            <a:lvl7pPr marL="2295525" indent="-146050" algn="l" rtl="0" fontAlgn="base">
              <a:spcBef>
                <a:spcPct val="40000"/>
              </a:spcBef>
              <a:spcAft>
                <a:spcPct val="0"/>
              </a:spcAft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2752725" indent="-146050" algn="l" rtl="0" fontAlgn="base">
              <a:spcBef>
                <a:spcPct val="40000"/>
              </a:spcBef>
              <a:spcAft>
                <a:spcPct val="0"/>
              </a:spcAft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3209925" indent="-146050" algn="l" rtl="0" fontAlgn="base">
              <a:spcBef>
                <a:spcPct val="40000"/>
              </a:spcBef>
              <a:spcAft>
                <a:spcPct val="0"/>
              </a:spcAft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/>
              <a:t>Основная стратегия по матрице </a:t>
            </a:r>
            <a:r>
              <a:rPr lang="ru-RU" b="1" dirty="0" err="1"/>
              <a:t>Ансоффа</a:t>
            </a:r>
            <a:r>
              <a:rPr lang="ru-RU" b="1" dirty="0"/>
              <a:t> — развитие продукта.</a:t>
            </a:r>
            <a:endParaRPr lang="vi-VN" b="1" dirty="0"/>
          </a:p>
          <a:p>
            <a:pPr marL="0" indent="0">
              <a:buNone/>
            </a:pPr>
            <a:br>
              <a:rPr lang="ru-RU" dirty="0"/>
            </a:br>
            <a:r>
              <a:rPr lang="ru-RU" dirty="0"/>
              <a:t>Компания </a:t>
            </a:r>
            <a:r>
              <a:rPr lang="ru-RU" dirty="0" err="1"/>
              <a:t>Mundfish</a:t>
            </a:r>
            <a:r>
              <a:rPr lang="ru-RU" dirty="0"/>
              <a:t> ориентируется на расширение и развитие существующих игровых продуктов за счёт выпуска DLC, продолжений и углубления игровой вселенной </a:t>
            </a:r>
            <a:r>
              <a:rPr lang="ru-RU" i="1" dirty="0"/>
              <a:t>Atomic Heart</a:t>
            </a:r>
            <a:r>
              <a:rPr lang="ru-RU" dirty="0"/>
              <a:t>.</a:t>
            </a:r>
            <a:endParaRPr lang="ru-RU" kern="0" dirty="0"/>
          </a:p>
        </p:txBody>
      </p:sp>
    </p:spTree>
    <p:extLst>
      <p:ext uri="{BB962C8B-B14F-4D97-AF65-F5344CB8AC3E}">
        <p14:creationId xmlns:p14="http://schemas.microsoft.com/office/powerpoint/2010/main" val="4163054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71319-EF2B-0FC1-0F62-8563F5E95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Заголовок 1">
            <a:extLst>
              <a:ext uri="{FF2B5EF4-FFF2-40B4-BE49-F238E27FC236}">
                <a16:creationId xmlns:a16="http://schemas.microsoft.com/office/drawing/2014/main" id="{C06BC7F2-2E5C-3C60-FEAE-7A21FD647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0.2. Стратегия развития по матрице </a:t>
            </a:r>
            <a:r>
              <a:rPr lang="ru-RU" dirty="0" err="1"/>
              <a:t>Ансоффа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D48C07-7600-41D5-3295-FEABA851B4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55E992-B1E2-423B-96F9-78549BD89F2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325FDB-0C8B-6B8F-64FF-A724607FC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B2FA1-5943-54C7-4D1B-15A9DD276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32" y="1666875"/>
            <a:ext cx="8229600" cy="502920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соответствии с матрицей </a:t>
            </a:r>
            <a:r>
              <a:rPr lang="ru-RU" dirty="0" err="1"/>
              <a:t>Ансоффа</a:t>
            </a:r>
            <a:r>
              <a:rPr lang="ru-RU" dirty="0"/>
              <a:t>, основная стратегия развития компании </a:t>
            </a:r>
            <a:r>
              <a:rPr lang="ru-RU" b="1" dirty="0" err="1"/>
              <a:t>Mundfish</a:t>
            </a:r>
            <a:r>
              <a:rPr lang="ru-RU" dirty="0"/>
              <a:t> относится к типу </a:t>
            </a:r>
            <a:r>
              <a:rPr lang="ru-RU" b="1" dirty="0"/>
              <a:t>развитие продукта</a:t>
            </a:r>
            <a:r>
              <a:rPr lang="ru-RU" dirty="0"/>
              <a:t>.</a:t>
            </a:r>
          </a:p>
          <a:p>
            <a:r>
              <a:rPr lang="ru-RU" dirty="0"/>
              <a:t>Компания ориентируется на:</a:t>
            </a:r>
          </a:p>
          <a:p>
            <a:r>
              <a:rPr lang="ru-RU" dirty="0"/>
              <a:t>создание новых версий и расширений существующих игровых продуктов;</a:t>
            </a:r>
          </a:p>
          <a:p>
            <a:r>
              <a:rPr lang="ru-RU" dirty="0"/>
              <a:t>углубление и развитие игрового мира </a:t>
            </a:r>
            <a:r>
              <a:rPr lang="ru-RU" i="1" dirty="0"/>
              <a:t>Atomic Heart</a:t>
            </a:r>
            <a:r>
              <a:rPr lang="ru-RU" dirty="0"/>
              <a:t>;</a:t>
            </a:r>
          </a:p>
          <a:p>
            <a:r>
              <a:rPr lang="ru-RU" dirty="0"/>
              <a:t>внедрение новых механик, сюжетных линий и технологических решений;</a:t>
            </a:r>
          </a:p>
          <a:p>
            <a:r>
              <a:rPr lang="ru-RU" dirty="0"/>
              <a:t>повышение качества графики, производительности и пользовательского опыта.</a:t>
            </a:r>
          </a:p>
          <a:p>
            <a:pPr marL="0" indent="0">
              <a:buNone/>
            </a:pPr>
            <a:r>
              <a:rPr lang="ru-RU" dirty="0"/>
              <a:t>Стратегия развития продукта позволяет компании минимизировать риски, связанные с выходом на новые рынки, и одновременно усиливать лояльность уже сформированной аудитории за счёт постоянного обновления и улучшения продукта.</a:t>
            </a:r>
          </a:p>
        </p:txBody>
      </p:sp>
    </p:spTree>
    <p:extLst>
      <p:ext uri="{BB962C8B-B14F-4D97-AF65-F5344CB8AC3E}">
        <p14:creationId xmlns:p14="http://schemas.microsoft.com/office/powerpoint/2010/main" val="1850709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F57C9-A815-DA89-0BDE-6ABD1FD46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Заголовок 1">
            <a:extLst>
              <a:ext uri="{FF2B5EF4-FFF2-40B4-BE49-F238E27FC236}">
                <a16:creationId xmlns:a16="http://schemas.microsoft.com/office/drawing/2014/main" id="{BCD6ACD9-347B-6D10-3208-C3E8A7BB7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38200"/>
          </a:xfrm>
        </p:spPr>
        <p:txBody>
          <a:bodyPr wrap="square" anchor="b">
            <a:normAutofit/>
          </a:bodyPr>
          <a:lstStyle/>
          <a:p>
            <a:r>
              <a:rPr lang="ru-RU" dirty="0"/>
              <a:t>0.3. Конкурентная стратегия по М. Портеру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A6C8C-730C-CE33-25DF-260A97312F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4038600" cy="3276600"/>
          </a:xfrm>
        </p:spPr>
        <p:txBody>
          <a:bodyPr wrap="square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ru-RU" sz="2000" b="1" dirty="0"/>
              <a:t>Конкурентная стратегия компании </a:t>
            </a:r>
            <a:r>
              <a:rPr lang="ru-RU" sz="2000" b="1" dirty="0" err="1"/>
              <a:t>Mundfish</a:t>
            </a:r>
            <a:r>
              <a:rPr lang="ru-RU" sz="2000" b="1" dirty="0"/>
              <a:t> — дифференциация.</a:t>
            </a:r>
            <a:endParaRPr lang="vi-VN" sz="2000" b="1" dirty="0"/>
          </a:p>
          <a:p>
            <a:pPr marL="0" indent="0">
              <a:lnSpc>
                <a:spcPct val="90000"/>
              </a:lnSpc>
              <a:buNone/>
            </a:pPr>
            <a:br>
              <a:rPr lang="ru-RU" sz="2000" dirty="0"/>
            </a:br>
            <a:r>
              <a:rPr lang="ru-RU" sz="2000" dirty="0"/>
              <a:t>Компания формирует конкурентные преимущества за счёт уникального визуального стиля, оригинального сюжета и высокого качества игрового опыта, а не за счёт ценовой конкуренции.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EF5EEF-C9B7-66A5-6BDA-9A5443933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275808"/>
            <a:ext cx="4038600" cy="3220783"/>
          </a:xfrm>
          <a:prstGeom prst="rect">
            <a:avLst/>
          </a:prstGeom>
          <a:noFill/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E68640-B141-CDA1-B33C-B1D611BB79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04800" y="6534150"/>
            <a:ext cx="1219200" cy="3238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4255E992-B1E2-423B-96F9-78549BD89F20}" type="slidenum">
              <a:rPr lang="en-US" smtClean="0"/>
              <a:pPr>
                <a:spcAft>
                  <a:spcPts val="600"/>
                </a:spcAft>
                <a:defRPr/>
              </a:pPr>
              <a:t>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501E7F-40F7-BAE4-D9CA-FECDE3A28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8400" y="6534150"/>
            <a:ext cx="4114800" cy="3238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endParaRPr lang="en-US" sz="9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960034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E8BBB-7025-9360-BF83-DBC3792DE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Заголовок 1">
            <a:extLst>
              <a:ext uri="{FF2B5EF4-FFF2-40B4-BE49-F238E27FC236}">
                <a16:creationId xmlns:a16="http://schemas.microsoft.com/office/drawing/2014/main" id="{A38B8889-038A-ABA9-008F-4097A7DB0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0.3. Конкурентная стратегия по М. Портеру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FCF26C-9E7E-1749-AFB1-2ADC20143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55E992-B1E2-423B-96F9-78549BD89F20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663EA1-F203-95C1-461A-A7503AA55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4A61F-C368-3EFF-6715-DE34A1487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32" y="1666875"/>
            <a:ext cx="8229600" cy="502920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С точки зрения конкурентных стратегий Майкла Портера, компания </a:t>
            </a:r>
            <a:r>
              <a:rPr lang="ru-RU" b="1" dirty="0" err="1"/>
              <a:t>Mundfish</a:t>
            </a:r>
            <a:r>
              <a:rPr lang="ru-RU" dirty="0"/>
              <a:t> реализует стратегию </a:t>
            </a:r>
            <a:r>
              <a:rPr lang="ru-RU" b="1" dirty="0"/>
              <a:t>дифференциации</a:t>
            </a:r>
            <a:r>
              <a:rPr lang="ru-RU" dirty="0"/>
              <a:t>.</a:t>
            </a:r>
          </a:p>
          <a:p>
            <a:r>
              <a:rPr lang="ru-RU" dirty="0"/>
              <a:t>Основными источниками конкурентных преимуществ компании являются:</a:t>
            </a:r>
          </a:p>
          <a:p>
            <a:r>
              <a:rPr lang="ru-RU" dirty="0"/>
              <a:t>уникальный художественный стиль и визуальная идентичность игр;</a:t>
            </a:r>
          </a:p>
          <a:p>
            <a:r>
              <a:rPr lang="ru-RU" dirty="0"/>
              <a:t>оригинальный сюжет и глубокий нарратив;</a:t>
            </a:r>
          </a:p>
          <a:p>
            <a:r>
              <a:rPr lang="ru-RU" dirty="0"/>
              <a:t>высокий уровень проработки игрового мира и атмосферы;</a:t>
            </a:r>
          </a:p>
          <a:p>
            <a:r>
              <a:rPr lang="ru-RU" dirty="0"/>
              <a:t>использование современных технологий разработки и графики.</a:t>
            </a:r>
          </a:p>
          <a:p>
            <a:pPr marL="0" indent="0">
              <a:buNone/>
            </a:pPr>
            <a:r>
              <a:rPr lang="ru-RU" dirty="0"/>
              <a:t>Компания не ориентируется на ценовую конкуренцию, а формирует ценность продукта за счёт уникального пользовательского опыта и оригинальности контента, что позволяет выделяться среди конкурентов в сегменте ААА-игр.</a:t>
            </a:r>
          </a:p>
        </p:txBody>
      </p:sp>
    </p:spTree>
    <p:extLst>
      <p:ext uri="{BB962C8B-B14F-4D97-AF65-F5344CB8AC3E}">
        <p14:creationId xmlns:p14="http://schemas.microsoft.com/office/powerpoint/2010/main" val="1210668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4F55-EC7C-4B93-17D4-98A21EA28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Заголовок 1">
            <a:extLst>
              <a:ext uri="{FF2B5EF4-FFF2-40B4-BE49-F238E27FC236}">
                <a16:creationId xmlns:a16="http://schemas.microsoft.com/office/drawing/2014/main" id="{7448EA55-56CF-9F4C-4495-CC3CE26EA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0.4. Связь бизнес-стратегии и ИТ-стратегии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D64115-E836-1EE4-7D6D-DDD8068D8A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55E992-B1E2-423B-96F9-78549BD89F20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4235AC-9E0C-1DA0-2A1F-C2475ADF8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2F388-2CFC-2553-F085-C02F9EDDD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32" y="1666875"/>
            <a:ext cx="8229600" cy="502920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Выбранная бизнес-стратегия напрямую определяет требования к ИТ-стратегии компании.</a:t>
            </a:r>
            <a:br>
              <a:rPr lang="ru-RU" dirty="0"/>
            </a:br>
            <a:r>
              <a:rPr lang="ru-RU" dirty="0"/>
              <a:t>Стратегия роста, развитие продукта и дифференциация требуют:</a:t>
            </a:r>
          </a:p>
          <a:p>
            <a:r>
              <a:rPr lang="ru-RU" dirty="0"/>
              <a:t>высокой гибкости ИТ-инфраструктуры;</a:t>
            </a:r>
          </a:p>
          <a:p>
            <a:r>
              <a:rPr lang="ru-RU" dirty="0"/>
              <a:t>развития </a:t>
            </a:r>
            <a:r>
              <a:rPr lang="ru-RU" dirty="0" err="1"/>
              <a:t>DevOps</a:t>
            </a:r>
            <a:r>
              <a:rPr lang="ru-RU" dirty="0"/>
              <a:t> и CI/CD-процессов;</a:t>
            </a:r>
          </a:p>
          <a:p>
            <a:r>
              <a:rPr lang="ru-RU" dirty="0"/>
              <a:t>надёжной защиты интеллектуальной собственности;</a:t>
            </a:r>
          </a:p>
          <a:p>
            <a:r>
              <a:rPr lang="ru-RU" dirty="0"/>
              <a:t>внедрения аналитических инструментов для оценки продаж и поведения игроков;</a:t>
            </a:r>
          </a:p>
          <a:p>
            <a:r>
              <a:rPr lang="ru-RU" dirty="0"/>
              <a:t>поддержки распределённой разработки и международных команд.</a:t>
            </a:r>
          </a:p>
          <a:p>
            <a:pPr marL="0" indent="0">
              <a:buNone/>
            </a:pPr>
            <a:r>
              <a:rPr lang="ru-RU" dirty="0"/>
              <a:t>Таким образом, ИТ-стратегия компании </a:t>
            </a:r>
            <a:r>
              <a:rPr lang="ru-RU" dirty="0" err="1"/>
              <a:t>Mundfish</a:t>
            </a:r>
            <a:r>
              <a:rPr lang="ru-RU" dirty="0"/>
              <a:t> выступает инструментом реализации бизнес-стратегии и обеспечивает технологическую основу для устойчивого развития компании.</a:t>
            </a:r>
          </a:p>
        </p:txBody>
      </p:sp>
    </p:spTree>
    <p:extLst>
      <p:ext uri="{BB962C8B-B14F-4D97-AF65-F5344CB8AC3E}">
        <p14:creationId xmlns:p14="http://schemas.microsoft.com/office/powerpoint/2010/main" val="2599347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30F79-965C-689E-44DB-3BE7F4CA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Заголовок 1">
            <a:extLst>
              <a:ext uri="{FF2B5EF4-FFF2-40B4-BE49-F238E27FC236}">
                <a16:creationId xmlns:a16="http://schemas.microsoft.com/office/drawing/2014/main" id="{F090392D-78C6-35D7-2638-0A3CF1505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1. Требования бизнеса к ИТ, цели ИТ</a:t>
            </a:r>
            <a:br>
              <a:rPr lang="ru-RU"/>
            </a:br>
            <a:r>
              <a:rPr lang="ru-RU"/>
              <a:t>1.1. Цели бизнеса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B72AA66-5A8C-08E4-B227-2B5FFF5C5B6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2014337"/>
          <a:ext cx="8229600" cy="381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61441874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3431348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Требование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Обоснование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387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Обеспечение кибербезопасности и защита интеллектуальной собственности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Как студия с уникальным IP и технологическим стеком, </a:t>
                      </a:r>
                      <a:r>
                        <a:rPr lang="ru-RU" sz="1400" dirty="0" err="1"/>
                        <a:t>Mundfish</a:t>
                      </a:r>
                      <a:r>
                        <a:rPr lang="ru-RU" sz="1400" dirty="0"/>
                        <a:t> должна защищать исходный код и данные от утечек (общая практика для игровых студий).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6601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Поддержка распределённой работы команд через облачную инфраструктуру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Mundfish</a:t>
                      </a:r>
                      <a:r>
                        <a:rPr lang="ru-RU" sz="1400" dirty="0"/>
                        <a:t> имеет офисы / сотрудников в разных странах (Кипр, Абу-Даби и прочие)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97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Интеграция инструментов управления проектами, контроля версий и CI/CD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Для разработки игр AAA требуется связанный поток инструментов (</a:t>
                      </a:r>
                      <a:r>
                        <a:rPr lang="ru-RU" sz="1400" dirty="0" err="1"/>
                        <a:t>Jira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Git</a:t>
                      </a:r>
                      <a:r>
                        <a:rPr lang="ru-RU" sz="1400" dirty="0"/>
                        <a:t>, CI/CD) — стандарт в индустрии.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6298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Внедрение аналитики (BI) и CRM для взаимодействия с игроками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Нужно собирать данные об игроках, отзывах и продажах для принятия решений маркетинга.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4555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Централизованное управление ресурсами и оптимизация затрат на лицензии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Для масштабирования студии важно контролировать расходы на ПО, инфраструктуру, лицензии.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4544454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31F3FA-D288-D89B-BAA4-E2572F1ACC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55E992-B1E2-423B-96F9-78549BD89F2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0B1CBF-37E9-EEB5-BD29-007CE7A50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21510" name="Rectangle 25">
            <a:extLst>
              <a:ext uri="{FF2B5EF4-FFF2-40B4-BE49-F238E27FC236}">
                <a16:creationId xmlns:a16="http://schemas.microsoft.com/office/drawing/2014/main" id="{02931D19-7DED-9CAA-0A59-B9C67A608C0B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03225" y="1354138"/>
            <a:ext cx="668337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038" rIns="0" bIns="46038"/>
          <a:lstStyle>
            <a:lvl1pPr marL="304800" indent="-3048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40000"/>
              </a:spcBef>
              <a:buFont typeface="Wingdings" pitchFamily="2" charset="2"/>
              <a:buNone/>
            </a:pPr>
            <a:r>
              <a:rPr lang="ru-RU" sz="2000" i="1" dirty="0">
                <a:solidFill>
                  <a:srgbClr val="FF0000"/>
                </a:solidFill>
                <a:cs typeface="Arial" charset="0"/>
              </a:rPr>
              <a:t>Требования бизнеса к компании </a:t>
            </a:r>
            <a:r>
              <a:rPr lang="ru-RU" sz="2000" i="1" dirty="0" err="1">
                <a:solidFill>
                  <a:srgbClr val="FF0000"/>
                </a:solidFill>
                <a:cs typeface="Arial" charset="0"/>
              </a:rPr>
              <a:t>Mundfish</a:t>
            </a:r>
            <a:endParaRPr lang="de-DE" sz="2000" i="1" dirty="0">
              <a:solidFill>
                <a:srgbClr val="FF000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75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 Требования бизнеса к ИТ, цели ИТ</a:t>
            </a:r>
            <a:br>
              <a:rPr lang="ru-RU" dirty="0"/>
            </a:br>
            <a:r>
              <a:rPr lang="ru-RU" dirty="0"/>
              <a:t>1.2. Требования бизнеса к ИТ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9E2AC6-9CEA-48D4-930A-B8F8255846D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6" name="Прямоугольник 4"/>
          <p:cNvSpPr>
            <a:spLocks noChangeArrowheads="1"/>
          </p:cNvSpPr>
          <p:nvPr/>
        </p:nvSpPr>
        <p:spPr bwMode="auto">
          <a:xfrm>
            <a:off x="457200" y="1600200"/>
            <a:ext cx="83058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ru-RU" sz="1400" b="1" dirty="0"/>
              <a:t>Самые важные требования бизнеса к ИТ:</a:t>
            </a:r>
            <a:endParaRPr lang="ru-RU" sz="1400" dirty="0"/>
          </a:p>
          <a:p>
            <a:r>
              <a:rPr lang="ru-RU" sz="1400" dirty="0"/>
              <a:t>Обеспечение кибербезопасности и защиты исходного кода игр </a:t>
            </a:r>
            <a:r>
              <a:rPr lang="ru-RU" sz="1400" i="1" dirty="0"/>
              <a:t>(защита интеллектуальной собственности)</a:t>
            </a:r>
            <a:r>
              <a:rPr lang="ru-RU" sz="1400" dirty="0"/>
              <a:t>.</a:t>
            </a:r>
          </a:p>
          <a:p>
            <a:r>
              <a:rPr lang="ru-RU" sz="1400" dirty="0"/>
              <a:t>Поддержка распределённой работы международных команд через облачные сервисы и VPN-инфраструктуру.</a:t>
            </a:r>
          </a:p>
          <a:p>
            <a:r>
              <a:rPr lang="ru-RU" sz="1400" dirty="0"/>
              <a:t>Интеграция инструментов управления разработкой (</a:t>
            </a:r>
            <a:r>
              <a:rPr lang="ru-RU" sz="1400" dirty="0" err="1"/>
              <a:t>Unreal</a:t>
            </a:r>
            <a:r>
              <a:rPr lang="ru-RU" sz="1400" dirty="0"/>
              <a:t> Engine, </a:t>
            </a:r>
            <a:r>
              <a:rPr lang="ru-RU" sz="1400" dirty="0" err="1"/>
              <a:t>Git</a:t>
            </a:r>
            <a:r>
              <a:rPr lang="ru-RU" sz="1400" dirty="0"/>
              <a:t>, </a:t>
            </a:r>
            <a:r>
              <a:rPr lang="ru-RU" sz="1400" dirty="0" err="1"/>
              <a:t>Jira</a:t>
            </a:r>
            <a:r>
              <a:rPr lang="ru-RU" sz="1400" dirty="0"/>
              <a:t>) в единую </a:t>
            </a:r>
            <a:r>
              <a:rPr lang="ru-RU" sz="1400" dirty="0" err="1"/>
              <a:t>DevOps</a:t>
            </a:r>
            <a:r>
              <a:rPr lang="ru-RU" sz="1400" dirty="0"/>
              <a:t>-платформу.</a:t>
            </a:r>
          </a:p>
          <a:p>
            <a:r>
              <a:rPr lang="ru-RU" sz="1400" dirty="0"/>
              <a:t>Развитие BI-аналитики для оценки продаж и пользовательских отзывов (</a:t>
            </a:r>
            <a:r>
              <a:rPr lang="ru-RU" sz="1400" dirty="0" err="1"/>
              <a:t>Steam</a:t>
            </a:r>
            <a:r>
              <a:rPr lang="ru-RU" sz="1400" dirty="0"/>
              <a:t>, Game </a:t>
            </a:r>
            <a:r>
              <a:rPr lang="ru-RU" sz="1400" dirty="0" err="1"/>
              <a:t>Pass</a:t>
            </a:r>
            <a:r>
              <a:rPr lang="ru-RU" sz="1400" dirty="0"/>
              <a:t>).</a:t>
            </a:r>
          </a:p>
          <a:p>
            <a:r>
              <a:rPr lang="ru-RU" sz="1400" dirty="0"/>
              <a:t>Повышение надёжности и бесперебойности работы серверов и хранилищ данных.</a:t>
            </a:r>
            <a:endParaRPr lang="vi-VN" sz="1400" dirty="0"/>
          </a:p>
          <a:p>
            <a:endParaRPr lang="vi-VN" sz="1400" dirty="0"/>
          </a:p>
          <a:p>
            <a:pPr>
              <a:buNone/>
            </a:pPr>
            <a:endParaRPr lang="ru-RU" sz="1400" dirty="0"/>
          </a:p>
          <a:p>
            <a:pPr>
              <a:buNone/>
            </a:pPr>
            <a:r>
              <a:rPr lang="ru-RU" sz="1400" b="1" dirty="0"/>
              <a:t>Важные требования бизнеса к ИТ:</a:t>
            </a:r>
            <a:endParaRPr lang="ru-RU" sz="1400" dirty="0"/>
          </a:p>
          <a:p>
            <a:r>
              <a:rPr lang="ru-RU" sz="1400" dirty="0"/>
              <a:t>Автоматизация внутренних процессов (планирование, документооборот).</a:t>
            </a:r>
          </a:p>
          <a:p>
            <a:r>
              <a:rPr lang="ru-RU" sz="1400" dirty="0"/>
              <a:t>Централизация управления ИТ-ресурсами и лицензиями для снижения затрат.</a:t>
            </a:r>
          </a:p>
          <a:p>
            <a:r>
              <a:rPr lang="ru-RU" sz="1400" dirty="0"/>
              <a:t>Внедрение CRM-системы для взаимодействия с игровым сообществом и партнёрами.</a:t>
            </a:r>
          </a:p>
          <a:p>
            <a:r>
              <a:rPr lang="ru-RU" sz="1400" dirty="0"/>
              <a:t>Обеспечение соответствия требованиям международных издателей (Focus Entertainment, Microsoft).</a:t>
            </a:r>
          </a:p>
          <a:p>
            <a:r>
              <a:rPr lang="ru-RU" sz="1400" dirty="0"/>
              <a:t>Разработка и регулярное обновление корпоративной ИТ-стратегии.</a:t>
            </a:r>
          </a:p>
          <a:p>
            <a:pPr marL="342900" indent="-342900">
              <a:buFont typeface="+mj-lt"/>
              <a:buAutoNum type="arabicPeriod"/>
              <a:defRPr/>
            </a:pPr>
            <a:endParaRPr lang="ru-RU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 Требования бизнеса к ИТ, цели ИТ</a:t>
            </a:r>
            <a:br>
              <a:rPr lang="ru-RU" dirty="0"/>
            </a:br>
            <a:r>
              <a:rPr lang="ru-RU" dirty="0"/>
              <a:t>1.3. Недостатки в текущем состоянии ИТ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A376B1-8B0D-4EB9-A2D7-B8CE90A82C19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019994"/>
              </p:ext>
            </p:extLst>
          </p:nvPr>
        </p:nvGraphicFramePr>
        <p:xfrm>
          <a:off x="457200" y="1371600"/>
          <a:ext cx="8305800" cy="4431351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838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3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3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44">
                <a:tc gridSpan="3"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Font typeface="Arial" pitchFamily="34" charset="0"/>
                        <a:buNone/>
                      </a:pPr>
                      <a:r>
                        <a:rPr lang="ru-RU" sz="1600" dirty="0"/>
                        <a:t>Недостатки в текущем состоянии ИТ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ru-RU" sz="1200" dirty="0">
                        <a:effectLst/>
                        <a:latin typeface="+mn-lt"/>
                        <a:ea typeface="MS Mincho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ru-RU" sz="1200" dirty="0">
                        <a:effectLst/>
                        <a:latin typeface="+mn-lt"/>
                        <a:ea typeface="MS Mincho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3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Приложения</a:t>
                      </a:r>
                      <a:r>
                        <a:rPr lang="vi-VN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600" dirty="0"/>
                        <a:t>(информационные системы)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Инфраструктура ИТ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Управление ИТ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1384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Отсутствие интеграции между инструментами разработки (</a:t>
                      </a:r>
                      <a:r>
                        <a:rPr lang="ru-RU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Unreal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Engine, системы контроля версий, планировщики задач). 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400" dirty="0"/>
                        <a:t>Риски утечек данных и кибербезопасности, вызванные размещением части инфраструктуры в разных странах. </a:t>
                      </a:r>
                      <a:endParaRPr lang="vi-VN" sz="1400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400" dirty="0"/>
                        <a:t>Отсутствие формализованных ИТ-процессов и централизованной службы поддержки (Help Desk).</a:t>
                      </a:r>
                      <a:endParaRPr lang="vi-VN" sz="1400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13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400" dirty="0"/>
                        <a:t>Недостаточная автоматизация внутреннего документооборота и планирования проектов.</a:t>
                      </a:r>
                      <a:endParaRPr lang="vi-VN" sz="1400" dirty="0"/>
                    </a:p>
                    <a:p>
                      <a:pPr marL="285750" lvl="0" indent="-285750" algn="l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ru-RU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400" dirty="0"/>
                        <a:t>Неравномерная нагрузка на серверы при </a:t>
                      </a:r>
                      <a:r>
                        <a:rPr lang="ru-RU" sz="1400" dirty="0" err="1"/>
                        <a:t>мультиплеерных</a:t>
                      </a:r>
                      <a:r>
                        <a:rPr lang="ru-RU" sz="1400" dirty="0"/>
                        <a:t> тестах и распространении обновлений DLC. </a:t>
                      </a:r>
                      <a:endParaRPr lang="vi-VN" sz="1400" dirty="0"/>
                    </a:p>
                    <a:p>
                      <a:pPr marL="0" lvl="0" indent="-187325" algn="l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endParaRPr lang="vi-V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400" dirty="0"/>
                        <a:t>Ограниченная прозрачность в управлении ИТ-бюджетом и затратами на лицензии.</a:t>
                      </a:r>
                      <a:endParaRPr lang="vi-VN" sz="1400" dirty="0"/>
                    </a:p>
                    <a:p>
                      <a:pPr marL="0" lvl="0" indent="0" algn="l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endParaRPr lang="ru-RU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5832809"/>
                  </a:ext>
                </a:extLst>
              </a:tr>
              <a:tr h="9413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400" dirty="0"/>
                        <a:t>Отсутствие BI/CRM-платформ для анализа игроков и продаж (данные обрабатываются частично через внешние сервисы </a:t>
                      </a:r>
                      <a:r>
                        <a:rPr lang="ru-RU" sz="1400" dirty="0" err="1"/>
                        <a:t>Steam</a:t>
                      </a:r>
                      <a:r>
                        <a:rPr lang="ru-RU" sz="1400" dirty="0"/>
                        <a:t> и Game </a:t>
                      </a:r>
                      <a:r>
                        <a:rPr lang="ru-RU" sz="1400" dirty="0" err="1"/>
                        <a:t>Pass</a:t>
                      </a:r>
                      <a:r>
                        <a:rPr lang="ru-RU" sz="1400" dirty="0"/>
                        <a:t>). </a:t>
                      </a:r>
                      <a:endParaRPr lang="ru-RU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 algn="l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ru-RU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400" dirty="0"/>
                        <a:t>Недостаток резервного копирования и регулярного тестирования аварийного восстановления (</a:t>
                      </a:r>
                      <a:r>
                        <a:rPr lang="ru-RU" sz="1400" dirty="0" err="1"/>
                        <a:t>Disaster</a:t>
                      </a:r>
                      <a:r>
                        <a:rPr lang="ru-RU" sz="1400" dirty="0"/>
                        <a:t> Recovery).</a:t>
                      </a:r>
                      <a:endParaRPr lang="vi-V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400" dirty="0"/>
                        <a:t>Дефицит ИТ-персонала в областях информационной безопасности и аналитики.</a:t>
                      </a:r>
                      <a:endParaRPr lang="ru-RU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endParaRPr lang="ru-RU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5136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1. Требования бизнеса к ИТ, цели ИТ</a:t>
            </a:r>
            <a:br>
              <a:rPr lang="ru-RU"/>
            </a:br>
            <a:r>
              <a:rPr lang="ru-RU"/>
              <a:t>1.4. Видение и миссия ИТ</a:t>
            </a:r>
            <a:br>
              <a:rPr lang="ru-RU"/>
            </a:br>
            <a:r>
              <a:rPr lang="ru-RU"/>
              <a:t>1.5. Стратегические цели ИТ</a:t>
            </a:r>
          </a:p>
        </p:txBody>
      </p:sp>
      <p:sp>
        <p:nvSpPr>
          <p:cNvPr id="6" name="Номер слайда 3"/>
          <p:cNvSpPr txBox="1">
            <a:spLocks noGrp="1"/>
          </p:cNvSpPr>
          <p:nvPr/>
        </p:nvSpPr>
        <p:spPr bwMode="auto">
          <a:xfrm>
            <a:off x="304800" y="6534150"/>
            <a:ext cx="1219200" cy="3238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44000" tIns="68400"/>
          <a:lstStyle/>
          <a:p>
            <a:pPr>
              <a:buFontTx/>
              <a:buNone/>
              <a:defRPr/>
            </a:pPr>
            <a:fld id="{F55BB111-FA95-44D2-B5C9-8FFAD4202038}" type="slidenum">
              <a:rPr lang="en-US" sz="1000">
                <a:solidFill>
                  <a:schemeClr val="bg1"/>
                </a:solidFill>
                <a:cs typeface="+mn-cs"/>
              </a:rPr>
              <a:pPr>
                <a:buFontTx/>
                <a:buNone/>
                <a:defRPr/>
              </a:pPr>
              <a:t>12</a:t>
            </a:fld>
            <a:endParaRPr lang="en-US" sz="1000">
              <a:solidFill>
                <a:schemeClr val="bg1"/>
              </a:solidFill>
              <a:cs typeface="+mn-cs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B1AB8BC-1B3F-2F2F-94ED-14AC0F775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1524000"/>
            <a:ext cx="8412162" cy="47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" tIns="7200" rIns="10800" bIns="7200">
            <a:spAutoFit/>
          </a:bodyPr>
          <a:lstStyle/>
          <a:p>
            <a:pPr>
              <a:buNone/>
            </a:pPr>
            <a:r>
              <a:rPr lang="ru-RU" sz="1600" b="1" dirty="0"/>
              <a:t>Видение ИТ</a:t>
            </a:r>
          </a:p>
          <a:p>
            <a:pPr>
              <a:buNone/>
            </a:pPr>
            <a:r>
              <a:rPr lang="ru-RU" sz="1600" dirty="0"/>
              <a:t>ИТ-служба </a:t>
            </a:r>
            <a:r>
              <a:rPr lang="ru-RU" sz="1600" dirty="0" err="1"/>
              <a:t>Mundfish</a:t>
            </a:r>
            <a:r>
              <a:rPr lang="ru-RU" sz="1600" dirty="0"/>
              <a:t> — это стратегический партнёр бизнеса, обеспечивающий технологическую устойчивость, безопасность и инновационное развитие студии.</a:t>
            </a:r>
            <a:br>
              <a:rPr lang="ru-RU" sz="1600" dirty="0"/>
            </a:br>
            <a:r>
              <a:rPr lang="ru-RU" sz="1600" dirty="0"/>
              <a:t>Цель — создать гибкую, надёжную и цифровую платформу, объединяющую все этапы разработки игр, аналитику, и взаимодействие с глобальным сообществом игроков.</a:t>
            </a:r>
          </a:p>
          <a:p>
            <a:pPr>
              <a:buNone/>
            </a:pPr>
            <a:r>
              <a:rPr lang="ru-RU" sz="1600" b="1" dirty="0"/>
              <a:t>Основные направления видения:</a:t>
            </a:r>
            <a:endParaRPr lang="ru-RU" sz="1600" dirty="0"/>
          </a:p>
          <a:p>
            <a:r>
              <a:rPr lang="ru-RU" sz="1600" dirty="0"/>
              <a:t>Консолидация распределённых студий и команд разработки.</a:t>
            </a:r>
          </a:p>
          <a:p>
            <a:r>
              <a:rPr lang="ru-RU" sz="1600" dirty="0"/>
              <a:t>Централизация данных, </a:t>
            </a:r>
            <a:r>
              <a:rPr lang="ru-RU" sz="1600" dirty="0" err="1"/>
              <a:t>DevOps</a:t>
            </a:r>
            <a:r>
              <a:rPr lang="ru-RU" sz="1600" dirty="0"/>
              <a:t>-процессов и управления контентом.</a:t>
            </a:r>
          </a:p>
          <a:p>
            <a:r>
              <a:rPr lang="ru-RU" sz="1600" dirty="0"/>
              <a:t>Защита интеллектуальной собственности и исходного кода игр.</a:t>
            </a:r>
          </a:p>
          <a:p>
            <a:r>
              <a:rPr lang="ru-RU" sz="1600" dirty="0"/>
              <a:t>Развитие BI-аналитики для управления продажами и пользовательским опытом.</a:t>
            </a:r>
          </a:p>
          <a:p>
            <a:r>
              <a:rPr lang="ru-RU" sz="1600" dirty="0"/>
              <a:t>Использование облачных и Web3-технологий для создания новых экономических моделей (игровых токенов, NFT).</a:t>
            </a:r>
          </a:p>
          <a:p>
            <a:pPr marL="552450" defTabSz="677863">
              <a:spcBef>
                <a:spcPct val="25000"/>
              </a:spcBef>
              <a:buClr>
                <a:schemeClr val="folHlink"/>
              </a:buClr>
              <a:buFont typeface="Wingdings" pitchFamily="2" charset="2"/>
              <a:buNone/>
            </a:pPr>
            <a:endParaRPr lang="en-US" sz="1600" dirty="0">
              <a:solidFill>
                <a:srgbClr val="000000"/>
              </a:solidFill>
              <a:cs typeface="Arial" charset="0"/>
            </a:endParaRPr>
          </a:p>
          <a:p>
            <a:pPr>
              <a:buNone/>
            </a:pPr>
            <a:r>
              <a:rPr lang="ru-RU" sz="1600" b="1" dirty="0"/>
              <a:t>Миссия ИТ</a:t>
            </a:r>
          </a:p>
          <a:p>
            <a:r>
              <a:rPr lang="ru-RU" sz="1600" dirty="0"/>
              <a:t>Мы создаём единую и безопасную цифровую среду, которая позволяет студии </a:t>
            </a:r>
            <a:r>
              <a:rPr lang="ru-RU" sz="1600" dirty="0" err="1"/>
              <a:t>Mundfish</a:t>
            </a:r>
            <a:r>
              <a:rPr lang="ru-RU" sz="1600" dirty="0"/>
              <a:t> разрабатывать, тестировать и продвигать игры мирового уровня.</a:t>
            </a:r>
            <a:endParaRPr lang="vi-VN" sz="1600" dirty="0"/>
          </a:p>
          <a:p>
            <a:r>
              <a:rPr lang="ru-RU" sz="1600" dirty="0"/>
              <a:t>Наша миссия — ускорять инновации, повышать производительность команд и создавать технологические решения, которые соединяют бизнес, игроков и сообщество через современные ИТ-инструменты.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EB245-0288-BB61-FD08-9FFBE99DE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DD853A2-842A-F99E-88A0-EAE346DB0D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1. Требования бизнеса к ИТ, цели ИТ</a:t>
            </a:r>
            <a:br>
              <a:rPr lang="ru-RU"/>
            </a:br>
            <a:r>
              <a:rPr lang="ru-RU"/>
              <a:t>1.4. Видение и миссия ИТ</a:t>
            </a:r>
            <a:br>
              <a:rPr lang="ru-RU"/>
            </a:br>
            <a:r>
              <a:rPr lang="ru-RU"/>
              <a:t>1.5. Стратегические цели ИТ</a:t>
            </a: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7FAEC633-6774-9A1F-F4C6-D4BF16F4CA86}"/>
              </a:ext>
            </a:extLst>
          </p:cNvPr>
          <p:cNvSpPr txBox="1">
            <a:spLocks noGrp="1"/>
          </p:cNvSpPr>
          <p:nvPr/>
        </p:nvSpPr>
        <p:spPr bwMode="auto">
          <a:xfrm>
            <a:off x="304800" y="6534150"/>
            <a:ext cx="1219200" cy="3238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44000" tIns="68400"/>
          <a:lstStyle/>
          <a:p>
            <a:pPr>
              <a:buFontTx/>
              <a:buNone/>
              <a:defRPr/>
            </a:pPr>
            <a:fld id="{F55BB111-FA95-44D2-B5C9-8FFAD4202038}" type="slidenum">
              <a:rPr lang="en-US" sz="1000">
                <a:solidFill>
                  <a:schemeClr val="bg1"/>
                </a:solidFill>
                <a:cs typeface="+mn-cs"/>
              </a:rPr>
              <a:pPr>
                <a:buFontTx/>
                <a:buNone/>
                <a:defRPr/>
              </a:pPr>
              <a:t>13</a:t>
            </a:fld>
            <a:endParaRPr lang="en-US" sz="1000">
              <a:solidFill>
                <a:schemeClr val="bg1"/>
              </a:solidFill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221744-914B-91BC-37DE-44BB9E10E6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328172"/>
              </p:ext>
            </p:extLst>
          </p:nvPr>
        </p:nvGraphicFramePr>
        <p:xfrm>
          <a:off x="76200" y="1318647"/>
          <a:ext cx="8991600" cy="5130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7200">
                  <a:extLst>
                    <a:ext uri="{9D8B030D-6E8A-4147-A177-3AD203B41FA5}">
                      <a16:colId xmlns:a16="http://schemas.microsoft.com/office/drawing/2014/main" val="4092493552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3494083158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1106992281"/>
                    </a:ext>
                  </a:extLst>
                </a:gridCol>
              </a:tblGrid>
              <a:tr h="373267">
                <a:tc>
                  <a:txBody>
                    <a:bodyPr/>
                    <a:lstStyle/>
                    <a:p>
                      <a:r>
                        <a:rPr lang="ru-RU" sz="1200" dirty="0"/>
                        <a:t>Цели бизнеса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Цели ИТ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ИТ-проекты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708506"/>
                  </a:ext>
                </a:extLst>
              </a:tr>
              <a:tr h="1054079">
                <a:tc>
                  <a:txBody>
                    <a:bodyPr/>
                    <a:lstStyle/>
                    <a:p>
                      <a:r>
                        <a:rPr lang="ru-RU" sz="1200" dirty="0"/>
                        <a:t>Расширение франшизы Atomic Heart и запуск новых игровых IP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Создание общей экосистемы для управления разработкой и контентом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Проект “</a:t>
                      </a:r>
                      <a:r>
                        <a:rPr lang="ru-RU" sz="1200" dirty="0" err="1"/>
                        <a:t>Forge</a:t>
                      </a:r>
                      <a:r>
                        <a:rPr lang="ru-RU" sz="1200" dirty="0"/>
                        <a:t> Platform” — внутренняя </a:t>
                      </a:r>
                      <a:r>
                        <a:rPr lang="ru-RU" sz="1200" dirty="0" err="1"/>
                        <a:t>DevOps</a:t>
                      </a:r>
                      <a:r>
                        <a:rPr lang="ru-RU" sz="1200" dirty="0"/>
                        <a:t>-система с автоматической сборкой и контролем версий (на базе </a:t>
                      </a:r>
                      <a:r>
                        <a:rPr lang="ru-RU" sz="1200" dirty="0" err="1"/>
                        <a:t>Unreal</a:t>
                      </a:r>
                      <a:r>
                        <a:rPr lang="ru-RU" sz="1200" dirty="0"/>
                        <a:t> Engine и </a:t>
                      </a:r>
                      <a:r>
                        <a:rPr lang="ru-RU" sz="1200" dirty="0" err="1"/>
                        <a:t>Git</a:t>
                      </a:r>
                      <a:r>
                        <a:rPr lang="ru-RU" sz="1200" dirty="0"/>
                        <a:t>).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231397"/>
                  </a:ext>
                </a:extLst>
              </a:tr>
              <a:tr h="862428">
                <a:tc>
                  <a:txBody>
                    <a:bodyPr/>
                    <a:lstStyle/>
                    <a:p>
                      <a:r>
                        <a:rPr lang="ru-RU" sz="1200" dirty="0"/>
                        <a:t>Укрепление международного присутствия (Европа, Азия, ОАЭ)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Централизация инфраструктуры и безопасного сетевого доступа для офисов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Проект “</a:t>
                      </a:r>
                      <a:r>
                        <a:rPr lang="ru-RU" sz="1200" dirty="0" err="1"/>
                        <a:t>Mundfish</a:t>
                      </a:r>
                      <a:r>
                        <a:rPr lang="ru-RU" sz="1200" dirty="0"/>
                        <a:t> Global Network” — облачная VPN-сеть и платформа для удалённой совместной работы.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450990"/>
                  </a:ext>
                </a:extLst>
              </a:tr>
              <a:tr h="862428">
                <a:tc>
                  <a:txBody>
                    <a:bodyPr/>
                    <a:lstStyle/>
                    <a:p>
                      <a:r>
                        <a:rPr lang="ru-RU" sz="1200" dirty="0"/>
                        <a:t>Повышение качества игр и сокращение цикла разработки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Автоматизация тестирования и контроля версий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Проект “</a:t>
                      </a:r>
                      <a:r>
                        <a:rPr lang="ru-RU" sz="1200" dirty="0" err="1"/>
                        <a:t>IronTest</a:t>
                      </a:r>
                      <a:r>
                        <a:rPr lang="ru-RU" sz="1200" dirty="0"/>
                        <a:t>” — система автоматического тестирования и мониторинга стабильности билдов.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341030"/>
                  </a:ext>
                </a:extLst>
              </a:tr>
              <a:tr h="1140426">
                <a:tc>
                  <a:txBody>
                    <a:bodyPr/>
                    <a:lstStyle/>
                    <a:p>
                      <a:r>
                        <a:rPr lang="ru-RU" sz="1200" dirty="0"/>
                        <a:t>Развитие взаимодействия с игроками и фан-сообществом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Внедрение CRM и Web3-решений для игровой экономики и лояльности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Проект “</a:t>
                      </a:r>
                      <a:r>
                        <a:rPr lang="ru-RU" sz="1200" dirty="0" err="1"/>
                        <a:t>AtomChain</a:t>
                      </a:r>
                      <a:r>
                        <a:rPr lang="ru-RU" sz="1200" dirty="0"/>
                        <a:t>” — платформа Web3 на основе технологии </a:t>
                      </a:r>
                      <a:r>
                        <a:rPr lang="ru-RU" sz="1200" dirty="0" err="1"/>
                        <a:t>Ronin</a:t>
                      </a:r>
                      <a:r>
                        <a:rPr lang="ru-RU" sz="1200" dirty="0"/>
                        <a:t>/</a:t>
                      </a:r>
                      <a:r>
                        <a:rPr lang="ru-RU" sz="1200" dirty="0" err="1"/>
                        <a:t>Polygon</a:t>
                      </a:r>
                      <a:r>
                        <a:rPr lang="ru-RU" sz="1200" dirty="0"/>
                        <a:t>, выпуск токена MFT (</a:t>
                      </a:r>
                      <a:r>
                        <a:rPr lang="ru-RU" sz="1200" dirty="0" err="1"/>
                        <a:t>Mundfish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Token</a:t>
                      </a:r>
                      <a:r>
                        <a:rPr lang="ru-RU" sz="1200" dirty="0"/>
                        <a:t>) для торговли внутриигровыми активами и вознаграждения фанатов.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793205"/>
                  </a:ext>
                </a:extLst>
              </a:tr>
              <a:tr h="789525">
                <a:tc>
                  <a:txBody>
                    <a:bodyPr/>
                    <a:lstStyle/>
                    <a:p>
                      <a:r>
                        <a:rPr lang="ru-RU" sz="1200" dirty="0"/>
                        <a:t>Повышение прозрачности и финансового контроля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Автоматизация контроля и аудита транзакций в игровой экосистеме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Проект “</a:t>
                      </a:r>
                      <a:r>
                        <a:rPr lang="ru-RU" sz="1200" dirty="0" err="1"/>
                        <a:t>BlockAudit</a:t>
                      </a:r>
                      <a:r>
                        <a:rPr lang="ru-RU" sz="1200" dirty="0"/>
                        <a:t>” — модуль контроля смарт-контрактов и транзакций в </a:t>
                      </a:r>
                      <a:r>
                        <a:rPr lang="ru-RU" sz="1200" dirty="0" err="1"/>
                        <a:t>Mundfish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Token</a:t>
                      </a:r>
                      <a:r>
                        <a:rPr lang="ru-RU" sz="1200" dirty="0"/>
                        <a:t> экосистеме.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461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008471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51F4E4-008F-4F63-BBB4-0BC3154597D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26628" name="Rectangle 2"/>
          <p:cNvSpPr txBox="1">
            <a:spLocks noChangeArrowheads="1"/>
          </p:cNvSpPr>
          <p:nvPr/>
        </p:nvSpPr>
        <p:spPr bwMode="auto"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ru-RU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2. Приложения и данные</a:t>
            </a:r>
          </a:p>
          <a:p>
            <a:pPr>
              <a:buFont typeface="Wingdings" pitchFamily="2" charset="2"/>
              <a:buNone/>
            </a:pPr>
            <a:r>
              <a:rPr lang="ru-RU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2.1. ИТ сервисы (или приложения)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059606"/>
              </p:ext>
            </p:extLst>
          </p:nvPr>
        </p:nvGraphicFramePr>
        <p:xfrm>
          <a:off x="152401" y="1491442"/>
          <a:ext cx="8763000" cy="475695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60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290">
                  <a:extLst>
                    <a:ext uri="{9D8B030D-6E8A-4147-A177-3AD203B41FA5}">
                      <a16:colId xmlns:a16="http://schemas.microsoft.com/office/drawing/2014/main" val="3058322643"/>
                    </a:ext>
                  </a:extLst>
                </a:gridCol>
                <a:gridCol w="1790290">
                  <a:extLst>
                    <a:ext uri="{9D8B030D-6E8A-4147-A177-3AD203B41FA5}">
                      <a16:colId xmlns:a16="http://schemas.microsoft.com/office/drawing/2014/main" val="3583544734"/>
                    </a:ext>
                  </a:extLst>
                </a:gridCol>
                <a:gridCol w="1790290">
                  <a:extLst>
                    <a:ext uri="{9D8B030D-6E8A-4147-A177-3AD203B41FA5}">
                      <a16:colId xmlns:a16="http://schemas.microsoft.com/office/drawing/2014/main" val="3970773853"/>
                    </a:ext>
                  </a:extLst>
                </a:gridCol>
              </a:tblGrid>
              <a:tr h="6486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ИТ-сервис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Текущее состояние (недостатки)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Основные проекты по устранению недостатков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Требуемое состояние (1-3 года)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Основные проекты по переходу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3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DevOps / Forge Platform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Разрозненные скрипты, отсутствие CI/CD, ручные билды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Запуск </a:t>
                      </a:r>
                      <a:r>
                        <a:rPr lang="en-US" sz="1200" i="1" dirty="0"/>
                        <a:t>Forge Platform v1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Централизованная система </a:t>
                      </a:r>
                      <a:r>
                        <a:rPr lang="ru-RU" sz="1200" dirty="0" err="1"/>
                        <a:t>DevOps</a:t>
                      </a:r>
                      <a:r>
                        <a:rPr lang="ru-RU" sz="1200" dirty="0"/>
                        <a:t> с автоматическими </a:t>
                      </a:r>
                      <a:r>
                        <a:rPr lang="ru-RU" sz="1200" dirty="0" err="1"/>
                        <a:t>пайплайнами</a:t>
                      </a:r>
                      <a:r>
                        <a:rPr lang="ru-RU" sz="1200" dirty="0"/>
                        <a:t> и мониторингом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i="1" dirty="0" err="1"/>
                        <a:t>Forge</a:t>
                      </a:r>
                      <a:r>
                        <a:rPr lang="ru-RU" sz="1200" i="1" dirty="0"/>
                        <a:t> v2</a:t>
                      </a:r>
                      <a:r>
                        <a:rPr lang="ru-RU" sz="1200" dirty="0"/>
                        <a:t>, интеграция с </a:t>
                      </a:r>
                      <a:r>
                        <a:rPr lang="ru-RU" sz="1200" dirty="0" err="1"/>
                        <a:t>Unreal</a:t>
                      </a:r>
                      <a:r>
                        <a:rPr lang="ru-RU" sz="1200" dirty="0"/>
                        <a:t> Engine и системами контроля версий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84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CRM (</a:t>
                      </a: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AtomConnect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Обращения игроков в </a:t>
                      </a:r>
                      <a:r>
                        <a:rPr lang="ru-RU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Discord</a:t>
                      </a: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без аналитики и SLA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Внедрение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CRM </a:t>
                      </a: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AtomConnect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Централизованная база пользователей и аналитика лояльности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Интеграция с </a:t>
                      </a: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AtomChain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Forge Platform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5774199"/>
                  </a:ext>
                </a:extLst>
              </a:tr>
              <a:tr h="9884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Help Desk 2.0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Нет SLA, ответы занимают &gt; 24 ч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Внедрение новой системы Help Desk и базы знаний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Время ответа &lt; 2 ч, самообслуживание пользователей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Интеграция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Help Desk </a:t>
                      </a: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Forge Platform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822952"/>
                  </a:ext>
                </a:extLst>
              </a:tr>
              <a:tr h="11120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AtomChain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(Web3)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Прототип без аудита и интеграции с игрой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Разработка смарт-контрактов и выпуск токена MFT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Безопасная Web3-экосистема для внутриигровых активов и вознаграждений фанатов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Проект </a:t>
                      </a:r>
                      <a:r>
                        <a:rPr lang="ru-RU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BlockAudit</a:t>
                      </a: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(аудит контрактов) и интеграция с </a:t>
                      </a:r>
                      <a:r>
                        <a:rPr lang="ru-RU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Ronin</a:t>
                      </a: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ru-RU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Polygon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9305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639AE-6623-75AA-BF37-E9DE754DE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>
            <a:extLst>
              <a:ext uri="{FF2B5EF4-FFF2-40B4-BE49-F238E27FC236}">
                <a16:creationId xmlns:a16="http://schemas.microsoft.com/office/drawing/2014/main" id="{26A4A278-0220-0AB6-3A91-4A134C1A95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457200" y="457200"/>
            <a:ext cx="8229600" cy="838200"/>
          </a:xfrm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6038" bIns="46038" anchor="b">
            <a:normAutofit/>
          </a:bodyPr>
          <a:lstStyle/>
          <a:p>
            <a:r>
              <a:rPr lang="ru-RU"/>
              <a:t>2. Приложения и данные</a:t>
            </a:r>
            <a:br>
              <a:rPr lang="ru-RU"/>
            </a:br>
            <a:r>
              <a:rPr lang="ru-RU"/>
              <a:t>2.1. ИТ сервисы (или приложения)</a:t>
            </a:r>
            <a:endParaRPr lang="de-DE"/>
          </a:p>
        </p:txBody>
      </p:sp>
      <p:sp>
        <p:nvSpPr>
          <p:cNvPr id="26" name="Номер слайда 4">
            <a:extLst>
              <a:ext uri="{FF2B5EF4-FFF2-40B4-BE49-F238E27FC236}">
                <a16:creationId xmlns:a16="http://schemas.microsoft.com/office/drawing/2014/main" id="{952B7119-1A23-CA7F-E1AD-7BEF9CCBF1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04800" y="6534150"/>
            <a:ext cx="1219200" cy="3238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10C445E5-FE47-485A-8451-B675D5EEA322}" type="slidenum">
              <a:rPr lang="en-US" smtClean="0"/>
              <a:pPr>
                <a:spcAft>
                  <a:spcPts val="600"/>
                </a:spcAft>
                <a:defRPr/>
              </a:pPr>
              <a:t>15</a:t>
            </a:fld>
            <a:endParaRPr lang="en-US"/>
          </a:p>
        </p:txBody>
      </p:sp>
      <p:sp>
        <p:nvSpPr>
          <p:cNvPr id="27" name="Нижний колонтитул 5">
            <a:extLst>
              <a:ext uri="{FF2B5EF4-FFF2-40B4-BE49-F238E27FC236}">
                <a16:creationId xmlns:a16="http://schemas.microsoft.com/office/drawing/2014/main" id="{B0D1F70D-007E-1A1D-C707-231FA89C7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8400" y="6534150"/>
            <a:ext cx="4114800" cy="3238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endParaRPr lang="en-US" sz="9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endParaRPr lang="en-US" sz="9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F0A4D2-3296-FB90-A3F6-B071A18BE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524000"/>
            <a:ext cx="7315200" cy="466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31135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A33A4C-692B-4A97-A793-764E626F0D4D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29700" name="Rectangle 2"/>
          <p:cNvSpPr txBox="1">
            <a:spLocks noChangeArrowheads="1"/>
          </p:cNvSpPr>
          <p:nvPr/>
        </p:nvSpPr>
        <p:spPr bwMode="auto">
          <a:xfrm>
            <a:off x="381000" y="685800"/>
            <a:ext cx="8229600" cy="598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ru-RU" dirty="0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3. Инфраструктура ИТ</a:t>
            </a:r>
          </a:p>
          <a:p>
            <a:pPr>
              <a:buFont typeface="Wingdings" pitchFamily="2" charset="2"/>
              <a:buNone/>
            </a:pPr>
            <a:r>
              <a:rPr lang="ru-RU" dirty="0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3.1. ЦОДы</a:t>
            </a:r>
          </a:p>
          <a:p>
            <a:pPr>
              <a:buFont typeface="Wingdings" pitchFamily="2" charset="2"/>
              <a:buNone/>
            </a:pPr>
            <a:r>
              <a:rPr lang="ru-RU" dirty="0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3.2. Коммуникации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404039"/>
              </p:ext>
            </p:extLst>
          </p:nvPr>
        </p:nvGraphicFramePr>
        <p:xfrm>
          <a:off x="76201" y="1422766"/>
          <a:ext cx="9067799" cy="5103363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657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2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2561">
                  <a:extLst>
                    <a:ext uri="{9D8B030D-6E8A-4147-A177-3AD203B41FA5}">
                      <a16:colId xmlns:a16="http://schemas.microsoft.com/office/drawing/2014/main" val="2484644946"/>
                    </a:ext>
                  </a:extLst>
                </a:gridCol>
                <a:gridCol w="1852561">
                  <a:extLst>
                    <a:ext uri="{9D8B030D-6E8A-4147-A177-3AD203B41FA5}">
                      <a16:colId xmlns:a16="http://schemas.microsoft.com/office/drawing/2014/main" val="3844179636"/>
                    </a:ext>
                  </a:extLst>
                </a:gridCol>
                <a:gridCol w="1852561">
                  <a:extLst>
                    <a:ext uri="{9D8B030D-6E8A-4147-A177-3AD203B41FA5}">
                      <a16:colId xmlns:a16="http://schemas.microsoft.com/office/drawing/2014/main" val="911903959"/>
                    </a:ext>
                  </a:extLst>
                </a:gridCol>
              </a:tblGrid>
              <a:tr h="525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1" dirty="0">
                          <a:latin typeface="+mj-lt"/>
                          <a:cs typeface="Times New Roman" panose="02020603050405020304" pitchFamily="18" charset="0"/>
                        </a:rPr>
                        <a:t>Критерий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1" dirty="0">
                          <a:latin typeface="+mj-lt"/>
                          <a:cs typeface="Times New Roman" panose="02020603050405020304" pitchFamily="18" charset="0"/>
                        </a:rPr>
                        <a:t>Текущее состояние (недостатки)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1" dirty="0">
                          <a:latin typeface="+mj-lt"/>
                          <a:cs typeface="Times New Roman" panose="02020603050405020304" pitchFamily="18" charset="0"/>
                        </a:rPr>
                        <a:t>Основные проекты по устранению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1" dirty="0">
                          <a:latin typeface="+mj-lt"/>
                          <a:cs typeface="Times New Roman" panose="02020603050405020304" pitchFamily="18" charset="0"/>
                        </a:rPr>
                        <a:t>Требуемое состояние (через 1–3 года)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1" dirty="0">
                          <a:latin typeface="+mj-lt"/>
                          <a:cs typeface="Times New Roman" panose="02020603050405020304" pitchFamily="18" charset="0"/>
                        </a:rPr>
                        <a:t>Проекты для перехода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1. Локальный ЦОД (серверная инфраструктура)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• Используются разрозненные серверы для сборок и хранения билдов.</a:t>
                      </a:r>
                      <a:b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</a:b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• Нет резервного питания и централизованного охлаждения.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• Модернизация серверов (Dell </a:t>
                      </a:r>
                      <a:r>
                        <a:rPr lang="ru-RU" sz="900" b="0" dirty="0" err="1">
                          <a:latin typeface="+mj-lt"/>
                          <a:cs typeface="Times New Roman" panose="02020603050405020304" pitchFamily="18" charset="0"/>
                        </a:rPr>
                        <a:t>PowerEdge</a:t>
                      </a: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 / HP </a:t>
                      </a:r>
                      <a:r>
                        <a:rPr lang="ru-RU" sz="900" b="0" dirty="0" err="1">
                          <a:latin typeface="+mj-lt"/>
                          <a:cs typeface="Times New Roman" panose="02020603050405020304" pitchFamily="18" charset="0"/>
                        </a:rPr>
                        <a:t>ProLiant</a:t>
                      </a: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).</a:t>
                      </a:r>
                      <a:b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</a:b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• Развёртывание системы резервного электропитания (UPS + дизель-генератор).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Централизованный ЦОД </a:t>
                      </a:r>
                      <a:r>
                        <a:rPr lang="ru-RU" sz="900" b="0" dirty="0" err="1">
                          <a:latin typeface="+mj-lt"/>
                          <a:cs typeface="Times New Roman" panose="02020603050405020304" pitchFamily="18" charset="0"/>
                        </a:rPr>
                        <a:t>Tier</a:t>
                      </a: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 II с 24-часовой автономной работой.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  <a:t>1. Закупка серверного оборудования.</a:t>
                      </a:r>
                      <a:b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</a:br>
                      <a: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  <a:t>2. Настройка системы охлаждения и питания.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5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  <a:t>2. Резервное копирование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  <a:t>• Ручные копии проектов на локальные диски.</a:t>
                      </a:r>
                      <a:b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</a:br>
                      <a: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  <a:t>• Нет автоматизированных политик хранения.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• Внедрение облачного бэкапа (Yandex Облако / AWS S3).</a:t>
                      </a:r>
                      <a:b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</a:b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• Автоматизация инкрементальных копий через </a:t>
                      </a:r>
                      <a:r>
                        <a:rPr lang="ru-RU" sz="900" b="0" dirty="0" err="1">
                          <a:latin typeface="+mj-lt"/>
                          <a:cs typeface="Times New Roman" panose="02020603050405020304" pitchFamily="18" charset="0"/>
                        </a:rPr>
                        <a:t>Veeam</a:t>
                      </a: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Автоматизированное резервное копирование с хранением 7 дней локально + 30 дней в облаке.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1. Настройка </a:t>
                      </a:r>
                      <a:r>
                        <a:rPr lang="ru-RU" sz="900" b="0" dirty="0" err="1">
                          <a:latin typeface="+mj-lt"/>
                          <a:cs typeface="Times New Roman" panose="02020603050405020304" pitchFamily="18" charset="0"/>
                        </a:rPr>
                        <a:t>backup</a:t>
                      </a: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-решений.</a:t>
                      </a:r>
                      <a:b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</a:b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2. Интеграция с облачной платформой.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4734141"/>
                  </a:ext>
                </a:extLst>
              </a:tr>
              <a:tr h="915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3. Сетевая инфраструктура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• Низкая скорость обмена между студиями (50 Мбит/с).</a:t>
                      </a:r>
                      <a:b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</a:b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• Нет защищённого VPN-канала для удалённых разработчиков.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• Миграция на SD-WAN (100 Мбит/с+).</a:t>
                      </a:r>
                      <a:b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</a:b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• Внедрение </a:t>
                      </a:r>
                      <a:r>
                        <a:rPr lang="ru-RU" sz="900" b="0" dirty="0" err="1">
                          <a:latin typeface="+mj-lt"/>
                          <a:cs typeface="Times New Roman" panose="02020603050405020304" pitchFamily="18" charset="0"/>
                        </a:rPr>
                        <a:t>IPsec</a:t>
                      </a: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 VPN и MFA-аутентификации.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Надёжная и отказоустойчивая сеть с шифрованием трафика и доступом по VPN.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  <a:t>1. Контракт с провайдером связи.</a:t>
                      </a:r>
                      <a:b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</a:br>
                      <a: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  <a:t>2. Настройка VPN-концентраторов.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2246192"/>
                  </a:ext>
                </a:extLst>
              </a:tr>
              <a:tr h="915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  <a:t>4. Облачная стратегия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  <a:t>• Основные данные хранятся on-premise.</a:t>
                      </a:r>
                      <a:b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</a:br>
                      <a: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  <a:t>• Нет интеграции с облачными DevOps-платформами.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  <a:t>• Развёртывание гибридного </a:t>
                      </a:r>
                      <a:r>
                        <a:rPr lang="en-US" sz="900" b="0">
                          <a:latin typeface="+mj-lt"/>
                          <a:cs typeface="Times New Roman" panose="02020603050405020304" pitchFamily="18" charset="0"/>
                        </a:rPr>
                        <a:t>cloud (CI/CD, Git, storage).</a:t>
                      </a:r>
                      <a:br>
                        <a:rPr lang="en-US" sz="900" b="0">
                          <a:latin typeface="+mj-lt"/>
                          <a:cs typeface="Times New Roman" panose="02020603050405020304" pitchFamily="18" charset="0"/>
                        </a:rPr>
                      </a:br>
                      <a:r>
                        <a:rPr lang="en-US" sz="900" b="0">
                          <a:latin typeface="+mj-lt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  <a:t>Интеграция с </a:t>
                      </a:r>
                      <a:r>
                        <a:rPr lang="en-US" sz="900" b="0">
                          <a:latin typeface="+mj-lt"/>
                          <a:cs typeface="Times New Roman" panose="02020603050405020304" pitchFamily="18" charset="0"/>
                        </a:rPr>
                        <a:t>Yandex Cloud </a:t>
                      </a:r>
                      <a: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  <a:t>и </a:t>
                      </a:r>
                      <a:r>
                        <a:rPr lang="en-US" sz="900" b="0">
                          <a:latin typeface="+mj-lt"/>
                          <a:cs typeface="Times New Roman" panose="02020603050405020304" pitchFamily="18" charset="0"/>
                        </a:rPr>
                        <a:t>GitHub Enterprise.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Гибридная облачная инфраструктура: критичные данные — </a:t>
                      </a:r>
                      <a:r>
                        <a:rPr lang="ru-RU" sz="900" b="0" dirty="0" err="1">
                          <a:latin typeface="+mj-lt"/>
                          <a:cs typeface="Times New Roman" panose="02020603050405020304" pitchFamily="18" charset="0"/>
                        </a:rPr>
                        <a:t>on-premise</a:t>
                      </a: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, разработка и аналитика — в облаке.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1. Пилотный проект </a:t>
                      </a:r>
                      <a:r>
                        <a:rPr lang="ru-RU" sz="900" b="0" dirty="0" err="1">
                          <a:latin typeface="+mj-lt"/>
                          <a:cs typeface="Times New Roman" panose="02020603050405020304" pitchFamily="18" charset="0"/>
                        </a:rPr>
                        <a:t>Forge</a:t>
                      </a: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900" b="0" dirty="0" err="1">
                          <a:latin typeface="+mj-lt"/>
                          <a:cs typeface="Times New Roman" panose="02020603050405020304" pitchFamily="18" charset="0"/>
                        </a:rPr>
                        <a:t>Cloud</a:t>
                      </a: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.</a:t>
                      </a:r>
                      <a:b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</a:b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2. Миграция исходных кодов в облако.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149491"/>
                  </a:ext>
                </a:extLst>
              </a:tr>
              <a:tr h="915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  <a:t>5. Безопасность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  <a:t>• Антивирус без централизованного управления.</a:t>
                      </a:r>
                      <a:b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</a:br>
                      <a: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  <a:t>• Нет DLP и SOC-системы.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  <a:t>• Внедрение </a:t>
                      </a:r>
                      <a:r>
                        <a:rPr lang="en-US" sz="900" b="0">
                          <a:latin typeface="+mj-lt"/>
                          <a:cs typeface="Times New Roman" panose="02020603050405020304" pitchFamily="18" charset="0"/>
                        </a:rPr>
                        <a:t>FortiGate / Sophos UTM.</a:t>
                      </a:r>
                      <a:br>
                        <a:rPr lang="en-US" sz="900" b="0">
                          <a:latin typeface="+mj-lt"/>
                          <a:cs typeface="Times New Roman" panose="02020603050405020304" pitchFamily="18" charset="0"/>
                        </a:rPr>
                      </a:br>
                      <a:r>
                        <a:rPr lang="en-US" sz="900" b="0">
                          <a:latin typeface="+mj-lt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  <a:t>Развёртывание </a:t>
                      </a:r>
                      <a:r>
                        <a:rPr lang="en-US" sz="900" b="0">
                          <a:latin typeface="+mj-lt"/>
                          <a:cs typeface="Times New Roman" panose="02020603050405020304" pitchFamily="18" charset="0"/>
                        </a:rPr>
                        <a:t>SOC </a:t>
                      </a:r>
                      <a: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  <a:t>для мониторинга инцидентов.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>
                          <a:latin typeface="+mj-lt"/>
                          <a:cs typeface="Times New Roman" panose="02020603050405020304" pitchFamily="18" charset="0"/>
                        </a:rPr>
                        <a:t>Единая система кибербезопасности с реальным мониторингом и DLP-контролем.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1. Установка UTM-решений.</a:t>
                      </a:r>
                      <a:b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</a:br>
                      <a:r>
                        <a:rPr lang="ru-RU" sz="900" b="0" dirty="0">
                          <a:latin typeface="+mj-lt"/>
                          <a:cs typeface="Times New Roman" panose="02020603050405020304" pitchFamily="18" charset="0"/>
                        </a:rPr>
                        <a:t>2. Обучение IT-персонала.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6783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5358CC-D998-4AF2-B15B-2C1FBBF4D7C9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30725" name="Rectangle 2"/>
          <p:cNvSpPr txBox="1">
            <a:spLocks noChangeArrowheads="1"/>
          </p:cNvSpPr>
          <p:nvPr/>
        </p:nvSpPr>
        <p:spPr bwMode="auto"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ru-RU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3. Инфраструктура ИТ</a:t>
            </a:r>
          </a:p>
          <a:p>
            <a:pPr>
              <a:buFont typeface="Wingdings" pitchFamily="2" charset="2"/>
              <a:buNone/>
            </a:pPr>
            <a:r>
              <a:rPr lang="ru-RU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3.1. ЦОДы</a:t>
            </a:r>
          </a:p>
          <a:p>
            <a:pPr>
              <a:buFont typeface="Wingdings" pitchFamily="2" charset="2"/>
              <a:buNone/>
            </a:pPr>
            <a:r>
              <a:rPr lang="ru-RU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3.2. Коммуникации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FBC3CA-0B4A-A415-A4C0-4B8B2AE05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78727"/>
            <a:ext cx="8001000" cy="4448609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2AE6F8-6F9B-43BC-AF55-394FCB84EE8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1748" name="Rectangle 2"/>
          <p:cNvSpPr txBox="1">
            <a:spLocks noChangeArrowheads="1"/>
          </p:cNvSpPr>
          <p:nvPr/>
        </p:nvSpPr>
        <p:spPr bwMode="auto"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ru-RU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4. Управление ИТ</a:t>
            </a:r>
          </a:p>
          <a:p>
            <a:pPr>
              <a:buFont typeface="Wingdings" pitchFamily="2" charset="2"/>
              <a:buNone/>
            </a:pPr>
            <a:r>
              <a:rPr lang="ru-RU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4.1. Аутсорсинг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848177"/>
              </p:ext>
            </p:extLst>
          </p:nvPr>
        </p:nvGraphicFramePr>
        <p:xfrm>
          <a:off x="304800" y="1752600"/>
          <a:ext cx="8229601" cy="3353728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543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2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2953">
                  <a:extLst>
                    <a:ext uri="{9D8B030D-6E8A-4147-A177-3AD203B41FA5}">
                      <a16:colId xmlns:a16="http://schemas.microsoft.com/office/drawing/2014/main" val="764796992"/>
                    </a:ext>
                  </a:extLst>
                </a:gridCol>
              </a:tblGrid>
              <a:tr h="6105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Текущее</a:t>
                      </a:r>
                      <a:r>
                        <a:rPr lang="ru-RU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состояние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Требуемое состояние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Проекты перехода: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27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200" dirty="0"/>
                        <a:t>Поддержка внутренних ИТ-систем (</a:t>
                      </a:r>
                      <a:r>
                        <a:rPr lang="ru-RU" sz="1200" dirty="0" err="1"/>
                        <a:t>DevOps</a:t>
                      </a:r>
                      <a:r>
                        <a:rPr lang="ru-RU" sz="1200" dirty="0"/>
                        <a:t>, </a:t>
                      </a:r>
                      <a:r>
                        <a:rPr lang="ru-RU" sz="1200" dirty="0" err="1"/>
                        <a:t>Git</a:t>
                      </a:r>
                      <a:r>
                        <a:rPr lang="ru-RU" sz="1200" dirty="0"/>
                        <a:t>, серверы) осуществляется силами собственной команды.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200" dirty="0"/>
                        <a:t>Обслуживание инфраструктуры требует значительных затрат времени разработчиков.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200" dirty="0"/>
                        <a:t>Нет формализованной политики аутсорсинга и контроля внешних подрядчиков.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200" dirty="0"/>
                        <a:t>Отсутствует распределение зон ответственности между внутренними и внешними ИТ-ресурсами.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Courier New" panose="02070309020205020404" pitchFamily="49" charset="0"/>
                        <a:buChar char="o"/>
                      </a:pPr>
                      <a:r>
                        <a:rPr lang="ru-RU" sz="1200" b="0" dirty="0"/>
                        <a:t>Внедрение гибридной модели ИТ-управления:</a:t>
                      </a:r>
                      <a:br>
                        <a:rPr lang="ru-RU" sz="1200" dirty="0"/>
                      </a:br>
                      <a:r>
                        <a:rPr lang="ru-RU" sz="1200" dirty="0"/>
                        <a:t>• Ключевые сервисы разработки игр (CI/CD, хранилища кода, защита данных) — </a:t>
                      </a:r>
                      <a:r>
                        <a:rPr lang="ru-RU" sz="1200" dirty="0" err="1"/>
                        <a:t>in-house</a:t>
                      </a:r>
                      <a:r>
                        <a:rPr lang="ru-RU" sz="1200" dirty="0"/>
                        <a:t>.</a:t>
                      </a:r>
                      <a:br>
                        <a:rPr lang="ru-RU" sz="1200" dirty="0"/>
                      </a:br>
                      <a:r>
                        <a:rPr lang="ru-RU" sz="1200" dirty="0"/>
                        <a:t>• Вспомогательные процессы (Help Desk, резервное копирование, хостинг) — на аутсорсинг.</a:t>
                      </a:r>
                    </a:p>
                    <a:p>
                      <a:pPr marL="171450" indent="-171450">
                        <a:buFont typeface="Courier New" panose="02070309020205020404" pitchFamily="49" charset="0"/>
                        <a:buChar char="o"/>
                      </a:pPr>
                      <a:r>
                        <a:rPr lang="ru-RU" sz="1200" dirty="0"/>
                        <a:t>Заключение долгосрочных SLA-контрактов с надёжными партнёрами.</a:t>
                      </a:r>
                    </a:p>
                    <a:p>
                      <a:pPr marL="171450" indent="-171450">
                        <a:buFont typeface="Courier New" panose="02070309020205020404" pitchFamily="49" charset="0"/>
                        <a:buChar char="o"/>
                      </a:pPr>
                      <a:r>
                        <a:rPr lang="ru-RU" sz="1200" dirty="0"/>
                        <a:t>Создание внутреннего отдела контроля аутсорсинга (метрики, сроки, инциденты).</a:t>
                      </a:r>
                    </a:p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ru-RU" sz="1200" dirty="0"/>
                        <a:t>Формирование политики аутсорсинга </a:t>
                      </a:r>
                      <a:r>
                        <a:rPr lang="ru-RU" sz="1200" dirty="0" err="1"/>
                        <a:t>Mundfish</a:t>
                      </a:r>
                      <a:r>
                        <a:rPr lang="ru-RU" sz="1200" dirty="0"/>
                        <a:t> IT </a:t>
                      </a:r>
                      <a:r>
                        <a:rPr lang="ru-RU" sz="1200" dirty="0" err="1"/>
                        <a:t>Governance</a:t>
                      </a:r>
                      <a:r>
                        <a:rPr lang="ru-RU" sz="1200" dirty="0"/>
                        <a:t>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ru-RU" sz="1200" dirty="0"/>
                        <a:t>Передача непрофильных задач (Help Desk, резервное копирование) внешним провайдерам.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ru-RU" sz="1200" dirty="0"/>
                        <a:t>Создание панели мониторинга KPI для внешних подрядчиков.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ru-RU" sz="1200" dirty="0"/>
                        <a:t>Обучение ИТ-руководителей работе с аутсорсинговыми SLA.</a:t>
                      </a:r>
                    </a:p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990600" y="5162550"/>
            <a:ext cx="66294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/>
          <a:lstStyle/>
          <a:p>
            <a:pPr>
              <a:lnSpc>
                <a:spcPct val="120000"/>
              </a:lnSpc>
              <a:buNone/>
              <a:defRPr/>
            </a:pPr>
            <a:r>
              <a:rPr lang="ru-RU" sz="1200" b="1" dirty="0"/>
              <a:t>Рекомендации:</a:t>
            </a:r>
            <a:br>
              <a:rPr lang="ru-RU" sz="1200" dirty="0"/>
            </a:br>
            <a:r>
              <a:rPr lang="ru-RU" sz="1200" dirty="0"/>
              <a:t>• </a:t>
            </a:r>
            <a:r>
              <a:rPr lang="ru-RU" sz="1200" b="1" dirty="0"/>
              <a:t>Оставить внутри компании:</a:t>
            </a:r>
            <a:r>
              <a:rPr lang="ru-RU" sz="1200" dirty="0"/>
              <a:t> управление </a:t>
            </a:r>
            <a:r>
              <a:rPr lang="ru-RU" sz="1200" dirty="0" err="1"/>
              <a:t>DevOps</a:t>
            </a:r>
            <a:r>
              <a:rPr lang="ru-RU" sz="1200" dirty="0"/>
              <a:t>, безопасность, игровые сервисы и аналитика.</a:t>
            </a:r>
            <a:br>
              <a:rPr lang="ru-RU" sz="1200" dirty="0"/>
            </a:br>
            <a:r>
              <a:rPr lang="ru-RU" sz="1200" dirty="0"/>
              <a:t>• </a:t>
            </a:r>
            <a:r>
              <a:rPr lang="ru-RU" sz="1200" b="1" dirty="0"/>
              <a:t>Передать на аутсорсинг:</a:t>
            </a:r>
            <a:r>
              <a:rPr lang="ru-RU" sz="1200" dirty="0"/>
              <a:t> Help Desk, резервное копирование, сопровождение пользовательских систем и хостинг сайтов.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D3E953-4B30-47EC-A0B5-CD5599E1AE54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92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4. Управление ИТ</a:t>
            </a:r>
            <a:br>
              <a:rPr lang="ru-RU" dirty="0"/>
            </a:br>
            <a:r>
              <a:rPr lang="ru-RU" dirty="0"/>
              <a:t>4.2. ИТ процессы</a:t>
            </a:r>
          </a:p>
        </p:txBody>
      </p:sp>
      <p:graphicFrame>
        <p:nvGraphicFramePr>
          <p:cNvPr id="1485921" name="Group 97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357607447"/>
              </p:ext>
            </p:extLst>
          </p:nvPr>
        </p:nvGraphicFramePr>
        <p:xfrm>
          <a:off x="228600" y="1447800"/>
          <a:ext cx="8686799" cy="4876798"/>
        </p:xfrm>
        <a:graphic>
          <a:graphicData uri="http://schemas.openxmlformats.org/drawingml/2006/table">
            <a:tbl>
              <a:tblPr/>
              <a:tblGrid>
                <a:gridCol w="2193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1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86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ИТ-процесс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Текущий уровень (1–5)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Целевой уровень (2027)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Проекты улучшения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48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Управление инцидентами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2 (реактивный режим)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4 (автоматизация через 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SLA)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Внедрение </a:t>
                      </a:r>
                      <a:r>
                        <a:rPr kumimoji="0" 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ServiceNow</a:t>
                      </a: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 / </a:t>
                      </a:r>
                      <a:r>
                        <a:rPr kumimoji="0" 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Zammad</a:t>
                      </a: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 для трекинга инцидентов, настройка SLA и уведомлений.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337355"/>
                  </a:ext>
                </a:extLst>
              </a:tr>
              <a:tr h="8348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Управление ИТ-проектами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3 (ad-hoc </a:t>
                      </a: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подход)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5 (PMI/Agile </a:t>
                      </a: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стандарты)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Обучение менеджеров по PMP / </a:t>
                      </a:r>
                      <a:r>
                        <a:rPr kumimoji="0" 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Agile</a:t>
                      </a: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, внедрение </a:t>
                      </a:r>
                      <a:r>
                        <a:rPr kumimoji="0" 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Jira</a:t>
                      </a: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 и </a:t>
                      </a:r>
                      <a:r>
                        <a:rPr kumimoji="0" 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Confluence</a:t>
                      </a: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 для планирования спринтов.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7934"/>
                  </a:ext>
                </a:extLst>
              </a:tr>
              <a:tr h="7686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Информационная безопасность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1 (базовая защита)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3 (DLP + SOC)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Развёртывание </a:t>
                      </a:r>
                      <a:r>
                        <a:rPr kumimoji="0" 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FortiGate</a:t>
                      </a: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, DLP-системы и обучение SOC-команды.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175508"/>
                  </a:ext>
                </a:extLst>
              </a:tr>
              <a:tr h="8348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DevOps / CI-CD </a:t>
                      </a: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процессы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2 (частичная автоматизация)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4 (полная интеграция </a:t>
                      </a:r>
                      <a:r>
                        <a:rPr kumimoji="0" 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пайплайнов</a:t>
                      </a: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Автоматизация сборок в </a:t>
                      </a:r>
                      <a:r>
                        <a:rPr kumimoji="0" 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Forge</a:t>
                      </a: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 Platform, интеграция </a:t>
                      </a:r>
                      <a:r>
                        <a:rPr kumimoji="0" 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Git</a:t>
                      </a: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, </a:t>
                      </a:r>
                      <a:r>
                        <a:rPr kumimoji="0" 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Jenkins</a:t>
                      </a: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, и тестирования.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377230"/>
                  </a:ext>
                </a:extLst>
              </a:tr>
              <a:tr h="8348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Управление знаниями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1 (отсутствует централизованная база)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3 (единая база знаний)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Внедрение внутреннего </a:t>
                      </a:r>
                      <a:r>
                        <a:rPr kumimoji="0" 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Wiki</a:t>
                      </a: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 на </a:t>
                      </a:r>
                      <a:r>
                        <a:rPr kumimoji="0" 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Confluence</a:t>
                      </a: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 / </a:t>
                      </a:r>
                      <a:r>
                        <a:rPr kumimoji="0" lang="ru-RU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Notion</a:t>
                      </a: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 Unicode MS" pitchFamily="34" charset="-128"/>
                          <a:cs typeface="Arial Unicode MS" pitchFamily="34" charset="-128"/>
                        </a:rPr>
                        <a:t> для документации и обучения.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9551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7B89B-ADA0-6671-7801-CB8088E1C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>
            <a:extLst>
              <a:ext uri="{FF2B5EF4-FFF2-40B4-BE49-F238E27FC236}">
                <a16:creationId xmlns:a16="http://schemas.microsoft.com/office/drawing/2014/main" id="{DCB4FE63-E175-85DC-5B78-5BD5117D9F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838200"/>
          </a:xfrm>
        </p:spPr>
        <p:txBody>
          <a:bodyPr wrap="square" anchor="b">
            <a:normAutofit/>
          </a:bodyPr>
          <a:lstStyle/>
          <a:p>
            <a:pPr eaLnBrk="1" hangingPunct="1"/>
            <a:r>
              <a:rPr lang="ru-RU" dirty="0"/>
              <a:t>4. Управление ИТ</a:t>
            </a:r>
            <a:br>
              <a:rPr lang="ru-RU" dirty="0"/>
            </a:br>
            <a:r>
              <a:rPr lang="ru-RU" dirty="0"/>
              <a:t>4.2. ИТ процессы</a:t>
            </a:r>
          </a:p>
        </p:txBody>
      </p:sp>
      <p:pic>
        <p:nvPicPr>
          <p:cNvPr id="3" name="Picture 2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26B072EF-0BC9-425D-17C1-F40FDCE2A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5400"/>
            <a:ext cx="8229600" cy="3888485"/>
          </a:xfrm>
          <a:prstGeom prst="rect">
            <a:avLst/>
          </a:prstGeom>
          <a:noFill/>
        </p:spPr>
      </p:pic>
      <p:sp>
        <p:nvSpPr>
          <p:cNvPr id="91" name="Номер слайда 2">
            <a:extLst>
              <a:ext uri="{FF2B5EF4-FFF2-40B4-BE49-F238E27FC236}">
                <a16:creationId xmlns:a16="http://schemas.microsoft.com/office/drawing/2014/main" id="{0C524AC8-232F-2F0D-1A87-FBF56F3754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04800" y="6534150"/>
            <a:ext cx="1219200" cy="3238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3ED3E953-4B30-47EC-A0B5-CD5599E1AE54}" type="slidenum">
              <a:rPr lang="en-US" smtClean="0"/>
              <a:pPr>
                <a:spcAft>
                  <a:spcPts val="600"/>
                </a:spcAft>
                <a:defRPr/>
              </a:pPr>
              <a:t>20</a:t>
            </a:fld>
            <a:endParaRPr lang="en-US"/>
          </a:p>
        </p:txBody>
      </p:sp>
      <p:sp>
        <p:nvSpPr>
          <p:cNvPr id="92" name="Нижний колонтитул 3">
            <a:extLst>
              <a:ext uri="{FF2B5EF4-FFF2-40B4-BE49-F238E27FC236}">
                <a16:creationId xmlns:a16="http://schemas.microsoft.com/office/drawing/2014/main" id="{723458CF-7DE3-35C3-4C70-2D446AA24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8400" y="6534150"/>
            <a:ext cx="4114800" cy="3238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endParaRPr lang="en-US" sz="9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endParaRPr lang="en-US" sz="90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7384B9-AE30-4DB9-D337-27351CECE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257800"/>
            <a:ext cx="8153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/>
          <a:lstStyle/>
          <a:p>
            <a:pPr>
              <a:lnSpc>
                <a:spcPct val="120000"/>
              </a:lnSpc>
              <a:buNone/>
              <a:defRPr/>
            </a:pPr>
            <a:r>
              <a:rPr lang="ru-RU" sz="1200" dirty="0"/>
              <a:t>Наиболее приоритетными направлениями развития являются </a:t>
            </a:r>
            <a:r>
              <a:rPr lang="ru-RU" sz="1200" dirty="0" err="1"/>
              <a:t>DevOps</a:t>
            </a:r>
            <a:r>
              <a:rPr lang="ru-RU" sz="1200" dirty="0"/>
              <a:t> / CI-CD и управление ИТ-проектами, где планируется достижение высокого уровня зрелости (4–5).</a:t>
            </a:r>
            <a:endParaRPr lang="vi-VN" sz="1200" dirty="0"/>
          </a:p>
          <a:p>
            <a:pPr>
              <a:lnSpc>
                <a:spcPct val="120000"/>
              </a:lnSpc>
              <a:buNone/>
              <a:defRPr/>
            </a:pPr>
            <a:br>
              <a:rPr lang="ru-RU" sz="1200" dirty="0"/>
            </a:br>
            <a:r>
              <a:rPr lang="ru-RU" sz="1200" dirty="0"/>
              <a:t>В области информационной безопасности и управления инцидентами предусмотрена автоматизация процессов и внедрение систем SLA и SOC.</a:t>
            </a:r>
          </a:p>
        </p:txBody>
      </p:sp>
    </p:spTree>
    <p:extLst>
      <p:ext uri="{BB962C8B-B14F-4D97-AF65-F5344CB8AC3E}">
        <p14:creationId xmlns:p14="http://schemas.microsoft.com/office/powerpoint/2010/main" val="1150455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4. Управление ИТ</a:t>
            </a:r>
            <a:br>
              <a:rPr lang="ru-RU"/>
            </a:br>
            <a:r>
              <a:rPr lang="ru-RU"/>
              <a:t>4.3. Численность сотрудников ИТ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DAC162-0ECC-466B-ADEA-FCB74EDDB83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633757"/>
              </p:ext>
            </p:extLst>
          </p:nvPr>
        </p:nvGraphicFramePr>
        <p:xfrm>
          <a:off x="292100" y="1905000"/>
          <a:ext cx="8470900" cy="25958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5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Предприятие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Число</a:t>
                      </a:r>
                      <a:r>
                        <a:rPr lang="ru-RU" sz="1200" baseline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</a:rPr>
                        <a:t>пользова-телей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ИТ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Число ИТ </a:t>
                      </a: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</a:rPr>
                        <a:t>специалис-тов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Число пользователей на 1 сотрудника ИТ 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% расходов на ИТ от оборота  компании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ИТ затраты на одного  пользователя,</a:t>
                      </a:r>
                      <a:r>
                        <a:rPr lang="ru-RU" sz="1200" baseline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тыс.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$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Игровая студия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Mundfish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vi-VN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25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vi-VN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vi-VN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12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vi-VN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2,0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% 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vi-VN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1,2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Производственные предприятия (среднее)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15-25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0,2-0,3% 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0,3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В среднем по России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vi-VN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15-20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1-2%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1,8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3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В среднем</a:t>
                      </a:r>
                      <a:r>
                        <a:rPr lang="ru-RU" sz="14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по развитым странам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15-20 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1,5-2,5% 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3,0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457200" y="4953000"/>
            <a:ext cx="8229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/>
          <a:lstStyle/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1400" dirty="0"/>
              <a:t>Численность сотрудников ИТ-служб и пользователей:</a:t>
            </a:r>
            <a:endParaRPr lang="vi-VN" sz="1400" dirty="0"/>
          </a:p>
          <a:p>
            <a:pPr marL="285750" indent="-285750">
              <a:lnSpc>
                <a:spcPct val="120000"/>
              </a:lnSpc>
              <a:defRPr/>
            </a:pPr>
            <a:r>
              <a:rPr lang="ru-RU" sz="1400" dirty="0"/>
              <a:t>Центральный офис (Москва) — ~20 человек</a:t>
            </a:r>
            <a:endParaRPr lang="vi-VN" sz="1400" dirty="0"/>
          </a:p>
          <a:p>
            <a:pPr marL="285750" indent="-285750">
              <a:lnSpc>
                <a:spcPct val="120000"/>
              </a:lnSpc>
              <a:defRPr/>
            </a:pPr>
            <a:r>
              <a:rPr lang="ru-RU" sz="1400" dirty="0"/>
              <a:t>Удалённые сотрудники (дизайнеры, QA, </a:t>
            </a:r>
            <a:r>
              <a:rPr lang="ru-RU" sz="1400" dirty="0" err="1"/>
              <a:t>DevOps</a:t>
            </a:r>
            <a:r>
              <a:rPr lang="ru-RU" sz="1400" dirty="0"/>
              <a:t>) — ~5 человек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233571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767327-06B8-4986-87DD-895ABCB40DD4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2772" name="Rectangle 2"/>
          <p:cNvSpPr txBox="1">
            <a:spLocks noChangeArrowheads="1"/>
          </p:cNvSpPr>
          <p:nvPr/>
        </p:nvSpPr>
        <p:spPr bwMode="auto"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ru-RU" dirty="0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4. Управление ИТ</a:t>
            </a:r>
          </a:p>
          <a:p>
            <a:pPr>
              <a:buFont typeface="Wingdings" pitchFamily="2" charset="2"/>
              <a:buNone/>
            </a:pPr>
            <a:r>
              <a:rPr lang="ru-RU" dirty="0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4.4. Оргструктура ИТ службы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037760"/>
              </p:ext>
            </p:extLst>
          </p:nvPr>
        </p:nvGraphicFramePr>
        <p:xfrm>
          <a:off x="38100" y="1318260"/>
          <a:ext cx="9067799" cy="4043464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80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2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2512">
                  <a:extLst>
                    <a:ext uri="{9D8B030D-6E8A-4147-A177-3AD203B41FA5}">
                      <a16:colId xmlns:a16="http://schemas.microsoft.com/office/drawing/2014/main" val="881927948"/>
                    </a:ext>
                  </a:extLst>
                </a:gridCol>
              </a:tblGrid>
              <a:tr h="3741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Текущее</a:t>
                      </a:r>
                      <a:r>
                        <a:rPr lang="ru-RU" sz="1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состояние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Требуемое состояние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Проекты по переходу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100" b="0" dirty="0"/>
                        <a:t>1. Отсутствует выделенная служба поддержки (Help Desk)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• Пользователи напрямую обращаются к администраторам.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• Нет учёта обращений и SLA.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100" b="0" dirty="0"/>
                        <a:t>Централизованный Service Desk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• Единая точка контакта для пользователей.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• SLA и мониторинг инцидентов.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100" b="0" dirty="0"/>
                        <a:t>1. Внедрение системы </a:t>
                      </a:r>
                      <a:r>
                        <a:rPr lang="ru-RU" sz="1100" b="0" dirty="0" err="1"/>
                        <a:t>Zammad</a:t>
                      </a:r>
                      <a:r>
                        <a:rPr lang="ru-RU" sz="1100" b="0" dirty="0"/>
                        <a:t> или </a:t>
                      </a:r>
                      <a:r>
                        <a:rPr lang="ru-RU" sz="1100" b="0" dirty="0" err="1"/>
                        <a:t>ServiceNow</a:t>
                      </a:r>
                      <a:r>
                        <a:rPr lang="ru-RU" sz="1100" b="0" dirty="0"/>
                        <a:t>.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2. Обучение сотрудников ITIL-практикам.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2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100" b="0" dirty="0"/>
                        <a:t>2. Перекрытие ролей в ИТ-отделе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• Разработчики и системные администраторы выполняют поддержку.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• Нет чёткого разделения ответственности.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100" b="0" dirty="0"/>
                        <a:t>Разделение на команды по функциям: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• Поддержка (L1-L3).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• Разработка игровых сервисов.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• Архитектура и планирование.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100" b="0" dirty="0"/>
                        <a:t>1. Перераспределение обязанностей.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2. Введение KPI по роли и команде.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0142936"/>
                  </a:ext>
                </a:extLst>
              </a:tr>
              <a:tr h="6517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100" b="0" dirty="0"/>
                        <a:t>3. Децентрализация ИТ в филиалах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• Разные стандарты в офисах (Москва, Кипр, ОАЭ).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100" b="0" dirty="0"/>
                        <a:t>Централизованное управление через ЦОД и VPN.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• Общие политики и стандарты.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100" b="0" dirty="0"/>
                        <a:t>1. Создание единого ИТ-центра компетенций.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2. Настройка удалённого управления (</a:t>
                      </a:r>
                      <a:r>
                        <a:rPr lang="ru-RU" sz="1100" b="0" dirty="0" err="1"/>
                        <a:t>TeamViewer</a:t>
                      </a:r>
                      <a:r>
                        <a:rPr lang="ru-RU" sz="1100" b="0" dirty="0"/>
                        <a:t> / </a:t>
                      </a:r>
                      <a:r>
                        <a:rPr lang="ru-RU" sz="1100" b="0" dirty="0" err="1"/>
                        <a:t>AnyDesk</a:t>
                      </a:r>
                      <a:r>
                        <a:rPr lang="ru-RU" sz="1100" b="0" dirty="0"/>
                        <a:t>).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8884776"/>
                  </a:ext>
                </a:extLst>
              </a:tr>
              <a:tr h="6517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100" b="0" dirty="0"/>
                        <a:t>4. Нет стратегических ИТ-ролей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• Нет архитектора ИТ.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• Планирование носит реактивный характер.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100" b="0" dirty="0"/>
                        <a:t>Создание стратегических должностей: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• ИТ-архитектор.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• Менеджер по ИТ-проектам.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100" b="0" dirty="0"/>
                        <a:t>1. Найм ИТ-архитектора.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2. Внедрение PPM-системы (управление портфелем проектов).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5340018"/>
                  </a:ext>
                </a:extLst>
              </a:tr>
              <a:tr h="6517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100" b="0" dirty="0"/>
                        <a:t>5. Низкий уровень аутсорсинга.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• Все работы ведутся внутренней командой.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• Высокая нагрузка на разработчиков.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100" b="0" dirty="0"/>
                        <a:t>Гибридная модель: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• Аутсорс Help Desk и бэкап-сервисов.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100" b="0" dirty="0"/>
                        <a:t>1. Выбор партнёра (например, ICL Services).</a:t>
                      </a:r>
                      <a:br>
                        <a:rPr lang="ru-RU" sz="1100" b="0" dirty="0"/>
                      </a:br>
                      <a:r>
                        <a:rPr lang="ru-RU" sz="1100" b="0" dirty="0"/>
                        <a:t>2. Постепенная передача вспомогательных задач.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3614016"/>
                  </a:ext>
                </a:extLst>
              </a:tr>
            </a:tbl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2860" y="5422684"/>
            <a:ext cx="4191000" cy="1111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/>
          <a:lstStyle/>
          <a:p>
            <a:r>
              <a:rPr lang="ru-RU" sz="1100" b="1" dirty="0"/>
              <a:t>Оргструктура ИТ-службы </a:t>
            </a:r>
            <a:r>
              <a:rPr lang="ru-RU" sz="1100" b="1" dirty="0" err="1"/>
              <a:t>Mundfish</a:t>
            </a:r>
            <a:endParaRPr lang="ru-RU" sz="1100" b="1" dirty="0"/>
          </a:p>
          <a:p>
            <a:r>
              <a:rPr lang="ru-RU" sz="1100" b="1" dirty="0"/>
              <a:t>Центральный офис (Москва)</a:t>
            </a:r>
            <a:r>
              <a:rPr lang="ru-RU" sz="1100" dirty="0"/>
              <a:t>:</a:t>
            </a:r>
            <a:br>
              <a:rPr lang="ru-RU" sz="1100" dirty="0"/>
            </a:br>
            <a:r>
              <a:rPr lang="ru-RU" sz="1100" dirty="0"/>
              <a:t>• Руководитель ИТ (1)</a:t>
            </a:r>
            <a:br>
              <a:rPr lang="ru-RU" sz="1100" dirty="0"/>
            </a:br>
            <a:r>
              <a:rPr lang="ru-RU" sz="1100" dirty="0"/>
              <a:t>• Системный администратор (1)</a:t>
            </a:r>
            <a:br>
              <a:rPr lang="ru-RU" sz="1100" dirty="0"/>
            </a:br>
            <a:r>
              <a:rPr lang="ru-RU" sz="1100" dirty="0"/>
              <a:t>• </a:t>
            </a:r>
            <a:r>
              <a:rPr lang="ru-RU" sz="1100" dirty="0" err="1"/>
              <a:t>DevOps</a:t>
            </a:r>
            <a:r>
              <a:rPr lang="ru-RU" sz="1100" dirty="0"/>
              <a:t> / CI-CD инженер (1)</a:t>
            </a:r>
            <a:br>
              <a:rPr lang="ru-RU" sz="1100" dirty="0"/>
            </a:br>
            <a:r>
              <a:rPr lang="ru-RU" sz="1100" dirty="0"/>
              <a:t>• Специалист по безопасности (1)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79B6D6-0A77-7FA6-ADEF-31B216B62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2" y="5399824"/>
            <a:ext cx="4343398" cy="1000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/>
          <a:lstStyle/>
          <a:p>
            <a:r>
              <a:rPr lang="ru-RU" sz="1100" b="1" dirty="0"/>
              <a:t>Удалённые филиалы (Кипр, ОАЭ)</a:t>
            </a:r>
            <a:r>
              <a:rPr lang="ru-RU" sz="1100" dirty="0"/>
              <a:t>:</a:t>
            </a:r>
            <a:br>
              <a:rPr lang="ru-RU" sz="1100" dirty="0"/>
            </a:br>
            <a:r>
              <a:rPr lang="ru-RU" sz="1100" dirty="0"/>
              <a:t>• 1 локальный специалист по поддержке.</a:t>
            </a:r>
          </a:p>
          <a:p>
            <a:r>
              <a:rPr lang="ru-RU" sz="1100" b="1" dirty="0"/>
              <a:t>Взаимодействие:</a:t>
            </a:r>
            <a:br>
              <a:rPr lang="ru-RU" sz="1100" dirty="0"/>
            </a:br>
            <a:r>
              <a:rPr lang="ru-RU" sz="1100" dirty="0"/>
              <a:t>Все запросы идут через центральный Service Desk → при необходимости направляются на </a:t>
            </a:r>
            <a:r>
              <a:rPr lang="ru-RU" sz="1100" dirty="0" err="1"/>
              <a:t>DevOps</a:t>
            </a:r>
            <a:r>
              <a:rPr lang="ru-RU" sz="1100" dirty="0"/>
              <a:t> или архитектора.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d Edison ESM">
  <a:themeElements>
    <a:clrScheme name="Ford Edison ESM 1">
      <a:dk1>
        <a:srgbClr val="000000"/>
      </a:dk1>
      <a:lt1>
        <a:srgbClr val="FFFFFF"/>
      </a:lt1>
      <a:dk2>
        <a:srgbClr val="061DC8"/>
      </a:dk2>
      <a:lt2>
        <a:srgbClr val="727272"/>
      </a:lt2>
      <a:accent1>
        <a:srgbClr val="7889FB"/>
      </a:accent1>
      <a:accent2>
        <a:srgbClr val="C7CDFD"/>
      </a:accent2>
      <a:accent3>
        <a:srgbClr val="FFFFFF"/>
      </a:accent3>
      <a:accent4>
        <a:srgbClr val="000000"/>
      </a:accent4>
      <a:accent5>
        <a:srgbClr val="BEC4FD"/>
      </a:accent5>
      <a:accent6>
        <a:srgbClr val="B4BAE5"/>
      </a:accent6>
      <a:hlink>
        <a:srgbClr val="669900"/>
      </a:hlink>
      <a:folHlink>
        <a:srgbClr val="8CC800"/>
      </a:folHlink>
    </a:clrScheme>
    <a:fontScheme name="Ford Edison ESM">
      <a:majorFont>
        <a:latin typeface="Arial"/>
        <a:ea typeface="Arial Unicode MS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91440" rIns="91440" bIns="91440" numCol="1" anchor="t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Wingdings" pitchFamily="2" charset="2"/>
          <a:buChar char="ü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91440" rIns="91440" bIns="91440" numCol="1" anchor="t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Wingdings" pitchFamily="2" charset="2"/>
          <a:buChar char="ü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Times New Roman" pitchFamily="18" charset="0"/>
          </a:defRPr>
        </a:defPPr>
      </a:lstStyle>
    </a:lnDef>
  </a:objectDefaults>
  <a:extraClrSchemeLst>
    <a:extraClrScheme>
      <a:clrScheme name="Ford Edison ESM 1">
        <a:dk1>
          <a:srgbClr val="000000"/>
        </a:dk1>
        <a:lt1>
          <a:srgbClr val="FFFFFF"/>
        </a:lt1>
        <a:dk2>
          <a:srgbClr val="061DC8"/>
        </a:dk2>
        <a:lt2>
          <a:srgbClr val="727272"/>
        </a:lt2>
        <a:accent1>
          <a:srgbClr val="7889FB"/>
        </a:accent1>
        <a:accent2>
          <a:srgbClr val="C7CDFD"/>
        </a:accent2>
        <a:accent3>
          <a:srgbClr val="FFFFFF"/>
        </a:accent3>
        <a:accent4>
          <a:srgbClr val="000000"/>
        </a:accent4>
        <a:accent5>
          <a:srgbClr val="BEC4FD"/>
        </a:accent5>
        <a:accent6>
          <a:srgbClr val="B4BAE5"/>
        </a:accent6>
        <a:hlink>
          <a:srgbClr val="669900"/>
        </a:hlink>
        <a:folHlink>
          <a:srgbClr val="8CC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22996</TotalTime>
  <Words>2870</Words>
  <Application>Microsoft Office PowerPoint</Application>
  <PresentationFormat>On-screen Show (4:3)</PresentationFormat>
  <Paragraphs>386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Unicode MS</vt:lpstr>
      <vt:lpstr>Century Gothic</vt:lpstr>
      <vt:lpstr>Courier New</vt:lpstr>
      <vt:lpstr>Times New Roman</vt:lpstr>
      <vt:lpstr>Wingdings</vt:lpstr>
      <vt:lpstr>Ford Edison ESM</vt:lpstr>
      <vt:lpstr>PowerPoint Presentation</vt:lpstr>
      <vt:lpstr>Основные слайды простой ИТ стратегии</vt:lpstr>
      <vt:lpstr>0. Бизнес-стратегия компании Mundfish 0.1. Базовая стратегия развития компании</vt:lpstr>
      <vt:lpstr>0.2. Матрица Ансоффа (бизнес-стратегия Mundfish)</vt:lpstr>
      <vt:lpstr>0.2. Стратегия развития по матрице Ансоффа</vt:lpstr>
      <vt:lpstr>0.3. Конкурентная стратегия по М. Портеру</vt:lpstr>
      <vt:lpstr>0.3. Конкурентная стратегия по М. Портеру</vt:lpstr>
      <vt:lpstr>0.4. Связь бизнес-стратегии и ИТ-стратегии</vt:lpstr>
      <vt:lpstr>1. Требования бизнеса к ИТ, цели ИТ 1.1. Цели бизнеса</vt:lpstr>
      <vt:lpstr>1. Требования бизнеса к ИТ, цели ИТ 1.2. Требования бизнеса к ИТ</vt:lpstr>
      <vt:lpstr>1. Требования бизнеса к ИТ, цели ИТ 1.3. Недостатки в текущем состоянии ИТ</vt:lpstr>
      <vt:lpstr>1. Требования бизнеса к ИТ, цели ИТ 1.4. Видение и миссия ИТ 1.5. Стратегические цели ИТ</vt:lpstr>
      <vt:lpstr>1. Требования бизнеса к ИТ, цели ИТ 1.4. Видение и миссия ИТ 1.5. Стратегические цели ИТ</vt:lpstr>
      <vt:lpstr>PowerPoint Presentation</vt:lpstr>
      <vt:lpstr>2. Приложения и данные 2.1. ИТ сервисы (или приложения)</vt:lpstr>
      <vt:lpstr>PowerPoint Presentation</vt:lpstr>
      <vt:lpstr>PowerPoint Presentation</vt:lpstr>
      <vt:lpstr>PowerPoint Presentation</vt:lpstr>
      <vt:lpstr>4. Управление ИТ 4.2. ИТ процессы</vt:lpstr>
      <vt:lpstr>4. Управление ИТ 4.2. ИТ процессы</vt:lpstr>
      <vt:lpstr>4. Управление ИТ 4.3. Численность сотрудников ИТ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ИТ стратегий</dc:title>
  <dc:creator>MAG</dc:creator>
  <cp:lastModifiedBy>Nguyễn Cao Bách</cp:lastModifiedBy>
  <cp:revision>2034</cp:revision>
  <cp:lastPrinted>2012-05-24T03:10:41Z</cp:lastPrinted>
  <dcterms:created xsi:type="dcterms:W3CDTF">1601-01-01T00:00:00Z</dcterms:created>
  <dcterms:modified xsi:type="dcterms:W3CDTF">2025-12-29T14:59:51Z</dcterms:modified>
</cp:coreProperties>
</file>