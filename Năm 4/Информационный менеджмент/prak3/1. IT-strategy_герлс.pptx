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362" r:id="rId2"/>
    <p:sldId id="1057" r:id="rId3"/>
    <p:sldId id="1073" r:id="rId4"/>
    <p:sldId id="1075" r:id="rId5"/>
    <p:sldId id="1074" r:id="rId6"/>
    <p:sldId id="1029" r:id="rId7"/>
    <p:sldId id="1076" r:id="rId8"/>
    <p:sldId id="1040" r:id="rId9"/>
    <p:sldId id="1088" r:id="rId10"/>
    <p:sldId id="1077" r:id="rId11"/>
    <p:sldId id="1055" r:id="rId12"/>
    <p:sldId id="1078" r:id="rId13"/>
    <p:sldId id="1036" r:id="rId14"/>
    <p:sldId id="1089" r:id="rId15"/>
    <p:sldId id="1087" r:id="rId16"/>
    <p:sldId id="1079" r:id="rId17"/>
    <p:sldId id="1090" r:id="rId18"/>
    <p:sldId id="1092" r:id="rId19"/>
    <p:sldId id="1093" r:id="rId20"/>
    <p:sldId id="1050" r:id="rId21"/>
    <p:sldId id="1094" r:id="rId22"/>
    <p:sldId id="1081" r:id="rId23"/>
    <p:sldId id="1095" r:id="rId24"/>
    <p:sldId id="1096" r:id="rId25"/>
    <p:sldId id="1091" r:id="rId26"/>
    <p:sldId id="1080" r:id="rId27"/>
    <p:sldId id="1097" r:id="rId28"/>
    <p:sldId id="1098" r:id="rId29"/>
  </p:sldIdLst>
  <p:sldSz cx="9144000" cy="6858000" type="screen4x3"/>
  <p:notesSz cx="6846888" cy="9980613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buFont typeface="Wingdings" pitchFamily="2" charset="2"/>
      <a:buChar char="ü"/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15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5FE"/>
    <a:srgbClr val="828282"/>
    <a:srgbClr val="6F6F6F"/>
    <a:srgbClr val="929292"/>
    <a:srgbClr val="262626"/>
    <a:srgbClr val="CFFDFC"/>
    <a:srgbClr val="B6FCFA"/>
    <a:srgbClr val="F35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5" autoAdjust="0"/>
    <p:restoredTop sz="78341" autoAdjust="0"/>
  </p:normalViewPr>
  <p:slideViewPr>
    <p:cSldViewPr>
      <p:cViewPr>
        <p:scale>
          <a:sx n="92" d="100"/>
          <a:sy n="92" d="100"/>
        </p:scale>
        <p:origin x="288" y="7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notesViewPr>
    <p:cSldViewPr>
      <p:cViewPr>
        <p:scale>
          <a:sx n="75" d="100"/>
          <a:sy n="75" d="100"/>
        </p:scale>
        <p:origin x="-1452" y="-72"/>
      </p:cViewPr>
      <p:guideLst>
        <p:guide orient="horz" pos="3144"/>
        <p:guide pos="215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t" anchorCtr="0" compatLnSpc="1">
            <a:prstTxWarp prst="textNoShape">
              <a:avLst/>
            </a:prstTxWarp>
          </a:bodyPr>
          <a:lstStyle>
            <a:lvl1pPr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ИТ стратегии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9850" y="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t" anchorCtr="0" compatLnSpc="1">
            <a:prstTxWarp prst="textNoShape">
              <a:avLst/>
            </a:prstTxWarp>
          </a:bodyPr>
          <a:lstStyle>
            <a:lvl1pPr algn="r"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8771BA-6FF2-4383-A03C-1C9470EFFFEF}" type="datetime1">
              <a:rPr lang="en-US"/>
              <a:pPr>
                <a:defRPr/>
              </a:pPr>
              <a:t>5/14/25</a:t>
            </a:fld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8055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b" anchorCtr="0" compatLnSpc="1">
            <a:prstTxWarp prst="textNoShape">
              <a:avLst/>
            </a:prstTxWarp>
          </a:bodyPr>
          <a:lstStyle>
            <a:lvl1pPr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9850" y="9480550"/>
            <a:ext cx="2967038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76" tIns="47838" rIns="95676" bIns="47838" numCol="1" anchor="b" anchorCtr="0" compatLnSpc="1">
            <a:prstTxWarp prst="textNoShape">
              <a:avLst/>
            </a:prstTxWarp>
          </a:bodyPr>
          <a:lstStyle>
            <a:lvl1pPr algn="r" defTabSz="957049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B512A45-BEC2-4C8A-BCDC-4AB7099839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34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54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t" anchorCtr="0" compatLnSpc="1">
            <a:prstTxWarp prst="textNoShape">
              <a:avLst/>
            </a:prstTxWarp>
          </a:bodyPr>
          <a:lstStyle>
            <a:lvl1pPr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ИТ стратегии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67037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t" anchorCtr="0" compatLnSpc="1">
            <a:prstTxWarp prst="textNoShape">
              <a:avLst/>
            </a:prstTxWarp>
          </a:bodyPr>
          <a:lstStyle>
            <a:lvl1pPr algn="r"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A7782EB-C898-4415-A822-887ABC219BD9}" type="datetime1">
              <a:rPr lang="en-US"/>
              <a:pPr>
                <a:defRPr/>
              </a:pPr>
              <a:t>5/14/25</a:t>
            </a:fld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5013"/>
            <a:ext cx="5018088" cy="3763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45038"/>
            <a:ext cx="50419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8488"/>
            <a:ext cx="29654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b" anchorCtr="0" compatLnSpc="1">
            <a:prstTxWarp prst="textNoShape">
              <a:avLst/>
            </a:prstTxWarp>
          </a:bodyPr>
          <a:lstStyle>
            <a:lvl1pPr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88488"/>
            <a:ext cx="2967037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45" tIns="46872" rIns="93745" bIns="46872" numCol="1" anchor="b" anchorCtr="0" compatLnSpc="1">
            <a:prstTxWarp prst="textNoShape">
              <a:avLst/>
            </a:prstTxWarp>
          </a:bodyPr>
          <a:lstStyle>
            <a:lvl1pPr algn="r" defTabSz="937617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 sz="1200">
                <a:solidFill>
                  <a:schemeClr val="bg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07F00D-575F-4C6B-AC3C-9DDE250C6F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3702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817D7804-23CD-465C-9C70-376AF869F2C4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0FE4B09-426D-4713-9FC7-064434F8EA78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6564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6565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F7E722D-5753-4152-8B6C-DB7A423D2E5D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6566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2CFDDDEC-29AB-4C16-86D6-A4821D72507E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7588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7589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BEBFA2-E30B-420B-A21C-3BB3A43F4A4A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7590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AB886E2-3C86-493F-AFEB-CC0D92BE7787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3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9636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9637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8897E94A-AD52-4C46-A9A5-2750D66ACCF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9638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53A8B5E9-2072-4917-A63D-0DBCFFB4937A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4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68612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68613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295DA29-821E-4385-9EC3-DA151050B89C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8614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4E86F120-09D7-49B5-91EA-EBC0945C4BDE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1684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1685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1437B4F-BD1C-4216-ADAF-6F45E4C01B13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1686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AC21D0D0-7DB1-4317-89B3-6F325C7E0948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6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2708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2709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05925B4-3ED8-4024-A6B5-DFA1E71A6BA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2710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691D3C5-FC63-4528-911D-16F39D12A3CB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7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6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3731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14C8A4B7-C172-40BA-8150-52A7E76AF083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373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42F9C53-1913-4CE7-8D5D-CB999CA01262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8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37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5038" y="750888"/>
            <a:ext cx="4986337" cy="3740150"/>
          </a:xfrm>
          <a:ln/>
        </p:spPr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4678363"/>
            <a:ext cx="6213475" cy="4751387"/>
          </a:xfrm>
          <a:noFill/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B0187-CB65-07F5-F2F6-BAE79BB54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6">
            <a:extLst>
              <a:ext uri="{FF2B5EF4-FFF2-40B4-BE49-F238E27FC236}">
                <a16:creationId xmlns:a16="http://schemas.microsoft.com/office/drawing/2014/main" id="{05E21FD6-F1C4-989C-58AF-302F2B0A14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3731" name="Rectangle 1027">
            <a:extLst>
              <a:ext uri="{FF2B5EF4-FFF2-40B4-BE49-F238E27FC236}">
                <a16:creationId xmlns:a16="http://schemas.microsoft.com/office/drawing/2014/main" id="{63B9AB39-F9FC-CB5E-AECD-C695461BE8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14C8A4B7-C172-40BA-8150-52A7E76AF083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3732" name="Rectangle 1031">
            <a:extLst>
              <a:ext uri="{FF2B5EF4-FFF2-40B4-BE49-F238E27FC236}">
                <a16:creationId xmlns:a16="http://schemas.microsoft.com/office/drawing/2014/main" id="{7EA85DCA-9920-7C60-5A17-F0B27AA99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42F9C53-1913-4CE7-8D5D-CB999CA01262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9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3733" name="Rectangle 2">
            <a:extLst>
              <a:ext uri="{FF2B5EF4-FFF2-40B4-BE49-F238E27FC236}">
                <a16:creationId xmlns:a16="http://schemas.microsoft.com/office/drawing/2014/main" id="{281167B3-2D63-DC24-107B-5A0F75100C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5038" y="750888"/>
            <a:ext cx="4986337" cy="3740150"/>
          </a:xfrm>
          <a:ln/>
        </p:spPr>
      </p:sp>
      <p:sp>
        <p:nvSpPr>
          <p:cNvPr id="73734" name="Rectangle 3">
            <a:extLst>
              <a:ext uri="{FF2B5EF4-FFF2-40B4-BE49-F238E27FC236}">
                <a16:creationId xmlns:a16="http://schemas.microsoft.com/office/drawing/2014/main" id="{AD9099D5-5887-583E-F123-3575734D1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4678363"/>
            <a:ext cx="6213475" cy="4751387"/>
          </a:xfrm>
          <a:noFill/>
        </p:spPr>
        <p:txBody>
          <a:bodyPr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097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5780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5781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C941502-69D3-4F23-A02A-F51C44176588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5782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1D02B371-7F4D-4386-A8C6-1C3B4E0C2AA4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10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6804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6805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624B310-ED08-43F0-92E7-10EB74422DD7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6806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A8B5E24-7552-4F92-BC8C-B1C55C8D56DC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11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7828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7829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2352136C-AE5B-4FCB-AEE0-E29F4B62633D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7830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403991FF-49B8-4BD0-A467-E55087CB9259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12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26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0899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049CFC04-FEB8-4CF1-BE4C-8752E94B3F16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090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30B08084-F927-47AA-8F2A-819CC5DDA1CA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13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5013"/>
            <a:ext cx="5018088" cy="3763962"/>
          </a:xfrm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9876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9877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689382E-EA0E-48D4-8CB6-B4287BFB2A34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9878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91813FB-EAB3-4EFC-9019-55BDB87A14ED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78852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78853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4BB2567-33D8-4B20-86DC-D025559F1C5C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78854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1A449B58-D040-47BA-98AF-8DA07F8E1834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16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1924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1925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54037166-9B93-4CBF-BF8B-6E6E0FCF9074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1926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01F408EA-D651-4B2C-B048-90EE0A4DC439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17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2947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41A5275-9373-4F50-A3A4-92299C663FB8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294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8E6A791-0374-40DB-9820-3E549F9C86C2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20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2947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41A5275-9373-4F50-A3A4-92299C663FB8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294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8E6A791-0374-40DB-9820-3E549F9C86C2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21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9225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3972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3973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8E563EC-6E36-4B10-9BE0-24A25C5F4DB2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3974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0E79909-18FC-4ADC-A61B-FBE1BE409A78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22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3972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3973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8E563EC-6E36-4B10-9BE0-24A25C5F4DB2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3974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0E79909-18FC-4ADC-A61B-FBE1BE409A78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23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549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3972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3973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F8E563EC-6E36-4B10-9BE0-24A25C5F4DB2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3974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90E79909-18FC-4ADC-A61B-FBE1BE409A78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24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6429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2947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D41A5275-9373-4F50-A3A4-92299C663FB8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294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5038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B8E6A791-0374-40DB-9820-3E549F9C86C2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4996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4997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AA346186-79CA-41BD-B79B-824D4EBA72B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4998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5B21E5E2-3AE5-4A83-9544-828A38F11AF5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26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4996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4997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AA346186-79CA-41BD-B79B-824D4EBA72B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4998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5B21E5E2-3AE5-4A83-9544-828A38F11AF5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27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855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Заметки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/>
          </a:p>
        </p:txBody>
      </p:sp>
      <p:sp>
        <p:nvSpPr>
          <p:cNvPr id="84996" name="Верхний колонтитул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bg2"/>
                </a:solidFill>
                <a:cs typeface="Arial" charset="0"/>
              </a:rPr>
              <a:t>ИТ стратегии</a:t>
            </a:r>
          </a:p>
        </p:txBody>
      </p:sp>
      <p:sp>
        <p:nvSpPr>
          <p:cNvPr id="84997" name="Дата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AA346186-79CA-41BD-B79B-824D4EBA72B0}" type="datetime1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5/14/25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84998" name="Номер слайда 5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fld id="{5B21E5E2-3AE5-4A83-9544-828A38F11AF5}" type="slidenum">
              <a:rPr lang="en-US" smtClean="0">
                <a:solidFill>
                  <a:schemeClr val="bg2"/>
                </a:solidFill>
                <a:cs typeface="Arial" charset="0"/>
              </a:rPr>
              <a:pPr eaLnBrk="1" hangingPunct="1"/>
              <a:t>28</a:t>
            </a:fld>
            <a:endParaRPr lang="en-US">
              <a:solidFill>
                <a:schemeClr val="bg2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98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hidden">
          <a:xfrm>
            <a:off x="0" y="5257800"/>
            <a:ext cx="9144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hidden">
          <a:xfrm>
            <a:off x="0" y="0"/>
            <a:ext cx="9144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endParaRPr lang="ru-RU" sz="2400">
              <a:solidFill>
                <a:schemeClr val="bg2"/>
              </a:solidFill>
              <a:cs typeface="Arial" charset="0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0" y="1600200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0" y="5257800"/>
            <a:ext cx="9144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3443288" y="1295400"/>
            <a:ext cx="35560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8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  <a:defRPr/>
            </a:pPr>
            <a:r>
              <a:rPr lang="en-US" sz="1600">
                <a:solidFill>
                  <a:schemeClr val="bg1"/>
                </a:solidFill>
                <a:cs typeface="Arial" pitchFamily="34" charset="0"/>
              </a:rPr>
              <a:t>   </a:t>
            </a:r>
            <a:endParaRPr lang="ru-RU" sz="160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267200"/>
            <a:ext cx="4343400" cy="914400"/>
          </a:xfrm>
        </p:spPr>
        <p:txBody>
          <a:bodyPr lIns="91440" tIns="18000" rIns="91440"/>
          <a:lstStyle>
            <a:lvl1pPr marL="0" indent="0">
              <a:buFont typeface="Wingdings" pitchFamily="2" charset="2"/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en-US" noProof="0"/>
              <a:t>Presentation subtitle</a:t>
            </a:r>
            <a:br>
              <a:rPr lang="en-US" altLang="en-US" noProof="0"/>
            </a:br>
            <a:r>
              <a:rPr lang="en-US" altLang="en-US" noProof="0"/>
              <a:t>or sectional title information</a:t>
            </a:r>
          </a:p>
          <a:p>
            <a:pPr lvl="0"/>
            <a:endParaRPr lang="en-US" noProof="0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2667000"/>
            <a:ext cx="5334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 anchor="t"/>
          <a:lstStyle>
            <a:lvl1pPr>
              <a:defRPr sz="2500" b="1"/>
            </a:lvl1pPr>
          </a:lstStyle>
          <a:p>
            <a:pPr lvl="0"/>
            <a:r>
              <a:rPr lang="ru-RU" altLang="en-US" noProof="0"/>
              <a:t>…</a:t>
            </a:r>
            <a:endParaRPr lang="en-US" noProof="0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ftr" sz="quarter" idx="10"/>
          </p:nvPr>
        </p:nvSpPr>
        <p:spPr>
          <a:xfrm>
            <a:off x="2362200" y="5867400"/>
            <a:ext cx="411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ru-RU" sz="1200"/>
              <a:t>Москва,</a:t>
            </a:r>
            <a:r>
              <a:rPr lang="en-US" sz="1200"/>
              <a:t>  2008</a:t>
            </a: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3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30060-187A-4A87-9E77-DDA0303DCB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74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24A0C8-D2EC-4C6F-8216-1B9C965C36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8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78856-0C06-4715-B545-50A1BC762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85744B-E6AC-49D9-9235-E824CFECAC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9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6CB45-17F4-4F43-823F-B86D2C45A7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7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53724-3E35-4872-A8C9-CB6C570694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5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B305B-95D3-49E7-BCEA-9E2AE0C03F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7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B7843-21FB-43F2-B1BD-BFDFF0DFC9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7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0CE7C-1F3C-4FC3-9EC3-C281CC6D81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5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943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9436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FF51E5-894C-4509-A5AC-1818F3F27A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32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919746-05DB-405A-818A-766FE0CC1B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08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Заголовок, объект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029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648200" y="1371600"/>
            <a:ext cx="4038600" cy="5029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6731C-D2AC-49B7-AC36-87D3F44362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7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hidden">
          <a:xfrm>
            <a:off x="0" y="6477000"/>
            <a:ext cx="9144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hidden">
          <a:xfrm>
            <a:off x="0" y="0"/>
            <a:ext cx="914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Main Slide Title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Level One</a:t>
            </a:r>
          </a:p>
          <a:p>
            <a:pPr lvl="1"/>
            <a:r>
              <a:rPr lang="en-US"/>
              <a:t>Level Two</a:t>
            </a:r>
          </a:p>
          <a:p>
            <a:pPr lvl="2"/>
            <a:r>
              <a:rPr lang="en-US"/>
              <a:t>Level Three</a:t>
            </a:r>
          </a:p>
          <a:p>
            <a:pPr lvl="3"/>
            <a:r>
              <a:rPr lang="en-US"/>
              <a:t>Level Four</a:t>
            </a:r>
          </a:p>
          <a:p>
            <a:pPr lvl="4"/>
            <a:r>
              <a:rPr lang="en-US"/>
              <a:t>Level Five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6534150"/>
            <a:ext cx="12192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4000" tIns="68400" rIns="91440" bIns="45720" numCol="1" anchor="t" anchorCtr="0" compatLnSpc="1">
            <a:prstTxWarp prst="textNoShape">
              <a:avLst/>
            </a:prstTxWarp>
          </a:bodyPr>
          <a:lstStyle>
            <a:lvl1pPr>
              <a:buFontTx/>
              <a:buNone/>
              <a:defRPr sz="1000">
                <a:solidFill>
                  <a:schemeClr val="bg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095391D-11AB-4FFA-B478-0547194A7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Line 12"/>
          <p:cNvSpPr>
            <a:spLocks noChangeShapeType="1"/>
          </p:cNvSpPr>
          <p:nvPr/>
        </p:nvSpPr>
        <p:spPr bwMode="auto">
          <a:xfrm flipV="1">
            <a:off x="1524000" y="6477000"/>
            <a:ext cx="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32" name="Line 13"/>
          <p:cNvSpPr>
            <a:spLocks noChangeShapeType="1"/>
          </p:cNvSpPr>
          <p:nvPr/>
        </p:nvSpPr>
        <p:spPr bwMode="auto">
          <a:xfrm>
            <a:off x="0" y="381000"/>
            <a:ext cx="9144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033" name="Line 14"/>
          <p:cNvSpPr>
            <a:spLocks noChangeShapeType="1"/>
          </p:cNvSpPr>
          <p:nvPr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034" name="Line 15"/>
          <p:cNvSpPr>
            <a:spLocks noChangeShapeType="1"/>
          </p:cNvSpPr>
          <p:nvPr/>
        </p:nvSpPr>
        <p:spPr bwMode="auto">
          <a:xfrm>
            <a:off x="457200" y="1295400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534150"/>
            <a:ext cx="41148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6840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FontTx/>
              <a:buNone/>
              <a:defRPr sz="1000">
                <a:solidFill>
                  <a:schemeClr val="bg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036" name="Text Box 17"/>
          <p:cNvSpPr txBox="1">
            <a:spLocks noChangeArrowheads="1"/>
          </p:cNvSpPr>
          <p:nvPr/>
        </p:nvSpPr>
        <p:spPr bwMode="auto">
          <a:xfrm>
            <a:off x="6705600" y="6540500"/>
            <a:ext cx="2438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buFontTx/>
              <a:buNone/>
              <a:defRPr/>
            </a:pPr>
            <a:r>
              <a:rPr lang="en-US" altLang="en-US" sz="1200">
                <a:solidFill>
                  <a:schemeClr val="bg1"/>
                </a:solidFill>
                <a:cs typeface="Arial" pitchFamily="34" charset="0"/>
              </a:rPr>
              <a:t>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4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" charset="0"/>
        </a:defRPr>
      </a:lvl9pPr>
    </p:titleStyle>
    <p:bodyStyle>
      <a:lvl1pPr marL="192088" indent="-192088" algn="l" rtl="0" eaLnBrk="0" fontAlgn="base" hangingPunct="0">
        <a:spcBef>
          <a:spcPct val="4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63550" indent="-185738" algn="l" rtl="0" eaLnBrk="0" fontAlgn="base" hangingPunct="0">
        <a:spcBef>
          <a:spcPct val="40000"/>
        </a:spcBef>
        <a:spcAft>
          <a:spcPct val="0"/>
        </a:spcAft>
        <a:buFont typeface="Arial" charset="0"/>
        <a:buChar char="-"/>
        <a:defRPr sz="1600">
          <a:solidFill>
            <a:schemeClr val="tx1"/>
          </a:solidFill>
          <a:latin typeface="+mn-lt"/>
          <a:cs typeface="+mn-cs"/>
        </a:defRPr>
      </a:lvl2pPr>
      <a:lvl3pPr marL="768350" indent="-193675" algn="l" rtl="0" eaLnBrk="0" fontAlgn="base" hangingPunct="0">
        <a:spcBef>
          <a:spcPct val="4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cs typeface="+mn-cs"/>
        </a:defRPr>
      </a:lvl3pPr>
      <a:lvl4pPr marL="1052513" indent="-180975" algn="l" rtl="0" eaLnBrk="0" fontAlgn="base" hangingPunct="0">
        <a:spcBef>
          <a:spcPct val="40000"/>
        </a:spcBef>
        <a:spcAft>
          <a:spcPct val="0"/>
        </a:spcAft>
        <a:buFont typeface="Arial" charset="0"/>
        <a:buChar char="-"/>
        <a:defRPr sz="1600">
          <a:solidFill>
            <a:schemeClr val="tx1"/>
          </a:solidFill>
          <a:latin typeface="+mn-lt"/>
          <a:cs typeface="+mn-cs"/>
        </a:defRPr>
      </a:lvl4pPr>
      <a:lvl5pPr marL="1381125" indent="-146050" algn="l" rtl="0" eaLnBrk="0" fontAlgn="base" hangingPunct="0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5pPr>
      <a:lvl6pPr marL="18383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6pPr>
      <a:lvl7pPr marL="22955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7pPr>
      <a:lvl8pPr marL="27527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8pPr>
      <a:lvl9pPr marL="3209925" indent="-146050" algn="l" rtl="0" fontAlgn="base">
        <a:spcBef>
          <a:spcPct val="40000"/>
        </a:spcBef>
        <a:spcAft>
          <a:spcPct val="0"/>
        </a:spcAft>
        <a:buFont typeface="Arial" charset="0"/>
        <a:buChar char="-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304800" y="4800600"/>
            <a:ext cx="39624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>
            <a:spAutoFit/>
          </a:bodyPr>
          <a:lstStyle/>
          <a:p>
            <a:pPr algn="ctr" eaLnBrk="0" hangingPunct="0"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ru-RU">
                <a:ea typeface="Arial Unicode MS" pitchFamily="34" charset="-128"/>
                <a:cs typeface="Arial Unicode MS" pitchFamily="34" charset="-128"/>
              </a:rPr>
              <a:t>   </a:t>
            </a:r>
            <a:endParaRPr lang="en-US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714ED5-0D91-9FAF-72B8-5901F756BB9D}"/>
              </a:ext>
            </a:extLst>
          </p:cNvPr>
          <p:cNvSpPr txBox="1"/>
          <p:nvPr/>
        </p:nvSpPr>
        <p:spPr>
          <a:xfrm>
            <a:off x="2590800" y="2050026"/>
            <a:ext cx="39624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IT </a:t>
            </a:r>
            <a:r>
              <a:rPr lang="ru-RU" sz="32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Стратегия</a:t>
            </a:r>
          </a:p>
          <a:p>
            <a:pPr algn="ctr">
              <a:buNone/>
            </a:pPr>
            <a:r>
              <a:rPr lang="ru-RU" sz="32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«Сады Придонья»</a:t>
            </a:r>
          </a:p>
          <a:p>
            <a:pPr algn="ctr">
              <a:buNone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6" name="Picture 2" descr="Вакансии «Сады Придонья»">
            <a:extLst>
              <a:ext uri="{FF2B5EF4-FFF2-40B4-BE49-F238E27FC236}">
                <a16:creationId xmlns:a16="http://schemas.microsoft.com/office/drawing/2014/main" id="{BC3F011D-2E91-DECC-3B5F-D6C8162DA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353122"/>
            <a:ext cx="3810000" cy="149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Основные слайды простой ИТ стратегии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94B30D-93F5-4B0D-ADEE-B9A06A82FF0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0485" name="Объект 2"/>
          <p:cNvSpPr txBox="1">
            <a:spLocks/>
          </p:cNvSpPr>
          <p:nvPr/>
        </p:nvSpPr>
        <p:spPr bwMode="auto">
          <a:xfrm>
            <a:off x="457200" y="1371600"/>
            <a:ext cx="4419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269875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 sz="1500" dirty="0">
                <a:cs typeface="Arial" charset="0"/>
              </a:rPr>
              <a:t>1. Требования бизнеса к ИТ, цели ИТ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1.1. Цели бизнеса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1.2. Требования бизнеса к ИТ</a:t>
            </a:r>
          </a:p>
          <a:p>
            <a:pPr lvl="1">
              <a:buNone/>
            </a:pPr>
            <a:r>
              <a:rPr lang="ru-RU" sz="1500" dirty="0">
                <a:cs typeface="Arial" charset="0"/>
              </a:rPr>
              <a:t>1.3. Недостатки в текущем состоянии ИТ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1.4. Видение и миссия ИТ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1.5. Стратегические цели ИТ</a:t>
            </a:r>
          </a:p>
          <a:p>
            <a:pPr>
              <a:buFont typeface="Wingdings" pitchFamily="2" charset="2"/>
              <a:buNone/>
            </a:pPr>
            <a:r>
              <a:rPr lang="ru-RU" sz="1500" dirty="0">
                <a:cs typeface="Arial" charset="0"/>
              </a:rPr>
              <a:t>2. Приложения и данные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2.</a:t>
            </a:r>
            <a:r>
              <a:rPr lang="en-US" sz="1500" dirty="0">
                <a:cs typeface="Arial" charset="0"/>
              </a:rPr>
              <a:t>1</a:t>
            </a:r>
            <a:r>
              <a:rPr lang="ru-RU" sz="1500" dirty="0">
                <a:cs typeface="Arial" charset="0"/>
              </a:rPr>
              <a:t>. ИТ сервисы (или приложения)</a:t>
            </a:r>
          </a:p>
          <a:p>
            <a:pPr>
              <a:buFont typeface="Wingdings" pitchFamily="2" charset="2"/>
              <a:buNone/>
            </a:pPr>
            <a:r>
              <a:rPr lang="ru-RU" sz="1500" dirty="0">
                <a:cs typeface="Arial" charset="0"/>
              </a:rPr>
              <a:t>3. Инфраструктура ИТ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3.1. ЦОДы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3.2. Коммуникации</a:t>
            </a:r>
          </a:p>
          <a:p>
            <a:pPr>
              <a:buFont typeface="Wingdings" pitchFamily="2" charset="2"/>
              <a:buNone/>
            </a:pPr>
            <a:r>
              <a:rPr lang="ru-RU" sz="1500" dirty="0">
                <a:cs typeface="Arial" charset="0"/>
              </a:rPr>
              <a:t>4. Управление ИТ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4.1. Аутсорсинг</a:t>
            </a:r>
          </a:p>
          <a:p>
            <a:pPr lvl="1">
              <a:buNone/>
            </a:pPr>
            <a:r>
              <a:rPr lang="ru-RU" sz="1500" dirty="0">
                <a:cs typeface="Arial" charset="0"/>
              </a:rPr>
              <a:t>4.2. ИТ процессы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4.3. Численность сотрудников ИТ</a:t>
            </a:r>
          </a:p>
          <a:p>
            <a:pPr lvl="1">
              <a:buNone/>
            </a:pPr>
            <a:r>
              <a:rPr lang="ru-RU" sz="1500" dirty="0">
                <a:cs typeface="Arial" charset="0"/>
              </a:rPr>
              <a:t>4.4. Оргструктура ИТ службы</a:t>
            </a:r>
          </a:p>
          <a:p>
            <a:pPr>
              <a:buFont typeface="Arial" charset="0"/>
              <a:buNone/>
            </a:pPr>
            <a:r>
              <a:rPr lang="ru-RU" sz="1500" dirty="0">
                <a:cs typeface="Arial" charset="0"/>
              </a:rPr>
              <a:t>5. ИТ проекты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5.1. Сравнение проектов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5.2. План проектов</a:t>
            </a:r>
          </a:p>
          <a:p>
            <a:pPr lvl="1">
              <a:buFont typeface="Arial" charset="0"/>
              <a:buNone/>
            </a:pPr>
            <a:r>
              <a:rPr lang="ru-RU" sz="1500" dirty="0">
                <a:cs typeface="Arial" charset="0"/>
              </a:rPr>
              <a:t>5.3. Описание проектов</a:t>
            </a:r>
          </a:p>
          <a:p>
            <a:pPr>
              <a:buFont typeface="Wingdings" pitchFamily="2" charset="2"/>
              <a:buNone/>
            </a:pPr>
            <a:r>
              <a:rPr lang="ru-RU" sz="1500" dirty="0">
                <a:cs typeface="Arial" charset="0"/>
              </a:rPr>
              <a:t>6. Пересмотр ИТ стратегии</a:t>
            </a:r>
          </a:p>
          <a:p>
            <a:pPr>
              <a:buFont typeface="Wingdings" pitchFamily="2" charset="2"/>
              <a:buNone/>
            </a:pPr>
            <a:endParaRPr lang="ru-RU" sz="1500" dirty="0"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1. Требования бизнеса к ИТ, цели ИТ</a:t>
            </a:r>
            <a:br>
              <a:rPr lang="ru-RU"/>
            </a:br>
            <a:r>
              <a:rPr lang="ru-RU"/>
              <a:t>1.1. Цели бизнеса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55E992-B1E2-423B-96F9-78549BD89F2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A35F9A3-88C8-E0C1-3111-876C37E86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2041012"/>
            <a:ext cx="8229600" cy="3690376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Требования бизнеса к ИТ, цели ИТ</a:t>
            </a:r>
            <a:br>
              <a:rPr lang="ru-RU" dirty="0"/>
            </a:br>
            <a:r>
              <a:rPr lang="ru-RU" dirty="0"/>
              <a:t>1.2. Требования бизнеса к ИТ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E2AC6-9CEA-48D4-930A-B8F8255846D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Прямоугольник 4"/>
          <p:cNvSpPr>
            <a:spLocks noChangeArrowheads="1"/>
          </p:cNvSpPr>
          <p:nvPr/>
        </p:nvSpPr>
        <p:spPr bwMode="auto">
          <a:xfrm>
            <a:off x="457200" y="1447800"/>
            <a:ext cx="8305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ru-RU" sz="1400" dirty="0"/>
              <a:t>После уточнение и согласования исходных требований бизнеса к ИТ, было выявлено 5 самых важных требований бизнеса.</a:t>
            </a:r>
          </a:p>
          <a:p>
            <a:pPr>
              <a:buFont typeface="Wingdings" pitchFamily="2" charset="2"/>
              <a:buNone/>
              <a:defRPr/>
            </a:pPr>
            <a:endParaRPr lang="ru-RU" sz="1400" dirty="0"/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DeepSeek-CJK-patch"/>
              </a:rPr>
              <a:t>Внедрение ERP-системы</a:t>
            </a:r>
            <a:endParaRPr lang="ru-RU" sz="14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Интеграция финансов, логистики и производства в единую платформу.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Пример: SAP, 1С:ERP.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DeepSeek-CJK-patch"/>
              </a:rPr>
              <a:t>Развитие </a:t>
            </a:r>
            <a:r>
              <a:rPr lang="ru-RU" sz="1400" b="1" i="0" dirty="0" err="1">
                <a:solidFill>
                  <a:srgbClr val="404040"/>
                </a:solidFill>
                <a:effectLst/>
                <a:latin typeface="DeepSeek-CJK-patch"/>
              </a:rPr>
              <a:t>digital</a:t>
            </a:r>
            <a:r>
              <a:rPr lang="ru-RU" sz="1400" b="1" i="0" dirty="0">
                <a:solidFill>
                  <a:srgbClr val="404040"/>
                </a:solidFill>
                <a:effectLst/>
                <a:latin typeface="DeepSeek-CJK-patch"/>
              </a:rPr>
              <a:t>-продаж</a:t>
            </a:r>
            <a:endParaRPr lang="ru-RU" sz="14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Запуск/модернизация интернет-магазина, подключение к </a:t>
            </a:r>
            <a:r>
              <a:rPr lang="ru-RU" sz="1400" b="0" i="0" dirty="0" err="1">
                <a:solidFill>
                  <a:srgbClr val="404040"/>
                </a:solidFill>
                <a:effectLst/>
                <a:latin typeface="DeepSeek-CJK-patch"/>
              </a:rPr>
              <a:t>Wildberries</a:t>
            </a: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, </a:t>
            </a:r>
            <a:r>
              <a:rPr lang="ru-RU" sz="1400" b="0" i="0" dirty="0" err="1">
                <a:solidFill>
                  <a:srgbClr val="404040"/>
                </a:solidFill>
                <a:effectLst/>
                <a:latin typeface="DeepSeek-CJK-patch"/>
              </a:rPr>
              <a:t>Ozon</a:t>
            </a: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Интеграция с CRM (например, Битрикс24).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DeepSeek-CJK-patch"/>
              </a:rPr>
              <a:t>Автоматизация логистики</a:t>
            </a:r>
            <a:endParaRPr lang="ru-RU" sz="14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Внедрение WMS (складской учет) и TMS (управление транспортом).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Маркировка товаров штрих-кодами для отслеживания.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DeepSeek-CJK-patch"/>
              </a:rPr>
              <a:t>Повышение ИТ-надежности</a:t>
            </a:r>
            <a:endParaRPr lang="ru-RU" sz="14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Обновление серверной инфраструктуры.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Внедрение DLP-систем для защиты данных.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DeepSeek-CJK-patch"/>
              </a:rPr>
              <a:t>BI для аналитики</a:t>
            </a:r>
            <a:endParaRPr lang="ru-RU" sz="14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Внедрение Power BI/</a:t>
            </a:r>
            <a:r>
              <a:rPr lang="ru-RU" sz="1400" b="0" i="0" dirty="0" err="1">
                <a:solidFill>
                  <a:srgbClr val="404040"/>
                </a:solidFill>
                <a:effectLst/>
                <a:latin typeface="DeepSeek-CJK-patch"/>
              </a:rPr>
              <a:t>Tableau</a:t>
            </a:r>
            <a:r>
              <a:rPr lang="ru-RU" sz="1400" b="0" i="0" dirty="0">
                <a:solidFill>
                  <a:srgbClr val="404040"/>
                </a:solidFill>
                <a:effectLst/>
                <a:latin typeface="DeepSeek-CJK-patch"/>
              </a:rPr>
              <a:t> для анализа продаж, рентабельности и запасов</a:t>
            </a:r>
            <a:endParaRPr lang="ru-RU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Требования бизнеса к ИТ, цели ИТ</a:t>
            </a:r>
            <a:br>
              <a:rPr lang="ru-RU" dirty="0"/>
            </a:br>
            <a:r>
              <a:rPr lang="ru-RU" dirty="0"/>
              <a:t>1.3. Недостатки в текущем состоянии ИТ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A376B1-8B0D-4EB9-A2D7-B8CE90A82C1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11BC58-CFDC-5231-6F99-6C9120C0D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72" y="1903984"/>
            <a:ext cx="8410128" cy="3341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690355"/>
            <a:ext cx="8229600" cy="838200"/>
          </a:xfrm>
        </p:spPr>
        <p:txBody>
          <a:bodyPr/>
          <a:lstStyle/>
          <a:p>
            <a:r>
              <a:rPr lang="ru-RU" sz="1400" dirty="0"/>
              <a:t>1. Требования бизнеса к ИТ, цели ИТ</a:t>
            </a:r>
            <a:br>
              <a:rPr lang="ru-RU" sz="1400" dirty="0"/>
            </a:br>
            <a:r>
              <a:rPr lang="ru-RU" sz="1400" dirty="0"/>
              <a:t>1.4. Видение и миссия ИТ</a:t>
            </a:r>
            <a:br>
              <a:rPr lang="ru-RU" sz="1400" dirty="0"/>
            </a:br>
            <a:r>
              <a:rPr lang="ru-RU" sz="1400" dirty="0"/>
              <a:t>1.5. Стратегические цели ИТ</a:t>
            </a:r>
            <a:br>
              <a:rPr lang="ru-RU" sz="1400" dirty="0"/>
            </a:br>
            <a:r>
              <a:rPr lang="ru-RU" sz="1400" dirty="0"/>
              <a:t>Соответствие целям ИТ целям бизнеса</a:t>
            </a:r>
          </a:p>
        </p:txBody>
      </p:sp>
      <p:sp>
        <p:nvSpPr>
          <p:cNvPr id="6" name="Номер слайда 3"/>
          <p:cNvSpPr txBox="1">
            <a:spLocks noGrp="1"/>
          </p:cNvSpPr>
          <p:nvPr/>
        </p:nvSpPr>
        <p:spPr bwMode="auto">
          <a:xfrm>
            <a:off x="304800" y="6534150"/>
            <a:ext cx="1219200" cy="3238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44000" tIns="68400"/>
          <a:lstStyle/>
          <a:p>
            <a:pPr>
              <a:buFontTx/>
              <a:buNone/>
              <a:defRPr/>
            </a:pPr>
            <a:fld id="{9436B536-75CC-42F9-8715-33CCEB194559}" type="slidenum">
              <a:rPr lang="en-US" sz="1000">
                <a:solidFill>
                  <a:schemeClr val="bg1"/>
                </a:solidFill>
                <a:cs typeface="+mn-cs"/>
              </a:rPr>
              <a:pPr>
                <a:buFontTx/>
                <a:buNone/>
                <a:defRPr/>
              </a:pPr>
              <a:t>6</a:t>
            </a:fld>
            <a:endParaRPr lang="en-US" sz="1000">
              <a:solidFill>
                <a:schemeClr val="bg1"/>
              </a:solidFill>
              <a:cs typeface="+mn-c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B874AE6-CBE8-508E-88A6-50CE2F026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78" y="1981200"/>
            <a:ext cx="8055044" cy="3348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51F4E4-008F-4F63-BBB4-0BC3154597D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2. Приложения и данные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2.1. ИТ сервисы (или приложения)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57200" y="1589088"/>
          <a:ext cx="8229600" cy="15352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Текущее</a:t>
                      </a:r>
                      <a:r>
                        <a:rPr lang="ru-RU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состояние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Требуемое состояние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2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Основные недостатки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Основные проекты по переходу в требуемое состояние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57200" y="3733800"/>
            <a:ext cx="82296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/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1600" dirty="0"/>
              <a:t>Основные приложения:</a:t>
            </a:r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ru-RU" sz="1400" dirty="0"/>
              <a:t>Перечень приложений, которые надо внедрить</a:t>
            </a:r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ru-RU" sz="1400" dirty="0"/>
              <a:t>Перечень основных изменений в функциональности имеющихся приложений</a:t>
            </a:r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ru-RU" sz="1400" dirty="0"/>
              <a:t>Перечень приложений, от которых целесообразно постепенно отказаться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C445E5-FE47-485A-8451-B675D5EEA322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7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 bwMode="gray"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tIns="46038" bIns="46038"/>
          <a:lstStyle/>
          <a:p>
            <a:r>
              <a:rPr lang="ru-RU"/>
              <a:t>2. Приложения и данные</a:t>
            </a:r>
            <a:br>
              <a:rPr lang="ru-RU"/>
            </a:br>
            <a:r>
              <a:rPr lang="ru-RU"/>
              <a:t>2.1. ИТ сервисы (или приложения)</a:t>
            </a:r>
            <a:endParaRPr lang="de-DE"/>
          </a:p>
        </p:txBody>
      </p:sp>
      <p:sp>
        <p:nvSpPr>
          <p:cNvPr id="27656" name="Rectangle 6"/>
          <p:cNvSpPr>
            <a:spLocks noChangeArrowheads="1"/>
          </p:cNvSpPr>
          <p:nvPr/>
        </p:nvSpPr>
        <p:spPr bwMode="auto">
          <a:xfrm>
            <a:off x="1089025" y="1868488"/>
            <a:ext cx="1833563" cy="377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Tx/>
              <a:buNone/>
            </a:pPr>
            <a:endParaRPr lang="de-DE" sz="1200" b="1" i="1">
              <a:cs typeface="Arial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AFCECFA-1AD0-2D87-F073-97BD70DB74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57200" y="1676400"/>
            <a:ext cx="8229600" cy="3218907"/>
          </a:xfr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E6D4-3C8D-ADFD-99A7-D1674D7B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Номер слайда 4">
            <a:extLst>
              <a:ext uri="{FF2B5EF4-FFF2-40B4-BE49-F238E27FC236}">
                <a16:creationId xmlns:a16="http://schemas.microsoft.com/office/drawing/2014/main" id="{5E97FE00-C6A5-2C53-EE3C-396FDFDF5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C445E5-FE47-485A-8451-B675D5EEA322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27" name="Нижний колонтитул 5">
            <a:extLst>
              <a:ext uri="{FF2B5EF4-FFF2-40B4-BE49-F238E27FC236}">
                <a16:creationId xmlns:a16="http://schemas.microsoft.com/office/drawing/2014/main" id="{2F30E565-C3C5-19A8-CB43-87C279FE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C1D83433-DCAB-E730-A03B-F06171009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tIns="46038" bIns="46038"/>
          <a:lstStyle/>
          <a:p>
            <a:r>
              <a:rPr lang="ru-RU"/>
              <a:t>2. Приложения и данные</a:t>
            </a:r>
            <a:br>
              <a:rPr lang="ru-RU"/>
            </a:br>
            <a:r>
              <a:rPr lang="ru-RU"/>
              <a:t>2.1. ИТ сервисы (или приложения)</a:t>
            </a:r>
            <a:endParaRPr lang="de-DE"/>
          </a:p>
        </p:txBody>
      </p:sp>
      <p:sp>
        <p:nvSpPr>
          <p:cNvPr id="27656" name="Rectangle 6">
            <a:extLst>
              <a:ext uri="{FF2B5EF4-FFF2-40B4-BE49-F238E27FC236}">
                <a16:creationId xmlns:a16="http://schemas.microsoft.com/office/drawing/2014/main" id="{FB96CFD0-974F-4474-87E2-324458EBF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1868488"/>
            <a:ext cx="1833563" cy="377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Tx/>
              <a:buNone/>
            </a:pPr>
            <a:endParaRPr lang="de-DE" sz="1200" b="1" i="1">
              <a:cs typeface="Arial" charset="0"/>
            </a:endParaRPr>
          </a:p>
        </p:txBody>
      </p:sp>
      <p:pic>
        <p:nvPicPr>
          <p:cNvPr id="2" name="Объект 4">
            <a:extLst>
              <a:ext uri="{FF2B5EF4-FFF2-40B4-BE49-F238E27FC236}">
                <a16:creationId xmlns:a16="http://schemas.microsoft.com/office/drawing/2014/main" id="{7A4AC250-70B6-408C-E436-16D434F2B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0748" y="1371600"/>
            <a:ext cx="6730104" cy="4330436"/>
          </a:xfrm>
        </p:spPr>
      </p:pic>
    </p:spTree>
    <p:extLst>
      <p:ext uri="{BB962C8B-B14F-4D97-AF65-F5344CB8AC3E}">
        <p14:creationId xmlns:p14="http://schemas.microsoft.com/office/powerpoint/2010/main" val="377645674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A33A4C-692B-4A97-A793-764E626F0D4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9700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 Инфраструктура ИТ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3.1. ЦОДы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3.2. Коммуникации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57200" y="3657600"/>
            <a:ext cx="8229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/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1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EB41921-6A9D-3AE2-DF18-52C9251BE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08671"/>
              </p:ext>
            </p:extLst>
          </p:nvPr>
        </p:nvGraphicFramePr>
        <p:xfrm>
          <a:off x="304800" y="1600200"/>
          <a:ext cx="8610601" cy="4572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93497790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28925226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802165533"/>
                    </a:ext>
                  </a:extLst>
                </a:gridCol>
                <a:gridCol w="1671092">
                  <a:extLst>
                    <a:ext uri="{9D8B030D-6E8A-4147-A177-3AD203B41FA5}">
                      <a16:colId xmlns:a16="http://schemas.microsoft.com/office/drawing/2014/main" val="3772758424"/>
                    </a:ext>
                  </a:extLst>
                </a:gridCol>
                <a:gridCol w="1605509">
                  <a:extLst>
                    <a:ext uri="{9D8B030D-6E8A-4147-A177-3AD203B41FA5}">
                      <a16:colId xmlns:a16="http://schemas.microsoft.com/office/drawing/2014/main" val="949304613"/>
                    </a:ext>
                  </a:extLst>
                </a:gridCol>
              </a:tblGrid>
              <a:tr h="319354">
                <a:tc>
                  <a:txBody>
                    <a:bodyPr/>
                    <a:lstStyle/>
                    <a:p>
                      <a:pPr algn="l"/>
                      <a:r>
                        <a:rPr lang="ru-RU" sz="600" b="1">
                          <a:effectLst/>
                        </a:rPr>
                        <a:t>Критерий</a:t>
                      </a:r>
                    </a:p>
                  </a:txBody>
                  <a:tcPr marL="2886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600" b="1">
                          <a:effectLst/>
                        </a:rPr>
                        <a:t>Текущее состояние (недостатки)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600" b="1">
                          <a:effectLst/>
                        </a:rPr>
                        <a:t>Основные проекты по устранению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600" b="1">
                          <a:effectLst/>
                        </a:rPr>
                        <a:t>Требуемое состояние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600" b="1">
                          <a:effectLst/>
                        </a:rPr>
                        <a:t>Проекты для перехода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32428"/>
                  </a:ext>
                </a:extLst>
              </a:tr>
              <a:tr h="983323">
                <a:tc>
                  <a:txBody>
                    <a:bodyPr/>
                    <a:lstStyle/>
                    <a:p>
                      <a:r>
                        <a:rPr lang="ru-RU" sz="600" b="1">
                          <a:effectLst/>
                        </a:rPr>
                        <a:t>1. Локальный ЦОД</a:t>
                      </a:r>
                      <a:endParaRPr lang="ru-RU" sz="600">
                        <a:effectLst/>
                      </a:endParaRPr>
                    </a:p>
                  </a:txBody>
                  <a:tcPr marL="2886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- Устаревшее серверное оборудование (более 5 лет в эксплуатации)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- Отсутствие резервного питания и климат-контроля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- Модернизация серверов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- Внедрение СХД (NAS/SAN)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- Организация резервного электропитания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Отказоустойчивый локальный ЦОД уровня Tier II с автономной работой до 24 часов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1. Закупка нового оборудования (HP/Dell)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2. Внедрение ИБП и дизель-генератора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812508"/>
                  </a:ext>
                </a:extLst>
              </a:tr>
              <a:tr h="909548">
                <a:tc>
                  <a:txBody>
                    <a:bodyPr/>
                    <a:lstStyle/>
                    <a:p>
                      <a:r>
                        <a:rPr lang="ru-RU" sz="600" b="1">
                          <a:effectLst/>
                        </a:rPr>
                        <a:t>2. Резервное копирование</a:t>
                      </a:r>
                      <a:endParaRPr lang="ru-RU" sz="600">
                        <a:effectLst/>
                      </a:endParaRPr>
                    </a:p>
                  </a:txBody>
                  <a:tcPr marL="2886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- Ручное копирование на внешние HDD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- Нет регламента хранения резервных копий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- Автоматизация бэкапов (Veeam или аналоги)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- Организация offsite-копий в облако (Яндекс.Облако)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Ежедневные инкрементные бэкапы с хранением: 7 дней локально + 30 дней в облаке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1. Настройка backup-решений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2. Интеграция с облачными сервисами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29505"/>
                  </a:ext>
                </a:extLst>
              </a:tr>
              <a:tr h="835775">
                <a:tc>
                  <a:txBody>
                    <a:bodyPr/>
                    <a:lstStyle/>
                    <a:p>
                      <a:r>
                        <a:rPr lang="ru-RU" sz="600" b="1">
                          <a:effectLst/>
                        </a:rPr>
                        <a:t>3. Сетевая инфраструктура</a:t>
                      </a:r>
                      <a:endParaRPr lang="ru-RU" sz="600">
                        <a:effectLst/>
                      </a:endParaRPr>
                    </a:p>
                  </a:txBody>
                  <a:tcPr marL="2886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dirty="0">
                          <a:effectLst/>
                        </a:rPr>
                        <a:t>- Низкая скорость WAN-связи с филиалами (10-50 Мбит/с)</a:t>
                      </a:r>
                      <a:br>
                        <a:rPr lang="ru-RU" sz="600" dirty="0">
                          <a:effectLst/>
                        </a:rPr>
                      </a:br>
                      <a:r>
                        <a:rPr lang="ru-RU" sz="600" dirty="0">
                          <a:effectLst/>
                        </a:rPr>
                        <a:t>- Отсутствие VPN для удаленных сотрудников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- Апгрейд каналов до 100+ Мбит/с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- Внедрение SD-WAN или IPSec VPN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Высокоскоростная отказоустойчивая сеть с шифрованием трафика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1. Заключение договора с провайдером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2. Настройка VPN-концентраторов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835539"/>
                  </a:ext>
                </a:extLst>
              </a:tr>
              <a:tr h="688225">
                <a:tc>
                  <a:txBody>
                    <a:bodyPr/>
                    <a:lstStyle/>
                    <a:p>
                      <a:r>
                        <a:rPr lang="ru-RU" sz="600" b="1">
                          <a:effectLst/>
                        </a:rPr>
                        <a:t>4. Облачная стратегия</a:t>
                      </a:r>
                      <a:endParaRPr lang="ru-RU" sz="600">
                        <a:effectLst/>
                      </a:endParaRPr>
                    </a:p>
                  </a:txBody>
                  <a:tcPr marL="2886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- Нет использования облаков для критичных систем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- Данные только on-premise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- Перенос части сервисов в hybrid-cloud (1С в облаке, почта на Office 365)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Гибридная инфраструктура: критичные системы on-premise, второстепенные — в облаке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1. Пилотный проект с 1С:Облако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2. Миграция почты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36237"/>
                  </a:ext>
                </a:extLst>
              </a:tr>
              <a:tr h="835775">
                <a:tc>
                  <a:txBody>
                    <a:bodyPr/>
                    <a:lstStyle/>
                    <a:p>
                      <a:r>
                        <a:rPr lang="ru-RU" sz="600" b="1">
                          <a:effectLst/>
                        </a:rPr>
                        <a:t>5. Безопасность</a:t>
                      </a:r>
                      <a:endParaRPr lang="ru-RU" sz="600">
                        <a:effectLst/>
                      </a:endParaRPr>
                    </a:p>
                  </a:txBody>
                  <a:tcPr marL="2886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- Отсутствие DLP и SIEM-систем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- Антивирус без централизованного управления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- Внедрение </a:t>
                      </a:r>
                      <a:r>
                        <a:rPr lang="en-US" sz="600">
                          <a:effectLst/>
                        </a:rPr>
                        <a:t>Fortinet/Sophos </a:t>
                      </a:r>
                      <a:r>
                        <a:rPr lang="ru-RU" sz="600">
                          <a:effectLst/>
                        </a:rPr>
                        <a:t>для защиты периметра</a:t>
                      </a:r>
                      <a:br>
                        <a:rPr lang="ru-RU" sz="600">
                          <a:effectLst/>
                        </a:rPr>
                      </a:br>
                      <a:r>
                        <a:rPr lang="ru-RU" sz="600">
                          <a:effectLst/>
                        </a:rPr>
                        <a:t>- Развертывание </a:t>
                      </a:r>
                      <a:r>
                        <a:rPr lang="en-US" sz="600">
                          <a:effectLst/>
                        </a:rPr>
                        <a:t>SOC (Security Operations Center)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>
                          <a:effectLst/>
                        </a:rPr>
                        <a:t>Многоуровневая защита: файрволл + DLP + мониторинг угроз в реальном времени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dirty="0">
                          <a:effectLst/>
                        </a:rPr>
                        <a:t>1. Установка UTM-решений</a:t>
                      </a:r>
                      <a:br>
                        <a:rPr lang="ru-RU" sz="600" dirty="0">
                          <a:effectLst/>
                        </a:rPr>
                      </a:br>
                      <a:r>
                        <a:rPr lang="ru-RU" sz="600" dirty="0">
                          <a:effectLst/>
                        </a:rPr>
                        <a:t>2. Обучение ИТ-персонала</a:t>
                      </a:r>
                    </a:p>
                  </a:txBody>
                  <a:tcPr marL="15032" marR="15032" marT="15032" marB="1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803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5358CC-D998-4AF2-B15B-2C1FBBF4D7C9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3072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47812"/>
            <a:ext cx="7535863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25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 Инфраструктура ИТ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3.1. ЦОДы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3.2. Коммуникации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2AE6F8-6F9B-43BC-AF55-394FCB84EE8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1748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4. Управление ИТ</a:t>
            </a:r>
          </a:p>
          <a:p>
            <a:pPr>
              <a:buFont typeface="Wingdings" pitchFamily="2" charset="2"/>
              <a:buNone/>
            </a:pPr>
            <a:r>
              <a:rPr lang="ru-RU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4.1. Аутсорсинг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57200" y="518160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/>
          <a:lstStyle/>
          <a:p>
            <a:pPr algn="l">
              <a:buNone/>
            </a:pPr>
            <a:r>
              <a:rPr lang="ru-RU" sz="1600" b="1" i="0" dirty="0">
                <a:solidFill>
                  <a:srgbClr val="404040"/>
                </a:solidFill>
                <a:effectLst/>
                <a:latin typeface="DeepSeek-CJK-patch"/>
              </a:rPr>
              <a:t>Рекомендации:</a:t>
            </a:r>
            <a:endParaRPr lang="ru-RU" sz="16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404040"/>
                </a:solidFill>
                <a:effectLst/>
                <a:latin typeface="DeepSeek-CJK-patch"/>
              </a:rPr>
              <a:t>Сохранить внутри компании:</a:t>
            </a:r>
            <a:r>
              <a:rPr lang="ru-RU" sz="1600" b="0" i="0" dirty="0">
                <a:solidFill>
                  <a:srgbClr val="404040"/>
                </a:solidFill>
                <a:effectLst/>
                <a:latin typeface="DeepSeek-CJK-patch"/>
              </a:rPr>
              <a:t> Управление ERP, кибербезопасность.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600" b="1" i="0" dirty="0" err="1">
                <a:solidFill>
                  <a:srgbClr val="404040"/>
                </a:solidFill>
                <a:effectLst/>
                <a:latin typeface="DeepSeek-CJK-patch"/>
              </a:rPr>
              <a:t>Аутсорсить</a:t>
            </a:r>
            <a:r>
              <a:rPr lang="ru-RU" sz="1600" b="1" i="0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  <a:r>
              <a:rPr lang="ru-RU" sz="1600" b="0" i="0" dirty="0">
                <a:solidFill>
                  <a:srgbClr val="404040"/>
                </a:solidFill>
                <a:effectLst/>
                <a:latin typeface="DeepSeek-CJK-patch"/>
              </a:rPr>
              <a:t> Техподдержку пользователей, облачные сервисы.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F279B91E-C648-E10D-BB44-DBF85A134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472273"/>
              </p:ext>
            </p:extLst>
          </p:nvPr>
        </p:nvGraphicFramePr>
        <p:xfrm>
          <a:off x="385549" y="2100913"/>
          <a:ext cx="8229600" cy="2385060"/>
        </p:xfrm>
        <a:graphic>
          <a:graphicData uri="http://schemas.openxmlformats.org/drawingml/2006/table">
            <a:tbl>
              <a:tblPr/>
              <a:tblGrid>
                <a:gridCol w="3335628">
                  <a:extLst>
                    <a:ext uri="{9D8B030D-6E8A-4147-A177-3AD203B41FA5}">
                      <a16:colId xmlns:a16="http://schemas.microsoft.com/office/drawing/2014/main" val="3081169501"/>
                    </a:ext>
                  </a:extLst>
                </a:gridCol>
                <a:gridCol w="2446986">
                  <a:extLst>
                    <a:ext uri="{9D8B030D-6E8A-4147-A177-3AD203B41FA5}">
                      <a16:colId xmlns:a16="http://schemas.microsoft.com/office/drawing/2014/main" val="3766386614"/>
                    </a:ext>
                  </a:extLst>
                </a:gridCol>
                <a:gridCol w="2446986">
                  <a:extLst>
                    <a:ext uri="{9D8B030D-6E8A-4147-A177-3AD203B41FA5}">
                      <a16:colId xmlns:a16="http://schemas.microsoft.com/office/drawing/2014/main" val="1634583669"/>
                    </a:ext>
                  </a:extLst>
                </a:gridCol>
              </a:tblGrid>
              <a:tr h="458746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Текущее состояние</a:t>
                      </a: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Требуемое состояние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Проекты перехода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045118"/>
                  </a:ext>
                </a:extLst>
              </a:tr>
              <a:tr h="1240514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- Нет стратегии аутсорсинга</a:t>
                      </a:r>
                      <a:br>
                        <a:rPr lang="ru-RU" dirty="0">
                          <a:effectLst/>
                        </a:rPr>
                      </a:br>
                      <a:r>
                        <a:rPr lang="ru-RU" dirty="0">
                          <a:effectLst/>
                        </a:rPr>
                        <a:t>- Поддержка 1С силами 1 внутреннего специалиста</a:t>
                      </a: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- Гибридная модель (ключевые системы </a:t>
                      </a:r>
                      <a:r>
                        <a:rPr lang="ru-RU" dirty="0" err="1">
                          <a:effectLst/>
                        </a:rPr>
                        <a:t>in-house</a:t>
                      </a:r>
                      <a:r>
                        <a:rPr lang="ru-RU" dirty="0">
                          <a:effectLst/>
                        </a:rPr>
                        <a:t>, второстепенные — аутсорс)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1. Аутсорс поддержки 1С (партнер 1С)</a:t>
                      </a:r>
                      <a:br>
                        <a:rPr lang="ru-RU" dirty="0">
                          <a:effectLst/>
                        </a:rPr>
                      </a:br>
                      <a:r>
                        <a:rPr lang="ru-RU" dirty="0">
                          <a:effectLst/>
                        </a:rPr>
                        <a:t>2. Перенос хостинга сайта в облако</a:t>
                      </a:r>
                      <a:br>
                        <a:rPr lang="ru-RU" dirty="0">
                          <a:effectLst/>
                        </a:rPr>
                      </a:br>
                      <a:r>
                        <a:rPr lang="ru-RU" dirty="0">
                          <a:effectLst/>
                        </a:rPr>
                        <a:t>3. Аутсорс ИТ-аутсорс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3177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0750D0C-3056-8B05-CA87-7E3D11EA9320}"/>
              </a:ext>
            </a:extLst>
          </p:cNvPr>
          <p:cNvSpPr txBox="1"/>
          <p:nvPr/>
        </p:nvSpPr>
        <p:spPr>
          <a:xfrm>
            <a:off x="381000" y="1444109"/>
            <a:ext cx="4575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DeepSeek-CJK-patch"/>
              </a:rPr>
              <a:t>Таблица. Стратегия аутсорсинга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D3E953-4B30-47EC-A0B5-CD5599E1AE54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92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4. Управление ИТ</a:t>
            </a:r>
            <a:br>
              <a:rPr lang="ru-RU" dirty="0"/>
            </a:br>
            <a:r>
              <a:rPr lang="ru-RU" dirty="0"/>
              <a:t>4.2. ИТ процессы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F57CDDE-AD70-397C-D63A-683E2487F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083800"/>
              </p:ext>
            </p:extLst>
          </p:nvPr>
        </p:nvGraphicFramePr>
        <p:xfrm>
          <a:off x="457200" y="1600200"/>
          <a:ext cx="8229601" cy="2681814"/>
        </p:xfrm>
        <a:graphic>
          <a:graphicData uri="http://schemas.openxmlformats.org/drawingml/2006/table">
            <a:tbl>
              <a:tblPr/>
              <a:tblGrid>
                <a:gridCol w="2571130">
                  <a:extLst>
                    <a:ext uri="{9D8B030D-6E8A-4147-A177-3AD203B41FA5}">
                      <a16:colId xmlns:a16="http://schemas.microsoft.com/office/drawing/2014/main" val="1305832589"/>
                    </a:ext>
                  </a:extLst>
                </a:gridCol>
                <a:gridCol w="1886157">
                  <a:extLst>
                    <a:ext uri="{9D8B030D-6E8A-4147-A177-3AD203B41FA5}">
                      <a16:colId xmlns:a16="http://schemas.microsoft.com/office/drawing/2014/main" val="615561268"/>
                    </a:ext>
                  </a:extLst>
                </a:gridCol>
                <a:gridCol w="1886157">
                  <a:extLst>
                    <a:ext uri="{9D8B030D-6E8A-4147-A177-3AD203B41FA5}">
                      <a16:colId xmlns:a16="http://schemas.microsoft.com/office/drawing/2014/main" val="710159113"/>
                    </a:ext>
                  </a:extLst>
                </a:gridCol>
                <a:gridCol w="1886157">
                  <a:extLst>
                    <a:ext uri="{9D8B030D-6E8A-4147-A177-3AD203B41FA5}">
                      <a16:colId xmlns:a16="http://schemas.microsoft.com/office/drawing/2014/main" val="3660941389"/>
                    </a:ext>
                  </a:extLst>
                </a:gridCol>
              </a:tblGrid>
              <a:tr h="442173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ИТ-процесс</a:t>
                      </a: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Текущий уровень (1-5)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Целевой уровень (2026)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Проекты улучшения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436290"/>
                  </a:ext>
                </a:extLst>
              </a:tr>
              <a:tr h="81893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Управление инцидентами</a:t>
                      </a:r>
                      <a:endParaRPr lang="ru-RU" sz="1400">
                        <a:effectLst/>
                      </a:endParaRP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2 (реактивный режим)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4 (автоматизация </a:t>
                      </a:r>
                      <a:r>
                        <a:rPr lang="en-US" sz="1400">
                          <a:effectLst/>
                        </a:rPr>
                        <a:t>SLA)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Внедрение ServiceNow для трекинга инцидентов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49195"/>
                  </a:ext>
                </a:extLst>
              </a:tr>
              <a:tr h="442173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Управление ИТ-проектами</a:t>
                      </a:r>
                      <a:endParaRPr lang="ru-RU" sz="1400">
                        <a:effectLst/>
                      </a:endParaRP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3 (ad-hoc </a:t>
                      </a:r>
                      <a:r>
                        <a:rPr lang="ru-RU" sz="1400">
                          <a:effectLst/>
                        </a:rPr>
                        <a:t>подход)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5 (PMI-</a:t>
                      </a:r>
                      <a:r>
                        <a:rPr lang="ru-RU" sz="1400">
                          <a:effectLst/>
                        </a:rPr>
                        <a:t>стандарты)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Обучение </a:t>
                      </a:r>
                      <a:r>
                        <a:rPr lang="en-US" sz="1400">
                          <a:effectLst/>
                        </a:rPr>
                        <a:t>PMP, </a:t>
                      </a:r>
                      <a:r>
                        <a:rPr lang="ru-RU" sz="1400">
                          <a:effectLst/>
                        </a:rPr>
                        <a:t>внедрение </a:t>
                      </a:r>
                      <a:r>
                        <a:rPr lang="en-US" sz="1400">
                          <a:effectLst/>
                        </a:rPr>
                        <a:t>Jira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716870"/>
                  </a:ext>
                </a:extLst>
              </a:tr>
              <a:tr h="81893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Информационная безопасность</a:t>
                      </a:r>
                      <a:endParaRPr lang="ru-RU" sz="1400">
                        <a:effectLst/>
                      </a:endParaRP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 (базовая защита)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3 (DLP + SOC)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Развертывание </a:t>
                      </a:r>
                      <a:r>
                        <a:rPr lang="en-US" sz="1400" dirty="0">
                          <a:effectLst/>
                        </a:rPr>
                        <a:t>FortiGate + </a:t>
                      </a:r>
                      <a:r>
                        <a:rPr lang="ru-RU" sz="1400" dirty="0">
                          <a:effectLst/>
                        </a:rPr>
                        <a:t>обучение </a:t>
                      </a:r>
                      <a:r>
                        <a:rPr lang="en-US" sz="1400" dirty="0">
                          <a:effectLst/>
                        </a:rPr>
                        <a:t>SOC-</a:t>
                      </a:r>
                      <a:r>
                        <a:rPr lang="ru-RU" sz="1400" dirty="0">
                          <a:effectLst/>
                        </a:rPr>
                        <a:t>команды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856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A891316-DFA0-BB39-38C9-51FE787B2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26CB45-17F4-4F43-823F-B86D2C45A7C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A48FC4-D615-299A-5B12-D6D395A7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40E7C5-0D6A-5E77-13B7-AFD6BC911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7734879" cy="47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0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4. Управление ИТ</a:t>
            </a:r>
            <a:br>
              <a:rPr lang="ru-RU"/>
            </a:br>
            <a:r>
              <a:rPr lang="ru-RU"/>
              <a:t>4.3. Численность сотрудников ИТ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DAC162-0ECC-466B-ADEA-FCB74EDDB83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499474"/>
              </p:ext>
            </p:extLst>
          </p:nvPr>
        </p:nvGraphicFramePr>
        <p:xfrm>
          <a:off x="292100" y="1905000"/>
          <a:ext cx="8470900" cy="25958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Предприятие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Число</a:t>
                      </a:r>
                      <a:r>
                        <a:rPr lang="ru-RU" sz="1200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пользова-телей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ИТ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Число ИТ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</a:rPr>
                        <a:t>специалис-тов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Число пользователей на 1 сотрудника ИТ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% расходов на ИТ от оборота  компании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ИТ затраты на одного  пользователя,</a:t>
                      </a:r>
                      <a:r>
                        <a:rPr lang="ru-RU" sz="1200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тыс.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$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Управляющая компания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0,2% 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Производственные предприятия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15-25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0,2-0,3%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0,3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 среднем по России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1-2%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1,8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 среднем</a:t>
                      </a:r>
                      <a:r>
                        <a:rPr lang="ru-RU" sz="14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по развитым странам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91448" marR="91448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15-20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1,5-2,5%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91448" marR="91448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3,0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571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767327-06B8-4986-87DD-895ABCB40DD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2772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4. Управление ИТ</a:t>
            </a:r>
          </a:p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accent1"/>
                </a:solidFill>
                <a:ea typeface="Arial Unicode MS" pitchFamily="34" charset="-128"/>
                <a:cs typeface="Arial" charset="0"/>
              </a:rPr>
              <a:t>4.4. Оргструктура ИТ службы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D30FA6B-42B3-D375-F528-F9BD6E9AF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914591"/>
              </p:ext>
            </p:extLst>
          </p:nvPr>
        </p:nvGraphicFramePr>
        <p:xfrm>
          <a:off x="685800" y="1371600"/>
          <a:ext cx="8153400" cy="5011644"/>
        </p:xfrm>
        <a:graphic>
          <a:graphicData uri="http://schemas.openxmlformats.org/drawingml/2006/table">
            <a:tbl>
              <a:tblPr/>
              <a:tblGrid>
                <a:gridCol w="3304742">
                  <a:extLst>
                    <a:ext uri="{9D8B030D-6E8A-4147-A177-3AD203B41FA5}">
                      <a16:colId xmlns:a16="http://schemas.microsoft.com/office/drawing/2014/main" val="2488547326"/>
                    </a:ext>
                  </a:extLst>
                </a:gridCol>
                <a:gridCol w="2424329">
                  <a:extLst>
                    <a:ext uri="{9D8B030D-6E8A-4147-A177-3AD203B41FA5}">
                      <a16:colId xmlns:a16="http://schemas.microsoft.com/office/drawing/2014/main" val="1756560980"/>
                    </a:ext>
                  </a:extLst>
                </a:gridCol>
                <a:gridCol w="2424329">
                  <a:extLst>
                    <a:ext uri="{9D8B030D-6E8A-4147-A177-3AD203B41FA5}">
                      <a16:colId xmlns:a16="http://schemas.microsoft.com/office/drawing/2014/main" val="2583867929"/>
                    </a:ext>
                  </a:extLst>
                </a:gridCol>
              </a:tblGrid>
              <a:tr h="293475">
                <a:tc>
                  <a:txBody>
                    <a:bodyPr/>
                    <a:lstStyle/>
                    <a:p>
                      <a:pPr algn="l"/>
                      <a:r>
                        <a:rPr lang="ru-RU" sz="800" b="1">
                          <a:effectLst/>
                        </a:rPr>
                        <a:t>Текущее состояние (недостатки)</a:t>
                      </a:r>
                    </a:p>
                  </a:txBody>
                  <a:tcPr marL="4182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1">
                          <a:effectLst/>
                        </a:rPr>
                        <a:t>Требуемое состояние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1">
                          <a:effectLst/>
                        </a:rPr>
                        <a:t>Проекты по переходу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113781"/>
                  </a:ext>
                </a:extLst>
              </a:tr>
              <a:tr h="918628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1. Отсутствие выделенного Help Desk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Пользователи обращаются напрямую к системным администраторам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Нет регламента обработки запросов</a:t>
                      </a:r>
                    </a:p>
                  </a:txBody>
                  <a:tcPr marL="4182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Централизованный Service Desk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Единая точка контакта для пользователей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SLA на решение инцидентов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>
                          <a:effectLst/>
                        </a:rPr>
                        <a:t>1. Создание Service Desk с ITSM-системой (например, ServiceNow)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2. Обучение сотрудников ITIL-практикам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690751"/>
                  </a:ext>
                </a:extLst>
              </a:tr>
              <a:tr h="1043658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2. Размытые роли в ИТ-отделе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Сотрудники совмещают поддержку, внедрение и разработку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Нет четкого разделения ответственности</a:t>
                      </a:r>
                    </a:p>
                  </a:txBody>
                  <a:tcPr marL="4182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Четкое разделение на команды: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Поддержка (L1-L3)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Разработка/внедрение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Архитектура и стратегия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>
                          <a:effectLst/>
                        </a:rPr>
                        <a:t>1. Реорганизация отдела с утверждением должностных инструкций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2. Введение KPI для каждой команды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37448"/>
                  </a:ext>
                </a:extLst>
              </a:tr>
              <a:tr h="1168689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3. Децентрализация филиалов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Каждый филиал имеет локального ИТ-специалиста с разным уровнем компетенций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Нет единых стандартов</a:t>
                      </a:r>
                    </a:p>
                  </a:txBody>
                  <a:tcPr marL="4182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Централизованное управление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Общие политики и стандарты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Удаленная поддержка филиалов из ЦОДа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>
                          <a:effectLst/>
                        </a:rPr>
                        <a:t>1. Создание единого ИТ-центра компетенций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2. Внедрение инструментов удаленного управления (например, TeamViewer)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27133"/>
                  </a:ext>
                </a:extLst>
              </a:tr>
              <a:tr h="793597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4. Недостаток стратегических ролей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Нет архитектора ИТ-систем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Планирование носит реактивный характер</a:t>
                      </a:r>
                    </a:p>
                  </a:txBody>
                  <a:tcPr marL="4182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Введение стратегических должностей: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ИТ-архитектор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Менеджер ИТ-продуктов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>
                          <a:effectLst/>
                        </a:rPr>
                        <a:t>1. Найм ИТ-архитектора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2. Внедрение системы управления портфелем проектов (PPM)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31140"/>
                  </a:ext>
                </a:extLst>
              </a:tr>
              <a:tr h="793597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5. Низкий уровень аутсорсинга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Все работы выполняются внутренними силами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Высокая нагрузка на штатных сотрудников</a:t>
                      </a:r>
                    </a:p>
                  </a:txBody>
                  <a:tcPr marL="4182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Гибридная модель</a:t>
                      </a:r>
                      <a:br>
                        <a:rPr lang="ru-RU" sz="800">
                          <a:effectLst/>
                        </a:rPr>
                      </a:br>
                      <a:r>
                        <a:rPr lang="ru-RU" sz="800">
                          <a:effectLst/>
                        </a:rPr>
                        <a:t>- Аутсорс 1-й линии поддержки и инфраструктурных сервисов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dirty="0">
                          <a:effectLst/>
                        </a:rPr>
                        <a:t>1. Выбор партнера для аутсорсинга (например, ICL Services)</a:t>
                      </a:r>
                      <a:br>
                        <a:rPr lang="ru-RU" sz="800" dirty="0">
                          <a:effectLst/>
                        </a:rPr>
                      </a:br>
                      <a:r>
                        <a:rPr lang="ru-RU" sz="800" dirty="0">
                          <a:effectLst/>
                        </a:rPr>
                        <a:t>2. Постепенная передача задач</a:t>
                      </a:r>
                    </a:p>
                  </a:txBody>
                  <a:tcPr marL="21783" marR="21783" marT="21783" marB="21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1232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89FD1B-3315-4C05-9F32-3DFD36F1C4C7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21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82613"/>
            <a:ext cx="8229600" cy="712787"/>
          </a:xfrm>
        </p:spPr>
        <p:txBody>
          <a:bodyPr/>
          <a:lstStyle/>
          <a:p>
            <a:pPr eaLnBrk="1" hangingPunct="1"/>
            <a:r>
              <a:rPr lang="ru-RU" dirty="0"/>
              <a:t>5. ИТ проекты</a:t>
            </a:r>
            <a:br>
              <a:rPr lang="ru-RU" dirty="0"/>
            </a:br>
            <a:r>
              <a:rPr lang="ru-RU" sz="1600" dirty="0"/>
              <a:t>5.1. Сравнение ИТ проектов</a:t>
            </a:r>
            <a:endParaRPr lang="ru-RU" dirty="0"/>
          </a:p>
        </p:txBody>
      </p:sp>
      <p:pic>
        <p:nvPicPr>
          <p:cNvPr id="35859" name="Picture 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7467600" cy="475749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Овал 23"/>
          <p:cNvSpPr/>
          <p:nvPr/>
        </p:nvSpPr>
        <p:spPr bwMode="auto">
          <a:xfrm>
            <a:off x="5029200" y="2685608"/>
            <a:ext cx="609600" cy="43279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Times New Roman" pitchFamily="18" charset="0"/>
              </a:rPr>
              <a:t>ERP</a:t>
            </a:r>
            <a:endParaRPr kumimoji="0" 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imes New Roman" pitchFamily="18" charset="0"/>
            </a:endParaRPr>
          </a:p>
        </p:txBody>
      </p:sp>
      <p:sp>
        <p:nvSpPr>
          <p:cNvPr id="25" name="Овал 24"/>
          <p:cNvSpPr/>
          <p:nvPr/>
        </p:nvSpPr>
        <p:spPr bwMode="auto">
          <a:xfrm>
            <a:off x="5294671" y="4556691"/>
            <a:ext cx="609600" cy="43279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800" dirty="0"/>
              <a:t>CRM</a:t>
            </a:r>
            <a:endParaRPr kumimoji="0" 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imes New Roman" pitchFamily="18" charset="0"/>
            </a:endParaRP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EF701EEB-3587-E7B8-10DD-2EBF699B1F47}"/>
              </a:ext>
            </a:extLst>
          </p:cNvPr>
          <p:cNvSpPr/>
          <p:nvPr/>
        </p:nvSpPr>
        <p:spPr bwMode="auto">
          <a:xfrm>
            <a:off x="6743700" y="4773087"/>
            <a:ext cx="990600" cy="43279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800" dirty="0"/>
              <a:t>Аналитика</a:t>
            </a:r>
            <a:endParaRPr kumimoji="0" 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imes New Roman" pitchFamily="18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5FDF618-7BDB-3B3D-7D4C-7B8D0CC6BB48}"/>
              </a:ext>
            </a:extLst>
          </p:cNvPr>
          <p:cNvSpPr/>
          <p:nvPr/>
        </p:nvSpPr>
        <p:spPr bwMode="auto">
          <a:xfrm>
            <a:off x="2743200" y="1752600"/>
            <a:ext cx="609600" cy="43279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Times New Roman" pitchFamily="18" charset="0"/>
              </a:rPr>
              <a:t>ЦОД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A75CD98E-4159-F590-BB85-71AA725B85FF}"/>
              </a:ext>
            </a:extLst>
          </p:cNvPr>
          <p:cNvSpPr/>
          <p:nvPr/>
        </p:nvSpPr>
        <p:spPr bwMode="auto">
          <a:xfrm>
            <a:off x="6248400" y="3672979"/>
            <a:ext cx="609600" cy="43279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91440" rIns="91440" bIns="9144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800" dirty="0"/>
              <a:t>SLA</a:t>
            </a:r>
            <a:endParaRPr kumimoji="0" 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B2683E-15E8-88DC-31FF-2CB67CB3D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230060-187A-4A87-9E77-DDA0303DCB2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812221-B79F-5E32-54BB-427F8DD6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820DE39-CF43-7BFF-D570-4E67A96B3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90" y="-102752342"/>
            <a:ext cx="65" cy="211407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4483319" rIns="0" bIns="104483319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+mn-lt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8F3D5-3F8D-4EC2-CA3A-77B203A02A2B}"/>
              </a:ext>
            </a:extLst>
          </p:cNvPr>
          <p:cNvSpPr txBox="1"/>
          <p:nvPr/>
        </p:nvSpPr>
        <p:spPr>
          <a:xfrm>
            <a:off x="762000" y="1816501"/>
            <a:ext cx="419042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Критерии оценки проектов: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Выгоды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 (рост продаж, оптимизация процессов).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Затраты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 (бюджет, время).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Риски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 (технические, организационные).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ru-RU" sz="1200" dirty="0">
              <a:solidFill>
                <a:schemeClr val="accent5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pPr algn="l">
              <a:buNone/>
            </a:pPr>
            <a:r>
              <a:rPr lang="ru-RU" sz="12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Визуализация оценки (Диаграмма "Светофор")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 </a:t>
            </a:r>
            <a:r>
              <a:rPr lang="ru-RU" sz="12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Зеленые проекты</a:t>
            </a: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 (высокий приоритет):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Система аналитики урожая.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IoT </a:t>
            </a: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для мониторинга полей.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Аренда ЦОД.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Разработка </a:t>
            </a:r>
            <a:r>
              <a:rPr lang="en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SLA.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Разработка ИТ-стратегии.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 </a:t>
            </a:r>
            <a:r>
              <a:rPr lang="ru-RU" sz="12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Желтые проекты</a:t>
            </a: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 (средний приоритет):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Внедрение </a:t>
            </a:r>
            <a:r>
              <a:rPr lang="en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CRM.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Внедрение системы контроля качества.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Красные проекты</a:t>
            </a: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 (низкий приоритет):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Расширение </a:t>
            </a:r>
            <a:r>
              <a:rPr lang="en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ERP.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Модернизация серверов.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DeepSeek-CJK-patch"/>
              </a:rPr>
              <a:t>Свой ЦОД.</a:t>
            </a:r>
          </a:p>
        </p:txBody>
      </p:sp>
      <p:pic>
        <p:nvPicPr>
          <p:cNvPr id="3" name="Picture 2" descr="Вакансии «Сады Придонья»">
            <a:extLst>
              <a:ext uri="{FF2B5EF4-FFF2-40B4-BE49-F238E27FC236}">
                <a16:creationId xmlns:a16="http://schemas.microsoft.com/office/drawing/2014/main" id="{41142D97-8A8A-4EDD-2EB8-695D25B9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51847"/>
            <a:ext cx="3810000" cy="149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7FCA33A2-B9CB-355F-F571-6EE0827DB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5. ИТ проекты</a:t>
            </a:r>
            <a:br>
              <a:rPr lang="ru-RU" dirty="0"/>
            </a:br>
            <a:r>
              <a:rPr lang="ru-RU" sz="1600" dirty="0"/>
              <a:t>5.1. Сравнение ИТ проектов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1395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B2683E-15E8-88DC-31FF-2CB67CB3D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230060-187A-4A87-9E77-DDA0303DCB2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812221-B79F-5E32-54BB-427F8DD6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820DE39-CF43-7BFF-D570-4E67A96B3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90" y="-102752342"/>
            <a:ext cx="65" cy="211407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4483319" rIns="0" bIns="104483319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+mn-lt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+mn-lt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3AD20A61-B233-6F94-92DD-02FAF3F9C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296925"/>
              </p:ext>
            </p:extLst>
          </p:nvPr>
        </p:nvGraphicFramePr>
        <p:xfrm>
          <a:off x="304800" y="1447800"/>
          <a:ext cx="8519345" cy="48732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5131">
                  <a:extLst>
                    <a:ext uri="{9D8B030D-6E8A-4147-A177-3AD203B41FA5}">
                      <a16:colId xmlns:a16="http://schemas.microsoft.com/office/drawing/2014/main" val="3572577503"/>
                    </a:ext>
                  </a:extLst>
                </a:gridCol>
                <a:gridCol w="857565">
                  <a:extLst>
                    <a:ext uri="{9D8B030D-6E8A-4147-A177-3AD203B41FA5}">
                      <a16:colId xmlns:a16="http://schemas.microsoft.com/office/drawing/2014/main" val="1710230703"/>
                    </a:ext>
                  </a:extLst>
                </a:gridCol>
                <a:gridCol w="935526">
                  <a:extLst>
                    <a:ext uri="{9D8B030D-6E8A-4147-A177-3AD203B41FA5}">
                      <a16:colId xmlns:a16="http://schemas.microsoft.com/office/drawing/2014/main" val="1570542237"/>
                    </a:ext>
                  </a:extLst>
                </a:gridCol>
                <a:gridCol w="857565">
                  <a:extLst>
                    <a:ext uri="{9D8B030D-6E8A-4147-A177-3AD203B41FA5}">
                      <a16:colId xmlns:a16="http://schemas.microsoft.com/office/drawing/2014/main" val="3146108339"/>
                    </a:ext>
                  </a:extLst>
                </a:gridCol>
                <a:gridCol w="1026725">
                  <a:extLst>
                    <a:ext uri="{9D8B030D-6E8A-4147-A177-3AD203B41FA5}">
                      <a16:colId xmlns:a16="http://schemas.microsoft.com/office/drawing/2014/main" val="3641261447"/>
                    </a:ext>
                  </a:extLst>
                </a:gridCol>
                <a:gridCol w="794285">
                  <a:extLst>
                    <a:ext uri="{9D8B030D-6E8A-4147-A177-3AD203B41FA5}">
                      <a16:colId xmlns:a16="http://schemas.microsoft.com/office/drawing/2014/main" val="1116439358"/>
                    </a:ext>
                  </a:extLst>
                </a:gridCol>
                <a:gridCol w="2332548">
                  <a:extLst>
                    <a:ext uri="{9D8B030D-6E8A-4147-A177-3AD203B41FA5}">
                      <a16:colId xmlns:a16="http://schemas.microsoft.com/office/drawing/2014/main" val="2465317001"/>
                    </a:ext>
                  </a:extLst>
                </a:gridCol>
              </a:tblGrid>
              <a:tr h="504107">
                <a:tc>
                  <a:txBody>
                    <a:bodyPr/>
                    <a:lstStyle/>
                    <a:p>
                      <a:pPr algn="ctr"/>
                      <a:r>
                        <a:rPr lang="ru-RU" sz="900" kern="100" dirty="0">
                          <a:effectLst/>
                        </a:rPr>
                        <a:t>Проект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 dirty="0">
                          <a:effectLst/>
                        </a:rPr>
                        <a:t>Выгоды (1-5)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 dirty="0">
                          <a:effectLst/>
                        </a:rPr>
                        <a:t>Затраты (1-5)</a:t>
                      </a:r>
                      <a:endParaRPr lang="ru-RU" sz="900" dirty="0"/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 dirty="0">
                          <a:effectLst/>
                        </a:rPr>
                        <a:t>Риски (1-5)</a:t>
                      </a:r>
                      <a:endParaRPr lang="ru-RU" sz="900" dirty="0"/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 dirty="0">
                          <a:effectLst/>
                        </a:rPr>
                        <a:t>Соотношение выгод/затрат</a:t>
                      </a:r>
                      <a:endParaRPr lang="ru-RU" sz="900" dirty="0"/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>
                          <a:effectLst/>
                        </a:rPr>
                        <a:t>Результат оценки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 dirty="0">
                          <a:effectLst/>
                        </a:rPr>
                        <a:t>Рекомендации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2896972129"/>
                  </a:ext>
                </a:extLst>
              </a:tr>
              <a:tr h="312499">
                <a:tc gridSpan="7"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Информационные системы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618165"/>
                  </a:ext>
                </a:extLst>
              </a:tr>
              <a:tr h="504107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Внедрение CRM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4 (M/H)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3 (</a:t>
                      </a:r>
                      <a:r>
                        <a:rPr lang="ru-RU" sz="900" kern="100" dirty="0" err="1">
                          <a:effectLst/>
                        </a:rPr>
                        <a:t>M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4 (H)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Выгоды &gt; Затрат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Средний приоритет, высокие риски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1. Внедрять поэтапно. 2. Назначить ответственного за CRM. 3. Провести обучение.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1502880653"/>
                  </a:ext>
                </a:extLst>
              </a:tr>
              <a:tr h="26973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Расширение ERP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3 (M)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4 (H)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3 (</a:t>
                      </a:r>
                      <a:r>
                        <a:rPr lang="ru-RU" sz="900" kern="100" dirty="0" err="1">
                          <a:effectLst/>
                        </a:rPr>
                        <a:t>M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Выгоды &lt; Затрат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Низкий приоритет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1. Сократить функционал. 2. Отложить интеграцию с АСУТП.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3393454901"/>
                  </a:ext>
                </a:extLst>
              </a:tr>
              <a:tr h="26973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Система аналитики урожая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5 (</a:t>
                      </a:r>
                      <a:r>
                        <a:rPr lang="ru-RU" sz="900" kern="100" dirty="0" err="1">
                          <a:effectLst/>
                        </a:rPr>
                        <a:t>H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3 (</a:t>
                      </a:r>
                      <a:r>
                        <a:rPr lang="ru-RU" sz="900" kern="100" dirty="0" err="1">
                          <a:effectLst/>
                        </a:rPr>
                        <a:t>M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2 (</a:t>
                      </a:r>
                      <a:r>
                        <a:rPr lang="ru-RU" sz="900" kern="100" dirty="0" err="1">
                          <a:effectLst/>
                        </a:rPr>
                        <a:t>L</a:t>
                      </a:r>
                      <a:r>
                        <a:rPr lang="ru-RU" sz="900" kern="100" dirty="0">
                          <a:effectLst/>
                        </a:rPr>
                        <a:t>/</a:t>
                      </a:r>
                      <a:r>
                        <a:rPr lang="ru-RU" sz="900" kern="100" dirty="0" err="1">
                          <a:effectLst/>
                        </a:rPr>
                        <a:t>M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Выгоды &gt; Затрат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Высокий приоритет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1. Запустить пилотный проект. 2. Интегрировать с IoT.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1835204509"/>
                  </a:ext>
                </a:extLst>
              </a:tr>
              <a:tr h="312499">
                <a:tc gridSpan="7"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Инфраструктура ИТ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186372"/>
                  </a:ext>
                </a:extLst>
              </a:tr>
              <a:tr h="26973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Модернизация серверов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3 (M)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4 (H)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3 (M)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Выгоды &lt; Затрат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Низкий приоритет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1. Рассмотреть облачные решения. 2. Оптимизировать текущие нагрузки.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3071790148"/>
                  </a:ext>
                </a:extLst>
              </a:tr>
              <a:tr h="26973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Внедрение IoT для мониторинга полей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5 (H)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2 (L/M)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2 (L/M)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Выгоды &gt;&gt; Затрат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Высокий приоритет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1. Начать с тестовой зоны. 2. Обеспечить безопасность данных.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238076482"/>
                  </a:ext>
                </a:extLst>
              </a:tr>
              <a:tr h="316021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Свой ЦОД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2 (L/M)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5 (H)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4 (H)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Выгоды &lt;&lt; Затрат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Очень низкий приоритет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1. Отказаться в пользу аренды.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3806383678"/>
                  </a:ext>
                </a:extLst>
              </a:tr>
              <a:tr h="26973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Аренда ЦОД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4 (</a:t>
                      </a:r>
                      <a:r>
                        <a:rPr lang="ru-RU" sz="900" kern="100" dirty="0" err="1">
                          <a:effectLst/>
                        </a:rPr>
                        <a:t>M</a:t>
                      </a:r>
                      <a:r>
                        <a:rPr lang="ru-RU" sz="900" kern="100" dirty="0">
                          <a:effectLst/>
                        </a:rPr>
                        <a:t>/</a:t>
                      </a:r>
                      <a:r>
                        <a:rPr lang="ru-RU" sz="900" kern="100" dirty="0" err="1">
                          <a:effectLst/>
                        </a:rPr>
                        <a:t>H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2 (</a:t>
                      </a:r>
                      <a:r>
                        <a:rPr lang="ru-RU" sz="900" kern="100" dirty="0" err="1">
                          <a:effectLst/>
                        </a:rPr>
                        <a:t>L</a:t>
                      </a:r>
                      <a:r>
                        <a:rPr lang="ru-RU" sz="900" kern="100" dirty="0">
                          <a:effectLst/>
                        </a:rPr>
                        <a:t>/</a:t>
                      </a:r>
                      <a:r>
                        <a:rPr lang="ru-RU" sz="900" kern="100" dirty="0" err="1">
                          <a:effectLst/>
                        </a:rPr>
                        <a:t>M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1 (</a:t>
                      </a:r>
                      <a:r>
                        <a:rPr lang="ru-RU" sz="900" kern="100" dirty="0" err="1">
                          <a:effectLst/>
                        </a:rPr>
                        <a:t>L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Выгоды &gt; Затрат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Высокий приоритет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1. Выбрать провайдера с гибкими тарифами.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796513836"/>
                  </a:ext>
                </a:extLst>
              </a:tr>
              <a:tr h="312499">
                <a:tc gridSpan="7"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Управление ИТ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327204"/>
                  </a:ext>
                </a:extLst>
              </a:tr>
              <a:tr h="26973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Разработка SLA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4 (M/H)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 (L)</a:t>
                      </a:r>
                      <a:endParaRPr lang="ru-RU" sz="900"/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 (L)</a:t>
                      </a:r>
                      <a:endParaRPr lang="ru-RU" sz="900"/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Выгоды &gt;&gt; Затрат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Высокий приоритет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1. Утвердить SLA с руководством. 2. Обучить пользователей.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3758999396"/>
                  </a:ext>
                </a:extLst>
              </a:tr>
              <a:tr h="26973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Разработка ИТ-стратегии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5 (H)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2 (L/M)</a:t>
                      </a:r>
                      <a:endParaRPr lang="ru-RU" sz="900"/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3 (M)</a:t>
                      </a:r>
                      <a:endParaRPr lang="ru-RU" sz="900"/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Выгоды &gt; Затрат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Высокий приоритет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1. Привлечь внешних экспертов. 2. Согласовать с бизнес-целями.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1318357783"/>
                  </a:ext>
                </a:extLst>
              </a:tr>
              <a:tr h="69593"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Внедрение системы контроля качества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4 (</a:t>
                      </a:r>
                      <a:r>
                        <a:rPr lang="ru-RU" sz="900" kern="100" dirty="0" err="1">
                          <a:effectLst/>
                        </a:rPr>
                        <a:t>M</a:t>
                      </a:r>
                      <a:r>
                        <a:rPr lang="ru-RU" sz="900" kern="100" dirty="0">
                          <a:effectLst/>
                        </a:rPr>
                        <a:t>/</a:t>
                      </a:r>
                      <a:r>
                        <a:rPr lang="ru-RU" sz="900" kern="100" dirty="0" err="1">
                          <a:effectLst/>
                        </a:rPr>
                        <a:t>H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3 (</a:t>
                      </a:r>
                      <a:r>
                        <a:rPr lang="ru-RU" sz="900" kern="100" dirty="0" err="1">
                          <a:effectLst/>
                        </a:rPr>
                        <a:t>M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dirty="0"/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2 (</a:t>
                      </a:r>
                      <a:r>
                        <a:rPr lang="ru-RU" sz="900" kern="100" dirty="0" err="1">
                          <a:effectLst/>
                        </a:rPr>
                        <a:t>L</a:t>
                      </a:r>
                      <a:r>
                        <a:rPr lang="ru-RU" sz="900" kern="100" dirty="0">
                          <a:effectLst/>
                        </a:rPr>
                        <a:t>/</a:t>
                      </a:r>
                      <a:r>
                        <a:rPr lang="ru-RU" sz="900" kern="100" dirty="0" err="1">
                          <a:effectLst/>
                        </a:rPr>
                        <a:t>M</a:t>
                      </a:r>
                      <a:r>
                        <a:rPr lang="ru-RU" sz="900" kern="100" dirty="0">
                          <a:effectLst/>
                        </a:rPr>
                        <a:t>)</a:t>
                      </a:r>
                      <a:endParaRPr lang="ru-RU" sz="900" dirty="0"/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Выгоды &gt; Затрат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Средний приоритет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1. Интегрировать с ERP. 2. Автоматизировать отчетность.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93" marR="20693" marT="20693" marB="20693" anchor="ctr"/>
                </a:tc>
                <a:extLst>
                  <a:ext uri="{0D108BD9-81ED-4DB2-BD59-A6C34878D82A}">
                    <a16:rowId xmlns:a16="http://schemas.microsoft.com/office/drawing/2014/main" val="648225505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9ED4150E-3B6C-CD5E-8F79-CF4718D61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5. ИТ проекты</a:t>
            </a:r>
            <a:br>
              <a:rPr lang="ru-RU" dirty="0"/>
            </a:br>
            <a:r>
              <a:rPr lang="ru-RU" sz="1600" dirty="0"/>
              <a:t>5.1. Сравнение ИТ проектов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43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1D3CF7-F77B-4750-9F99-DF2990EC0530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4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5. ИТ проекты</a:t>
            </a:r>
            <a:br>
              <a:rPr lang="ru-RU" dirty="0"/>
            </a:br>
            <a:r>
              <a:rPr lang="ru-RU" dirty="0"/>
              <a:t>5.2. План проектов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91A8097-6145-AEE6-378B-4B57971D6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052508"/>
              </p:ext>
            </p:extLst>
          </p:nvPr>
        </p:nvGraphicFramePr>
        <p:xfrm>
          <a:off x="457200" y="1371597"/>
          <a:ext cx="8229601" cy="5050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053303056"/>
                    </a:ext>
                  </a:extLst>
                </a:gridCol>
                <a:gridCol w="1594792">
                  <a:extLst>
                    <a:ext uri="{9D8B030D-6E8A-4147-A177-3AD203B41FA5}">
                      <a16:colId xmlns:a16="http://schemas.microsoft.com/office/drawing/2014/main" val="711096822"/>
                    </a:ext>
                  </a:extLst>
                </a:gridCol>
                <a:gridCol w="1805203">
                  <a:extLst>
                    <a:ext uri="{9D8B030D-6E8A-4147-A177-3AD203B41FA5}">
                      <a16:colId xmlns:a16="http://schemas.microsoft.com/office/drawing/2014/main" val="3680701387"/>
                    </a:ext>
                  </a:extLst>
                </a:gridCol>
                <a:gridCol w="1805203">
                  <a:extLst>
                    <a:ext uri="{9D8B030D-6E8A-4147-A177-3AD203B41FA5}">
                      <a16:colId xmlns:a16="http://schemas.microsoft.com/office/drawing/2014/main" val="273319891"/>
                    </a:ext>
                  </a:extLst>
                </a:gridCol>
                <a:gridCol w="1805203">
                  <a:extLst>
                    <a:ext uri="{9D8B030D-6E8A-4147-A177-3AD203B41FA5}">
                      <a16:colId xmlns:a16="http://schemas.microsoft.com/office/drawing/2014/main" val="159015743"/>
                    </a:ext>
                  </a:extLst>
                </a:gridCol>
              </a:tblGrid>
              <a:tr h="388874">
                <a:tc>
                  <a:txBody>
                    <a:bodyPr/>
                    <a:lstStyle/>
                    <a:p>
                      <a:pPr algn="ctr"/>
                      <a:r>
                        <a:rPr lang="ru-RU" sz="900" kern="100">
                          <a:effectLst/>
                        </a:rPr>
                        <a:t>Проекты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 dirty="0">
                          <a:effectLst/>
                        </a:rPr>
                        <a:t>Обязательность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>
                          <a:effectLst/>
                        </a:rPr>
                        <a:t>Длительность (мес.)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>
                          <a:effectLst/>
                        </a:rPr>
                        <a:t>Зависимости от других проектов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kern="100" dirty="0">
                          <a:effectLst/>
                        </a:rPr>
                        <a:t>Желательное время завершения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3585450218"/>
                  </a:ext>
                </a:extLst>
              </a:tr>
              <a:tr h="258952">
                <a:tc gridSpan="5">
                  <a:txBody>
                    <a:bodyPr/>
                    <a:lstStyle/>
                    <a:p>
                      <a:pPr algn="ctr"/>
                      <a:r>
                        <a:rPr lang="ru-RU" sz="900" kern="100">
                          <a:effectLst/>
                        </a:rPr>
                        <a:t>Информационные системы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195063"/>
                  </a:ext>
                </a:extLst>
              </a:tr>
              <a:tr h="47045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Внедрение CRM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Обязательно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6-12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Требует дополнительных вычислительных мощностей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Q2 2025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2914180181"/>
                  </a:ext>
                </a:extLst>
              </a:tr>
              <a:tr h="388874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Расширение ERP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Очень желательно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4-6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Зависит от модернизации серверов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Q4 2025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4224424500"/>
                  </a:ext>
                </a:extLst>
              </a:tr>
              <a:tr h="47045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Система аналитики урожая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Обязательно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3-5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Требует данных от IoT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Q3 2025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1799147178"/>
                  </a:ext>
                </a:extLst>
              </a:tr>
              <a:tr h="258952">
                <a:tc gridSpan="5">
                  <a:txBody>
                    <a:bodyPr/>
                    <a:lstStyle/>
                    <a:p>
                      <a:pPr algn="ctr"/>
                      <a:r>
                        <a:rPr lang="ru-RU" sz="900" kern="100">
                          <a:effectLst/>
                        </a:rPr>
                        <a:t>Инфраструктура ИТ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262959"/>
                  </a:ext>
                </a:extLst>
              </a:tr>
              <a:tr h="388874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Модернизация серверов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Желательно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2-4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Необходима для CRM и ERP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Q1 2025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1206155528"/>
                  </a:ext>
                </a:extLst>
              </a:tr>
              <a:tr h="388874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Внедрение IoT для полей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Обязательно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3-6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Независимый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Q2 2025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3296350371"/>
                  </a:ext>
                </a:extLst>
              </a:tr>
              <a:tr h="35534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Аренда ЦОД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Обязательно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1-2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Альтернатива своему ЦОДу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Q1 2025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1536844800"/>
                  </a:ext>
                </a:extLst>
              </a:tr>
              <a:tr h="258952">
                <a:tc gridSpan="5">
                  <a:txBody>
                    <a:bodyPr/>
                    <a:lstStyle/>
                    <a:p>
                      <a:pPr algn="ctr"/>
                      <a:r>
                        <a:rPr lang="ru-RU" sz="900" kern="100">
                          <a:effectLst/>
                        </a:rPr>
                        <a:t>Управление ИТ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67927"/>
                  </a:ext>
                </a:extLst>
              </a:tr>
              <a:tr h="388874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Разработка SLA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Обязательно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1-2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Лучше внедрять параллельно с CRM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Q2 2025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3963334305"/>
                  </a:ext>
                </a:extLst>
              </a:tr>
              <a:tr h="388874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Разработка ИТ-стратегии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Очень желательно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2-3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Должна предшествовать основным проектам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Q1 2025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3270514505"/>
                  </a:ext>
                </a:extLst>
              </a:tr>
              <a:tr h="470453"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Контроль качества продукции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Желательно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3-4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>
                          <a:effectLst/>
                        </a:rPr>
                        <a:t>Интеграция с ERP</a:t>
                      </a:r>
                      <a:endParaRPr lang="ru-RU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tc>
                  <a:txBody>
                    <a:bodyPr/>
                    <a:lstStyle/>
                    <a:p>
                      <a:r>
                        <a:rPr lang="ru-RU" sz="900" kern="100" dirty="0">
                          <a:effectLst/>
                        </a:rPr>
                        <a:t>Q3 2025</a:t>
                      </a:r>
                      <a:endParaRPr lang="ru-RU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9" marR="68109" marT="68109" marB="68109" anchor="ctr"/>
                </a:tc>
                <a:extLst>
                  <a:ext uri="{0D108BD9-81ED-4DB2-BD59-A6C34878D82A}">
                    <a16:rowId xmlns:a16="http://schemas.microsoft.com/office/drawing/2014/main" val="205260995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1D3CF7-F77B-4750-9F99-DF2990EC0530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4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5. ИТ проекты</a:t>
            </a:r>
            <a:br>
              <a:rPr lang="ru-RU" dirty="0"/>
            </a:br>
            <a:r>
              <a:rPr lang="ru-RU" dirty="0"/>
              <a:t>5.2. План проектов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1807A96-ED9B-19E5-0B86-4E646DD9C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756"/>
          <a:stretch/>
        </p:blipFill>
        <p:spPr>
          <a:xfrm>
            <a:off x="290945" y="2209800"/>
            <a:ext cx="8550874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9915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5. ИТ проекты</a:t>
            </a:r>
            <a:br>
              <a:rPr lang="ru-RU"/>
            </a:br>
            <a:r>
              <a:rPr lang="ru-RU"/>
              <a:t>5.3. Описание проектов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981136-380C-49C8-82CF-2392C796B4E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4DA6E-B24E-6E8D-AB27-42E2C1C1A81B}"/>
              </a:ext>
            </a:extLst>
          </p:cNvPr>
          <p:cNvSpPr txBox="1"/>
          <p:nvPr/>
        </p:nvSpPr>
        <p:spPr>
          <a:xfrm>
            <a:off x="820883" y="1631835"/>
            <a:ext cx="57253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1. Внедрение </a:t>
            </a:r>
            <a:r>
              <a:rPr lang="en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CRM-</a:t>
            </a: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системы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Цели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Увеличение повторных продаж на 25%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Автоматизация работы с клиентами (розница/опт)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Интеграция с системой логистики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Этапы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Выбор платформы (1 мес.)</a:t>
            </a:r>
          </a:p>
          <a:p>
            <a:pPr algn="l">
              <a:buFont typeface="+mj-lt"/>
              <a:buAutoNum type="arabicPeriod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Настройка под процессы компании (3 мес.)</a:t>
            </a:r>
          </a:p>
          <a:p>
            <a:pPr algn="l">
              <a:buFont typeface="+mj-lt"/>
              <a:buAutoNum type="arabicPeriod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Обучение 150+ менеджеров (2 мес.)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Длительность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 6-8 месяцев</a:t>
            </a:r>
            <a:b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</a:b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Зависимости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 Требует данных из 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ERP</a:t>
            </a:r>
            <a:b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</a:b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Выгоды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Бизнес: рост среднего чека на 15%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ИТ: сокращение ручных отчетов на 60%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Затраты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Лицензии: 8 млн руб./год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Трудозатраты: 6 человеко-месяцев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Риски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Сопротивление отдела продаж (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H) → 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Включение в ТЗ мотивационных механизмов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Неполная интеграция (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M) → 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Выделение отдельного интегратора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Требования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Облачное решение (например, 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Salesforce)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Навыки: обучение работе с карточками клиентов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5. ИТ проекты</a:t>
            </a:r>
            <a:br>
              <a:rPr lang="ru-RU"/>
            </a:br>
            <a:r>
              <a:rPr lang="ru-RU"/>
              <a:t>5.3. Описание проектов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981136-380C-49C8-82CF-2392C796B4E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4DA6E-B24E-6E8D-AB27-42E2C1C1A81B}"/>
              </a:ext>
            </a:extLst>
          </p:cNvPr>
          <p:cNvSpPr txBox="1"/>
          <p:nvPr/>
        </p:nvSpPr>
        <p:spPr>
          <a:xfrm>
            <a:off x="820883" y="1631835"/>
            <a:ext cx="57253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2. Расширение </a:t>
            </a:r>
            <a:r>
              <a:rPr lang="en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ERP (SAP)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Цели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Внедрение модуля "Управление качеством сырья"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Автоматизация планирования загрузки производственных линий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Этапы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Анализ процессов (2 мес.)</a:t>
            </a:r>
          </a:p>
          <a:p>
            <a:pPr algn="l">
              <a:buFont typeface="+mj-lt"/>
              <a:buAutoNum type="arabicPeriod"/>
            </a:pPr>
            <a:r>
              <a:rPr lang="ru-RU" sz="1200" b="0" i="0" u="none" strike="noStrike" dirty="0" err="1">
                <a:solidFill>
                  <a:srgbClr val="404040"/>
                </a:solidFill>
                <a:effectLst/>
                <a:latin typeface="+mn-lt"/>
              </a:rPr>
              <a:t>Доразработка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 модулей (4 мес.)</a:t>
            </a:r>
          </a:p>
          <a:p>
            <a:pPr algn="l">
              <a:buFont typeface="+mj-lt"/>
              <a:buAutoNum type="arabicPeriod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Тестирование на пилотной линии (1 мес.)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Длительность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 7 месяцев</a:t>
            </a:r>
            <a:b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</a:b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Зависимости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 Требует данных 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IoT 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с полей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Выгоды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Бизнес: сокращение брака на 30%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ИТ: единый реестр поставщиков сырья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Затраты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 err="1">
                <a:solidFill>
                  <a:srgbClr val="404040"/>
                </a:solidFill>
                <a:effectLst/>
                <a:latin typeface="+mn-lt"/>
              </a:rPr>
              <a:t>Доразработка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 15 млн руб.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Трудозатраты: 10 человеко-месяцев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Риски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Остановка производства (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H) → 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Тестирование в межсезонье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Требования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Серверы: 64 ГБ 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RAM 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для аналитики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Навыки: сертификация 2 сотрудников по 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SAP MM</a:t>
            </a:r>
          </a:p>
        </p:txBody>
      </p:sp>
    </p:spTree>
    <p:extLst>
      <p:ext uri="{BB962C8B-B14F-4D97-AF65-F5344CB8AC3E}">
        <p14:creationId xmlns:p14="http://schemas.microsoft.com/office/powerpoint/2010/main" val="3197631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5. ИТ проекты</a:t>
            </a:r>
            <a:br>
              <a:rPr lang="ru-RU"/>
            </a:br>
            <a:r>
              <a:rPr lang="ru-RU"/>
              <a:t>5.3. Описание проектов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981136-380C-49C8-82CF-2392C796B4E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4DA6E-B24E-6E8D-AB27-42E2C1C1A81B}"/>
              </a:ext>
            </a:extLst>
          </p:cNvPr>
          <p:cNvSpPr txBox="1"/>
          <p:nvPr/>
        </p:nvSpPr>
        <p:spPr>
          <a:xfrm>
            <a:off x="820883" y="1631835"/>
            <a:ext cx="572539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3. Система прецизионного земледелия (</a:t>
            </a:r>
            <a:r>
              <a:rPr lang="en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IoT + </a:t>
            </a: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Аналитика)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Цели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Прогнозирование урожайности с точностью 90%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Оптимизация полива/удобрений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Этапы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Установка 1000 датчиков (3 мес.)</a:t>
            </a:r>
          </a:p>
          <a:p>
            <a:pPr algn="l">
              <a:buFont typeface="+mj-lt"/>
              <a:buAutoNum type="arabicPeriod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Настройка 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AI-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моделей (2 мес.)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Длительность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 5 месяцев</a:t>
            </a:r>
            <a:b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</a:b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Зависимости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 Требует модернизированных серверов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Выгоды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Бизнес: экономия 25 млн руб./год на ресурсах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ИТ: база данных для селекционной работы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Затраты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Датчики: 25 млн руб.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Трудозатраты: 8 человеко-месяцев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Риски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Кибератаки (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M) → 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Выделенный 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VLAN 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для агросети</a:t>
            </a:r>
          </a:p>
          <a:p>
            <a:pPr algn="l">
              <a:buNone/>
            </a:pPr>
            <a:r>
              <a:rPr lang="ru-RU" sz="1200" b="1" i="0" u="none" strike="noStrike" dirty="0">
                <a:solidFill>
                  <a:srgbClr val="404040"/>
                </a:solidFill>
                <a:effectLst/>
                <a:latin typeface="+mn-lt"/>
              </a:rPr>
              <a:t>Требования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ПО: </a:t>
            </a:r>
            <a:r>
              <a:rPr lang="en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Python-</a:t>
            </a:r>
            <a:r>
              <a:rPr lang="ru-RU" sz="1200" b="0" i="0" u="none" strike="noStrike" dirty="0">
                <a:solidFill>
                  <a:srgbClr val="404040"/>
                </a:solidFill>
                <a:effectLst/>
                <a:latin typeface="+mn-lt"/>
              </a:rPr>
              <a:t>библиотеки для </a:t>
            </a:r>
            <a:r>
              <a:rPr lang="ru-RU" sz="1200" b="0" i="0" u="none" strike="noStrike" dirty="0" err="1">
                <a:solidFill>
                  <a:srgbClr val="404040"/>
                </a:solidFill>
                <a:effectLst/>
                <a:latin typeface="+mn-lt"/>
              </a:rPr>
              <a:t>агроаналитики</a:t>
            </a:r>
            <a:endParaRPr lang="ru-RU" sz="1200" b="0" i="0" u="none" strike="noStrike" dirty="0">
              <a:solidFill>
                <a:srgbClr val="404040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1083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1D3CF7-F77B-4750-9F99-DF2990EC0530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4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5. ИТ проекты</a:t>
            </a:r>
            <a:br>
              <a:rPr lang="ru-RU" dirty="0"/>
            </a:br>
            <a:r>
              <a:rPr lang="ru-RU" dirty="0"/>
              <a:t>5.4. Портфель проектов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741124"/>
              </p:ext>
            </p:extLst>
          </p:nvPr>
        </p:nvGraphicFramePr>
        <p:xfrm>
          <a:off x="457200" y="2057400"/>
          <a:ext cx="8229600" cy="33182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Группы</a:t>
                      </a:r>
                      <a:r>
                        <a:rPr lang="ru-RU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проектов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Перечень</a:t>
                      </a:r>
                      <a:r>
                        <a:rPr lang="ru-RU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проектов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ru-RU" sz="1600" dirty="0">
                          <a:latin typeface="+mn-lt"/>
                        </a:rPr>
                        <a:t>Обязательные проекты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Внедрение CRM</a:t>
                      </a:r>
                      <a:b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Аренда ЦОД</a:t>
                      </a:r>
                      <a:b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Разработка SLA</a:t>
                      </a:r>
                      <a:r>
                        <a:rPr lang="ru-RU" sz="1600" dirty="0">
                          <a:effectLst/>
                          <a:latin typeface="+mn-lt"/>
                        </a:rPr>
                        <a:t>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ru-RU" sz="1600" dirty="0">
                          <a:latin typeface="+mn-lt"/>
                        </a:rPr>
                        <a:t>Базовый портфель проектов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для полей</a:t>
                      </a:r>
                      <a:b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Аналитика урожая</a:t>
                      </a:r>
                      <a:b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ИТ-стратегия</a:t>
                      </a:r>
                      <a:r>
                        <a:rPr lang="ru-RU" sz="1600" dirty="0">
                          <a:effectLst/>
                          <a:latin typeface="+mn-lt"/>
                        </a:rPr>
                        <a:t>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ru-RU" sz="1600" dirty="0">
                          <a:latin typeface="+mn-lt"/>
                        </a:rPr>
                        <a:t>Расширенный портфель проектов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Контроль качества</a:t>
                      </a:r>
                      <a:b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Модернизация серверов</a:t>
                      </a:r>
                      <a:r>
                        <a:rPr lang="ru-RU" sz="1600" dirty="0">
                          <a:effectLst/>
                          <a:latin typeface="+mn-lt"/>
                        </a:rPr>
                        <a:t>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ru-RU" sz="1600" dirty="0">
                          <a:latin typeface="+mn-lt"/>
                        </a:rPr>
                        <a:t>Портфель потенциальных проектов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Блокчейн</a:t>
                      </a:r>
                      <a:b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• Свой ЦОД</a:t>
                      </a:r>
                      <a:r>
                        <a:rPr lang="ru-RU" sz="1600" dirty="0">
                          <a:effectLst/>
                          <a:latin typeface="+mn-lt"/>
                        </a:rPr>
                        <a:t>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6. Пересмотр ИТ стратегии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038D73-2D21-4910-822A-54C79EF597F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AA4C985-51F5-11B9-D2AA-B7B8106FB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354221"/>
              </p:ext>
            </p:extLst>
          </p:nvPr>
        </p:nvGraphicFramePr>
        <p:xfrm>
          <a:off x="714374" y="1619249"/>
          <a:ext cx="7972426" cy="4481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173">
                  <a:extLst>
                    <a:ext uri="{9D8B030D-6E8A-4147-A177-3AD203B41FA5}">
                      <a16:colId xmlns:a16="http://schemas.microsoft.com/office/drawing/2014/main" val="30828260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979291291"/>
                    </a:ext>
                  </a:extLst>
                </a:gridCol>
                <a:gridCol w="5246053">
                  <a:extLst>
                    <a:ext uri="{9D8B030D-6E8A-4147-A177-3AD203B41FA5}">
                      <a16:colId xmlns:a16="http://schemas.microsoft.com/office/drawing/2014/main" val="2694972136"/>
                    </a:ext>
                  </a:extLst>
                </a:gridCol>
              </a:tblGrid>
              <a:tr h="442480"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>
                          <a:effectLst/>
                        </a:rPr>
                        <a:t>№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9297" marT="89297" marB="892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>
                          <a:effectLst/>
                        </a:rPr>
                        <a:t>Фактор успеха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 dirty="0">
                          <a:effectLst/>
                        </a:rPr>
                        <a:t>Конкретные действия для "Сады </a:t>
                      </a:r>
                      <a:r>
                        <a:rPr lang="ru-RU" sz="1100" kern="100" dirty="0" err="1">
                          <a:effectLst/>
                        </a:rPr>
                        <a:t>Придонья</a:t>
                      </a:r>
                      <a:r>
                        <a:rPr lang="ru-RU" sz="1100" kern="100" dirty="0">
                          <a:effectLst/>
                        </a:rPr>
                        <a:t>"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extLst>
                  <a:ext uri="{0D108BD9-81ED-4DB2-BD59-A6C34878D82A}">
                    <a16:rowId xmlns:a16="http://schemas.microsoft.com/office/drawing/2014/main" val="4089040687"/>
                  </a:ext>
                </a:extLst>
              </a:tr>
              <a:tr h="587952"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 dirty="0">
                          <a:effectLst/>
                        </a:rPr>
                        <a:t>1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Поддержка топ-менеджмента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 dirty="0">
                          <a:effectLst/>
                        </a:rPr>
                        <a:t>• Провести совещание с гендиректором по утверждению приоритетов</a:t>
                      </a:r>
                      <a:br>
                        <a:rPr lang="ru-RU" sz="1100" kern="100" dirty="0">
                          <a:effectLst/>
                        </a:rPr>
                      </a:br>
                      <a:r>
                        <a:rPr lang="ru-RU" sz="1100" kern="100" dirty="0">
                          <a:effectLst/>
                        </a:rPr>
                        <a:t>• Включить ИТ-показатели в KPI руководства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extLst>
                  <a:ext uri="{0D108BD9-81ED-4DB2-BD59-A6C34878D82A}">
                    <a16:rowId xmlns:a16="http://schemas.microsoft.com/office/drawing/2014/main" val="2811027761"/>
                  </a:ext>
                </a:extLst>
              </a:tr>
              <a:tr h="442480"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>
                          <a:effectLst/>
                        </a:rPr>
                        <a:t>2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Финансирование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• Закрепить 15% от прибыли на ИТ-проекты</a:t>
                      </a:r>
                      <a:br>
                        <a:rPr lang="ru-RU" sz="1100" kern="100">
                          <a:effectLst/>
                        </a:rPr>
                      </a:br>
                      <a:r>
                        <a:rPr lang="ru-RU" sz="1100" kern="100">
                          <a:effectLst/>
                        </a:rPr>
                        <a:t>• Создать резервный фонд на 10% бюджета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extLst>
                  <a:ext uri="{0D108BD9-81ED-4DB2-BD59-A6C34878D82A}">
                    <a16:rowId xmlns:a16="http://schemas.microsoft.com/office/drawing/2014/main" val="2940597695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>
                          <a:effectLst/>
                        </a:rPr>
                        <a:t>3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Квалификация персонала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• Обучение 100% ИТ-сотрудников до конца 2025</a:t>
                      </a:r>
                      <a:br>
                        <a:rPr lang="ru-RU" sz="1100" kern="100">
                          <a:effectLst/>
                        </a:rPr>
                      </a:br>
                      <a:r>
                        <a:rPr lang="ru-RU" sz="1100" kern="100">
                          <a:effectLst/>
                        </a:rPr>
                        <a:t>• Программа наставничества для агрономов по работе с IoT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extLst>
                  <a:ext uri="{0D108BD9-81ED-4DB2-BD59-A6C34878D82A}">
                    <a16:rowId xmlns:a16="http://schemas.microsoft.com/office/drawing/2014/main" val="3436145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>
                          <a:effectLst/>
                        </a:rPr>
                        <a:t>4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Вовлеченность бизнес-подразделений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• Назначить ответственных за CRM в каждом отделе продаж</a:t>
                      </a:r>
                      <a:br>
                        <a:rPr lang="ru-RU" sz="1100" kern="100">
                          <a:effectLst/>
                        </a:rPr>
                      </a:br>
                      <a:r>
                        <a:rPr lang="ru-RU" sz="1100" kern="100">
                          <a:effectLst/>
                        </a:rPr>
                        <a:t>• Ежемесячные кросс-функциональные встречи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extLst>
                  <a:ext uri="{0D108BD9-81ED-4DB2-BD59-A6C34878D82A}">
                    <a16:rowId xmlns:a16="http://schemas.microsoft.com/office/drawing/2014/main" val="3527047653"/>
                  </a:ext>
                </a:extLst>
              </a:tr>
              <a:tr h="442480"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>
                          <a:effectLst/>
                        </a:rPr>
                        <a:t>5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Управление проектами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• Внедрить Scrum для CRM и IoT</a:t>
                      </a:r>
                      <a:br>
                        <a:rPr lang="ru-RU" sz="1100" kern="100">
                          <a:effectLst/>
                        </a:rPr>
                      </a:br>
                      <a:r>
                        <a:rPr lang="ru-RU" sz="1100" kern="100">
                          <a:effectLst/>
                        </a:rPr>
                        <a:t>• Jira для трекинга всех проектов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extLst>
                  <a:ext uri="{0D108BD9-81ED-4DB2-BD59-A6C34878D82A}">
                    <a16:rowId xmlns:a16="http://schemas.microsoft.com/office/drawing/2014/main" val="3972254869"/>
                  </a:ext>
                </a:extLst>
              </a:tr>
              <a:tr h="442480"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>
                          <a:effectLst/>
                        </a:rPr>
                        <a:t>6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Инфраструктурная готовность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• Провести аудит серверов до Q2 2025</a:t>
                      </a:r>
                      <a:br>
                        <a:rPr lang="ru-RU" sz="1100" kern="100">
                          <a:effectLst/>
                        </a:rPr>
                      </a:br>
                      <a:r>
                        <a:rPr lang="ru-RU" sz="1100" kern="100">
                          <a:effectLst/>
                        </a:rPr>
                        <a:t>• Резервные мощности под пиковые нагрузки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extLst>
                  <a:ext uri="{0D108BD9-81ED-4DB2-BD59-A6C34878D82A}">
                    <a16:rowId xmlns:a16="http://schemas.microsoft.com/office/drawing/2014/main" val="2796446034"/>
                  </a:ext>
                </a:extLst>
              </a:tr>
              <a:tr h="442480">
                <a:tc>
                  <a:txBody>
                    <a:bodyPr/>
                    <a:lstStyle/>
                    <a:p>
                      <a:pPr algn="ctr"/>
                      <a:r>
                        <a:rPr lang="ru-RU" sz="1100" kern="100" dirty="0">
                          <a:effectLst/>
                        </a:rPr>
                        <a:t>7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Гибкость стратегии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tc>
                  <a:txBody>
                    <a:bodyPr/>
                    <a:lstStyle/>
                    <a:p>
                      <a:r>
                        <a:rPr lang="ru-RU" sz="1100" kern="100" dirty="0">
                          <a:effectLst/>
                        </a:rPr>
                        <a:t>• Создать рабочую группу по мониторингу изменений на рынке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297" marR="89297" marT="89297" marB="89297" anchor="ctr"/>
                </a:tc>
                <a:extLst>
                  <a:ext uri="{0D108BD9-81ED-4DB2-BD59-A6C34878D82A}">
                    <a16:rowId xmlns:a16="http://schemas.microsoft.com/office/drawing/2014/main" val="2906504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6. Пересмотр ИТ стратегии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038D73-2D21-4910-822A-54C79EF597F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81000" y="1514475"/>
            <a:ext cx="8305800" cy="5181600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tIns="36000" rIns="36000" bIns="36000"/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1400" dirty="0"/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  <a:defRPr/>
            </a:pPr>
            <a:endParaRPr lang="ru-RU" sz="1400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C5BE53B-2CD8-AAA5-491C-CFB02D1F4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96868"/>
              </p:ext>
            </p:extLst>
          </p:nvPr>
        </p:nvGraphicFramePr>
        <p:xfrm>
          <a:off x="533399" y="2607166"/>
          <a:ext cx="8229601" cy="2766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2251">
                  <a:extLst>
                    <a:ext uri="{9D8B030D-6E8A-4147-A177-3AD203B41FA5}">
                      <a16:colId xmlns:a16="http://schemas.microsoft.com/office/drawing/2014/main" val="1524441618"/>
                    </a:ext>
                  </a:extLst>
                </a:gridCol>
                <a:gridCol w="2312450">
                  <a:extLst>
                    <a:ext uri="{9D8B030D-6E8A-4147-A177-3AD203B41FA5}">
                      <a16:colId xmlns:a16="http://schemas.microsoft.com/office/drawing/2014/main" val="3245688860"/>
                    </a:ext>
                  </a:extLst>
                </a:gridCol>
                <a:gridCol w="2312450">
                  <a:extLst>
                    <a:ext uri="{9D8B030D-6E8A-4147-A177-3AD203B41FA5}">
                      <a16:colId xmlns:a16="http://schemas.microsoft.com/office/drawing/2014/main" val="798717822"/>
                    </a:ext>
                  </a:extLst>
                </a:gridCol>
                <a:gridCol w="2312450">
                  <a:extLst>
                    <a:ext uri="{9D8B030D-6E8A-4147-A177-3AD203B41FA5}">
                      <a16:colId xmlns:a16="http://schemas.microsoft.com/office/drawing/2014/main" val="73666145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ru-RU" sz="1200" kern="100">
                          <a:effectLst/>
                        </a:rPr>
                        <a:t>Тип пересмотра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kern="100" dirty="0">
                          <a:effectLst/>
                        </a:rPr>
                        <a:t>Частота/Условия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kern="100">
                          <a:effectLst/>
                        </a:rPr>
                        <a:t>Ответственные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kern="100" dirty="0">
                          <a:effectLst/>
                        </a:rPr>
                        <a:t>Методика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895459196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Плановый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• Квартально (для проектов)</a:t>
                      </a:r>
                      <a:br>
                        <a:rPr lang="ru-RU" sz="1200" kern="100" dirty="0">
                          <a:effectLst/>
                        </a:rPr>
                      </a:br>
                      <a:r>
                        <a:rPr lang="ru-RU" sz="1200" kern="100" dirty="0">
                          <a:effectLst/>
                        </a:rPr>
                        <a:t>• Ежегодно (полный пересмотр стратегии)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ИТ-директор + руководители направлений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SWOT-анализ, переоценка ROI проектов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966385261"/>
                  </a:ext>
                </a:extLst>
              </a:tr>
              <a:tr h="1287780"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Внеплановый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При:</a:t>
                      </a:r>
                      <a:br>
                        <a:rPr lang="ru-RU" sz="1200" kern="100">
                          <a:effectLst/>
                        </a:rPr>
                      </a:br>
                      <a:r>
                        <a:rPr lang="ru-RU" sz="1200" kern="100">
                          <a:effectLst/>
                        </a:rPr>
                        <a:t>• Изменении &gt;20% бюджета</a:t>
                      </a:r>
                      <a:br>
                        <a:rPr lang="ru-RU" sz="1200" kern="100">
                          <a:effectLst/>
                        </a:rPr>
                      </a:br>
                      <a:r>
                        <a:rPr lang="ru-RU" sz="1200" kern="100">
                          <a:effectLst/>
                        </a:rPr>
                        <a:t>• Смене 30% топ-менеджмента</a:t>
                      </a:r>
                      <a:br>
                        <a:rPr lang="ru-RU" sz="1200" kern="100">
                          <a:effectLst/>
                        </a:rPr>
                      </a:br>
                      <a:r>
                        <a:rPr lang="ru-RU" sz="1200" kern="100">
                          <a:effectLst/>
                        </a:rPr>
                        <a:t>• Появлении новых технологий (например, ИИ для прогнозирования урожая)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Кризисный комитет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Экспресс-аудит по 5 критериям: финансы, сроки, риски, соответствие бизнес-целям, кадры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734695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801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6. Пересмотр ИТ стратегии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038D73-2D21-4910-822A-54C79EF597F3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81000" y="1514475"/>
            <a:ext cx="8305800" cy="5181600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tIns="36000" rIns="36000" bIns="36000"/>
          <a:lstStyle/>
          <a:p>
            <a:pPr marL="360000" indent="-342000">
              <a:lnSpc>
                <a:spcPct val="12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ru-RU" sz="1600" b="1" dirty="0"/>
              <a:t>Ключевые факторы успеха ИТ стратегии:</a:t>
            </a:r>
            <a:endParaRPr lang="en-US" sz="1600" b="1" dirty="0"/>
          </a:p>
          <a:p>
            <a:pPr marL="360000" indent="-342000">
              <a:lnSpc>
                <a:spcPct val="120000"/>
              </a:lnSpc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ru-RU" sz="1200" dirty="0"/>
              <a:t>Понимание важности и необходимости внедрения ИТ руководством Компании</a:t>
            </a:r>
            <a:endParaRPr lang="en-US" sz="1200" dirty="0"/>
          </a:p>
          <a:p>
            <a:pPr marL="360000" indent="-342000">
              <a:lnSpc>
                <a:spcPct val="120000"/>
              </a:lnSpc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ru-RU" sz="1200" dirty="0"/>
              <a:t>Достаточное финансирование ИТ проектов</a:t>
            </a:r>
          </a:p>
          <a:p>
            <a:pPr marL="360000" indent="-342000">
              <a:lnSpc>
                <a:spcPct val="120000"/>
              </a:lnSpc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ru-RU" sz="1200" dirty="0"/>
              <a:t>Готовность  бизнес-подразделений к внедрению комплексных информационных систем, в т.ч. </a:t>
            </a:r>
            <a:r>
              <a:rPr lang="ru-RU" sz="1200" dirty="0">
                <a:cs typeface="Arial" charset="0"/>
              </a:rPr>
              <a:t>качественно сформулировать требования к информационных систем</a:t>
            </a:r>
            <a:endParaRPr lang="en-US" sz="1200" dirty="0">
              <a:cs typeface="Arial" charset="0"/>
            </a:endParaRPr>
          </a:p>
          <a:p>
            <a:pPr marL="360000" indent="-342000">
              <a:lnSpc>
                <a:spcPct val="120000"/>
              </a:lnSpc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ru-RU" sz="1200" dirty="0">
                <a:cs typeface="Arial" charset="0"/>
              </a:rPr>
              <a:t>Активное участие бизнес-подразделений в разработке, тестировании и внедрении информационных систем</a:t>
            </a:r>
            <a:endParaRPr lang="en-US" sz="1200" dirty="0">
              <a:cs typeface="Arial" charset="0"/>
            </a:endParaRPr>
          </a:p>
          <a:p>
            <a:pPr marL="360000" indent="-342000">
              <a:lnSpc>
                <a:spcPct val="120000"/>
              </a:lnSpc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ru-RU" sz="1200" dirty="0"/>
              <a:t>Достаточная квалификация сотрудников Компании в области информационных технологий и систем</a:t>
            </a:r>
            <a:endParaRPr lang="en-US" sz="1200" dirty="0"/>
          </a:p>
          <a:p>
            <a:pPr marL="360000" indent="-342000">
              <a:lnSpc>
                <a:spcPct val="120000"/>
              </a:lnSpc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ru-RU" sz="1200" dirty="0"/>
              <a:t>Достаточная укомплектованность ИТ служб квалифицированными менеджерами и специалистами, а также адекватная организационная структура ИТ служб</a:t>
            </a:r>
            <a:endParaRPr lang="en-US" sz="1200" dirty="0">
              <a:cs typeface="Arial" charset="0"/>
            </a:endParaRPr>
          </a:p>
          <a:p>
            <a:pPr marL="360000" indent="-342000">
              <a:lnSpc>
                <a:spcPct val="120000"/>
              </a:lnSpc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ru-RU" sz="1200" dirty="0"/>
              <a:t>Использование методов управления отдельными проектами и портфельного управления проектами</a:t>
            </a:r>
          </a:p>
          <a:p>
            <a:pPr marL="18000">
              <a:lnSpc>
                <a:spcPct val="120000"/>
              </a:lnSpc>
              <a:spcBef>
                <a:spcPts val="600"/>
              </a:spcBef>
              <a:buNone/>
              <a:defRPr/>
            </a:pPr>
            <a:endParaRPr lang="ru-RU" sz="1200" dirty="0"/>
          </a:p>
          <a:p>
            <a:pPr marL="360000" indent="-342000">
              <a:lnSpc>
                <a:spcPct val="1200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ru-RU" sz="1600" b="1" dirty="0"/>
              <a:t>Частота пересмотра ИТ стратегии:</a:t>
            </a:r>
          </a:p>
          <a:p>
            <a:pPr marL="360000" indent="-342000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ru-RU" sz="1200" dirty="0"/>
              <a:t>Раз в квартал (плановый пересмотр)</a:t>
            </a:r>
          </a:p>
          <a:p>
            <a:pPr marL="360000" indent="-342000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ru-RU" sz="1200" dirty="0"/>
              <a:t>При существенных изменениях в бизнесе и</a:t>
            </a:r>
            <a:r>
              <a:rPr lang="en-US" sz="1200" dirty="0"/>
              <a:t>/</a:t>
            </a:r>
            <a:r>
              <a:rPr lang="ru-RU" sz="1200" dirty="0"/>
              <a:t>или в ИТ (например, кризис, новый руководитель, новое направление бизнеса)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1400" dirty="0"/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  <a:defRPr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67453553"/>
      </p:ext>
    </p:extLst>
  </p:cSld>
  <p:clrMapOvr>
    <a:masterClrMapping/>
  </p:clrMapOvr>
</p:sld>
</file>

<file path=ppt/theme/theme1.xml><?xml version="1.0" encoding="utf-8"?>
<a:theme xmlns:a="http://schemas.openxmlformats.org/drawingml/2006/main" name="Ford Edison ESM">
  <a:themeElements>
    <a:clrScheme name="Ford Edison ESM 1">
      <a:dk1>
        <a:srgbClr val="000000"/>
      </a:dk1>
      <a:lt1>
        <a:srgbClr val="FFFFFF"/>
      </a:lt1>
      <a:dk2>
        <a:srgbClr val="061DC8"/>
      </a:dk2>
      <a:lt2>
        <a:srgbClr val="727272"/>
      </a:lt2>
      <a:accent1>
        <a:srgbClr val="7889FB"/>
      </a:accent1>
      <a:accent2>
        <a:srgbClr val="C7CDFD"/>
      </a:accent2>
      <a:accent3>
        <a:srgbClr val="FFFFFF"/>
      </a:accent3>
      <a:accent4>
        <a:srgbClr val="000000"/>
      </a:accent4>
      <a:accent5>
        <a:srgbClr val="BEC4FD"/>
      </a:accent5>
      <a:accent6>
        <a:srgbClr val="B4BAE5"/>
      </a:accent6>
      <a:hlink>
        <a:srgbClr val="669900"/>
      </a:hlink>
      <a:folHlink>
        <a:srgbClr val="8CC800"/>
      </a:folHlink>
    </a:clrScheme>
    <a:fontScheme name="Ford Edison ESM">
      <a:majorFont>
        <a:latin typeface="Arial"/>
        <a:ea typeface="Arial Unicode MS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Char char="ü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91440" rIns="91440" bIns="9144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Char char="ü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lnDef>
  </a:objectDefaults>
  <a:extraClrSchemeLst>
    <a:extraClrScheme>
      <a:clrScheme name="Ford Edison ESM 1">
        <a:dk1>
          <a:srgbClr val="000000"/>
        </a:dk1>
        <a:lt1>
          <a:srgbClr val="FFFFFF"/>
        </a:lt1>
        <a:dk2>
          <a:srgbClr val="061DC8"/>
        </a:dk2>
        <a:lt2>
          <a:srgbClr val="727272"/>
        </a:lt2>
        <a:accent1>
          <a:srgbClr val="7889FB"/>
        </a:accent1>
        <a:accent2>
          <a:srgbClr val="C7CDFD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B4BAE5"/>
        </a:accent6>
        <a:hlink>
          <a:srgbClr val="669900"/>
        </a:hlink>
        <a:folHlink>
          <a:srgbClr val="8CC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22693</TotalTime>
  <Words>2730</Words>
  <Application>Microsoft Macintosh PowerPoint</Application>
  <PresentationFormat>Экран (4:3)</PresentationFormat>
  <Paragraphs>556</Paragraphs>
  <Slides>28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5" baseType="lpstr">
      <vt:lpstr>Arial</vt:lpstr>
      <vt:lpstr>Calibri</vt:lpstr>
      <vt:lpstr>Century Gothic</vt:lpstr>
      <vt:lpstr>DeepSeek-CJK-patch</vt:lpstr>
      <vt:lpstr>Times New Roman</vt:lpstr>
      <vt:lpstr>Wingdings</vt:lpstr>
      <vt:lpstr>Ford Edison ESM</vt:lpstr>
      <vt:lpstr>Презентация PowerPoint</vt:lpstr>
      <vt:lpstr>Основные слайды простой ИТ стратегии</vt:lpstr>
      <vt:lpstr>1. Требования бизнеса к ИТ, цели ИТ 1.1. Цели бизнеса</vt:lpstr>
      <vt:lpstr>1. Требования бизнеса к ИТ, цели ИТ 1.2. Требования бизнеса к ИТ</vt:lpstr>
      <vt:lpstr>1. Требования бизнеса к ИТ, цели ИТ 1.3. Недостатки в текущем состоянии ИТ</vt:lpstr>
      <vt:lpstr>1. Требования бизнеса к ИТ, цели ИТ 1.4. Видение и миссия ИТ 1.5. Стратегические цели ИТ Соответствие целям ИТ целям бизнеса</vt:lpstr>
      <vt:lpstr>Презентация PowerPoint</vt:lpstr>
      <vt:lpstr>2. Приложения и данные 2.1. ИТ сервисы (или приложения)</vt:lpstr>
      <vt:lpstr>2. Приложения и данные 2.1. ИТ сервисы (или приложения)</vt:lpstr>
      <vt:lpstr>Презентация PowerPoint</vt:lpstr>
      <vt:lpstr>Презентация PowerPoint</vt:lpstr>
      <vt:lpstr>Презентация PowerPoint</vt:lpstr>
      <vt:lpstr>4. Управление ИТ 4.2. ИТ процессы</vt:lpstr>
      <vt:lpstr>Презентация PowerPoint</vt:lpstr>
      <vt:lpstr>4. Управление ИТ 4.3. Численность сотрудников ИТ</vt:lpstr>
      <vt:lpstr>Презентация PowerPoint</vt:lpstr>
      <vt:lpstr>5. ИТ проекты 5.1. Сравнение ИТ проектов</vt:lpstr>
      <vt:lpstr>5. ИТ проекты 5.1. Сравнение ИТ проектов</vt:lpstr>
      <vt:lpstr>5. ИТ проекты 5.1. Сравнение ИТ проектов</vt:lpstr>
      <vt:lpstr>5. ИТ проекты 5.2. План проектов</vt:lpstr>
      <vt:lpstr>5. ИТ проекты 5.2. План проектов</vt:lpstr>
      <vt:lpstr>5. ИТ проекты 5.3. Описание проектов</vt:lpstr>
      <vt:lpstr>5. ИТ проекты 5.3. Описание проектов</vt:lpstr>
      <vt:lpstr>5. ИТ проекты 5.3. Описание проектов</vt:lpstr>
      <vt:lpstr>5. ИТ проекты 5.4. Портфель проектов</vt:lpstr>
      <vt:lpstr>6. Пересмотр ИТ стратегии</vt:lpstr>
      <vt:lpstr>6. Пересмотр ИТ стратегии</vt:lpstr>
      <vt:lpstr>6. Пересмотр ИТ стратегии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ИТ стратегий</dc:title>
  <dc:creator>MAG</dc:creator>
  <cp:lastModifiedBy>Microsoft Office User</cp:lastModifiedBy>
  <cp:revision>1956</cp:revision>
  <cp:lastPrinted>2012-05-24T03:10:41Z</cp:lastPrinted>
  <dcterms:created xsi:type="dcterms:W3CDTF">1601-01-01T00:00:00Z</dcterms:created>
  <dcterms:modified xsi:type="dcterms:W3CDTF">2025-05-14T20:10:32Z</dcterms:modified>
</cp:coreProperties>
</file>